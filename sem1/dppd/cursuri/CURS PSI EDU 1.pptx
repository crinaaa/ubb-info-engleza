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Gill Sans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Bq9tWi4N5X4bqJeUlKuQJBg5Q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8" Type="http://schemas.openxmlformats.org/officeDocument/2006/relationships/slide" Target="slides/slide3.xml"/><Relationship Id="rId21" Type="http://schemas.openxmlformats.org/officeDocument/2006/relationships/font" Target="fonts/GillSans-bold.fntdata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25" Type="http://schemas.openxmlformats.org/officeDocument/2006/relationships/customXml" Target="../customXml/item3.xml"/><Relationship Id="rId20" Type="http://schemas.openxmlformats.org/officeDocument/2006/relationships/font" Target="fonts/GillSans-regular.fntdata"/><Relationship Id="rId2" Type="http://schemas.openxmlformats.org/officeDocument/2006/relationships/presProps" Target="presProps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1" Type="http://schemas.openxmlformats.org/officeDocument/2006/relationships/theme" Target="theme/theme3.xml"/><Relationship Id="rId6" Type="http://schemas.openxmlformats.org/officeDocument/2006/relationships/slide" Target="slides/slide1.xml"/><Relationship Id="rId24" Type="http://schemas.openxmlformats.org/officeDocument/2006/relationships/customXml" Target="../customXml/item2.xml"/><Relationship Id="rId15" Type="http://schemas.openxmlformats.org/officeDocument/2006/relationships/slide" Target="slides/slide10.xml"/><Relationship Id="rId5" Type="http://schemas.openxmlformats.org/officeDocument/2006/relationships/notesMaster" Target="notesMasters/notesMaster1.xml"/><Relationship Id="rId23" Type="http://schemas.openxmlformats.org/officeDocument/2006/relationships/customXml" Target="../customXml/item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22" Type="http://customschemas.google.com/relationships/presentationmetadata" Target="metadata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9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9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Gill Sans"/>
              <a:buNone/>
              <a:defRPr sz="3600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9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581192" y="702156"/>
            <a:ext cx="1102961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" type="body"/>
          </p:nvPr>
        </p:nvSpPr>
        <p:spPr>
          <a:xfrm>
            <a:off x="581192" y="2340864"/>
            <a:ext cx="11029615" cy="3634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4"/>
          <p:cNvSpPr txBox="1"/>
          <p:nvPr>
            <p:ph type="title"/>
          </p:nvPr>
        </p:nvSpPr>
        <p:spPr>
          <a:xfrm>
            <a:off x="581193" y="2393950"/>
            <a:ext cx="11029615" cy="2147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Gill Sans"/>
              <a:buNone/>
              <a:defRPr b="0" sz="3600" cap="none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24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5"/>
          <p:cNvSpPr txBox="1"/>
          <p:nvPr>
            <p:ph idx="1" type="body"/>
          </p:nvPr>
        </p:nvSpPr>
        <p:spPr>
          <a:xfrm>
            <a:off x="581193" y="2228003"/>
            <a:ext cx="5194767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2" type="body"/>
          </p:nvPr>
        </p:nvSpPr>
        <p:spPr>
          <a:xfrm>
            <a:off x="6416039" y="2228003"/>
            <a:ext cx="5194769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" type="body"/>
          </p:nvPr>
        </p:nvSpPr>
        <p:spPr>
          <a:xfrm>
            <a:off x="581191" y="2250891"/>
            <a:ext cx="5194769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None/>
              <a:defRPr b="0"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3" name="Google Shape;53;p26"/>
          <p:cNvSpPr txBox="1"/>
          <p:nvPr>
            <p:ph idx="2" type="body"/>
          </p:nvPr>
        </p:nvSpPr>
        <p:spPr>
          <a:xfrm>
            <a:off x="581194" y="2926052"/>
            <a:ext cx="5194766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3" type="body"/>
          </p:nvPr>
        </p:nvSpPr>
        <p:spPr>
          <a:xfrm>
            <a:off x="6416039" y="2250892"/>
            <a:ext cx="5194770" cy="553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Noto Sans Symbols"/>
              <a:buNone/>
              <a:defRPr b="0"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5" name="Google Shape;55;p26"/>
          <p:cNvSpPr txBox="1"/>
          <p:nvPr>
            <p:ph idx="4" type="body"/>
          </p:nvPr>
        </p:nvSpPr>
        <p:spPr>
          <a:xfrm>
            <a:off x="6416037" y="2926052"/>
            <a:ext cx="5194771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7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7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7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8"/>
          <p:cNvSpPr/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8"/>
          <p:cNvSpPr txBox="1"/>
          <p:nvPr>
            <p:ph type="title"/>
          </p:nvPr>
        </p:nvSpPr>
        <p:spPr>
          <a:xfrm>
            <a:off x="767857" y="933450"/>
            <a:ext cx="3031852" cy="17224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ill Sans"/>
              <a:buNone/>
              <a:defRPr b="0" sz="2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" type="body"/>
          </p:nvPr>
        </p:nvSpPr>
        <p:spPr>
          <a:xfrm>
            <a:off x="4900928" y="1179829"/>
            <a:ext cx="6650991" cy="465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28"/>
          <p:cNvSpPr txBox="1"/>
          <p:nvPr>
            <p:ph idx="2" type="body"/>
          </p:nvPr>
        </p:nvSpPr>
        <p:spPr>
          <a:xfrm>
            <a:off x="767857" y="2836654"/>
            <a:ext cx="3031852" cy="3001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68" name="Google Shape;68;p28"/>
          <p:cNvSpPr txBox="1"/>
          <p:nvPr>
            <p:ph idx="10" type="dt"/>
          </p:nvPr>
        </p:nvSpPr>
        <p:spPr>
          <a:xfrm>
            <a:off x="7605951" y="6456916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8"/>
          <p:cNvSpPr txBox="1"/>
          <p:nvPr>
            <p:ph idx="11" type="ftr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2" type="sldNum"/>
          </p:nvPr>
        </p:nvSpPr>
        <p:spPr>
          <a:xfrm>
            <a:off x="10558300" y="6456916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9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Gill Sans"/>
              <a:buNone/>
              <a:defRPr b="0" sz="2400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/>
          <p:nvPr>
            <p:ph idx="2" type="pic"/>
          </p:nvPr>
        </p:nvSpPr>
        <p:spPr>
          <a:xfrm>
            <a:off x="447817" y="641350"/>
            <a:ext cx="11290859" cy="3651249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9"/>
          <p:cNvSpPr txBox="1"/>
          <p:nvPr>
            <p:ph idx="1" type="body"/>
          </p:nvPr>
        </p:nvSpPr>
        <p:spPr>
          <a:xfrm>
            <a:off x="581192" y="5260127"/>
            <a:ext cx="11029617" cy="9981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4269977" y="-1352782"/>
            <a:ext cx="3652047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3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1"/>
          <p:cNvSpPr/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1"/>
          <p:cNvSpPr txBox="1"/>
          <p:nvPr>
            <p:ph type="title"/>
          </p:nvPr>
        </p:nvSpPr>
        <p:spPr>
          <a:xfrm rot="5400000">
            <a:off x="7362637" y="1705163"/>
            <a:ext cx="480732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ill Sans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1"/>
          <p:cNvSpPr txBox="1"/>
          <p:nvPr>
            <p:ph idx="1" type="body"/>
          </p:nvPr>
        </p:nvSpPr>
        <p:spPr>
          <a:xfrm rot="5400000">
            <a:off x="1952072" y="-313549"/>
            <a:ext cx="4807326" cy="716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8" name="Google Shape;88;p3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1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1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1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581192" y="702156"/>
            <a:ext cx="1102961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581192" y="2340864"/>
            <a:ext cx="11029615" cy="3634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3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8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8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7" name="Google Shape;97;p22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8" name="Google Shape;98;p22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22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2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2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youtube.com/watch?v=dLAi78hluFc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4.jpg"/><Relationship Id="rId5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14" name="Google Shape;114;p1"/>
          <p:cNvPicPr preferRelativeResize="0"/>
          <p:nvPr/>
        </p:nvPicPr>
        <p:blipFill rotWithShape="1">
          <a:blip r:embed="rId3">
            <a:alphaModFix/>
          </a:blip>
          <a:srcRect b="21618" l="0" r="0" t="221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"/>
          <p:cNvSpPr/>
          <p:nvPr/>
        </p:nvSpPr>
        <p:spPr>
          <a:xfrm>
            <a:off x="7734797" y="1661699"/>
            <a:ext cx="3703320" cy="94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7735983" y="1812471"/>
            <a:ext cx="3702134" cy="3383831"/>
          </a:xfrm>
          <a:prstGeom prst="rect">
            <a:avLst/>
          </a:prstGeom>
          <a:solidFill>
            <a:schemeClr val="lt1">
              <a:alpha val="964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 txBox="1"/>
          <p:nvPr>
            <p:ph type="ctrTitle"/>
          </p:nvPr>
        </p:nvSpPr>
        <p:spPr>
          <a:xfrm>
            <a:off x="7884743" y="1812470"/>
            <a:ext cx="3988170" cy="21964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CURS  AUTOCONOASTERE SI DEZVOLTARE</a:t>
            </a:r>
            <a:endParaRPr/>
          </a:p>
        </p:txBody>
      </p:sp>
      <p:sp>
        <p:nvSpPr>
          <p:cNvPr id="118" name="Google Shape;118;p1"/>
          <p:cNvSpPr txBox="1"/>
          <p:nvPr>
            <p:ph idx="1" type="subTitle"/>
          </p:nvPr>
        </p:nvSpPr>
        <p:spPr>
          <a:xfrm>
            <a:off x="7734797" y="4426256"/>
            <a:ext cx="3557694" cy="710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n-US"/>
              <a:t>LECTOR DR. DANIELA DUMULESCU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/>
          <p:cNvSpPr txBox="1"/>
          <p:nvPr>
            <p:ph idx="1" type="body"/>
          </p:nvPr>
        </p:nvSpPr>
        <p:spPr>
          <a:xfrm>
            <a:off x="581192" y="1611757"/>
            <a:ext cx="11029615" cy="3634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80"/>
              <a:buNone/>
            </a:pPr>
            <a:r>
              <a:rPr i="1" lang="en-US" sz="4000"/>
              <a:t>“The greatest thing in the world is to know how to belong to oneself.” 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208"/>
              <a:buNone/>
            </a:pPr>
            <a:r>
              <a:rPr i="1" lang="en-US" sz="2400"/>
              <a:t>(</a:t>
            </a:r>
            <a:r>
              <a:rPr lang="en-US" sz="2400"/>
              <a:t>M. de Montaigne )</a:t>
            </a:r>
            <a:endParaRPr/>
          </a:p>
          <a:p>
            <a:pPr indent="-200844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 txBox="1"/>
          <p:nvPr>
            <p:ph type="title"/>
          </p:nvPr>
        </p:nvSpPr>
        <p:spPr>
          <a:xfrm>
            <a:off x="581192" y="702156"/>
            <a:ext cx="1102961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 txBox="1"/>
          <p:nvPr>
            <p:ph idx="1" type="body"/>
          </p:nvPr>
        </p:nvSpPr>
        <p:spPr>
          <a:xfrm>
            <a:off x="581192" y="2140839"/>
            <a:ext cx="11029615" cy="3634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48"/>
              <a:buChar char="◼"/>
            </a:pPr>
            <a:r>
              <a:rPr lang="en-US" sz="4400"/>
              <a:t>Cum ajungem ceea ce suntem? </a:t>
            </a:r>
            <a:endParaRPr/>
          </a:p>
          <a:p>
            <a:pPr indent="-306000" lvl="0" marL="306000" rtl="0" algn="ctr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SzPts val="4048"/>
              <a:buChar char="◼"/>
            </a:pPr>
            <a:r>
              <a:rPr lang="en-US" sz="4400"/>
              <a:t>Ce factori sunt implicati in dezvoltarea noastra?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>
            <p:ph type="title"/>
          </p:nvPr>
        </p:nvSpPr>
        <p:spPr>
          <a:xfrm>
            <a:off x="581192" y="702156"/>
            <a:ext cx="1102961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 txBox="1"/>
          <p:nvPr>
            <p:ph idx="1" type="body"/>
          </p:nvPr>
        </p:nvSpPr>
        <p:spPr>
          <a:xfrm>
            <a:off x="581192" y="2340864"/>
            <a:ext cx="11029615" cy="3634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48"/>
              <a:buNone/>
            </a:pPr>
            <a:r>
              <a:rPr lang="en-US" sz="4400"/>
              <a:t>Ce este mai important în dezvoltarea noastră? </a:t>
            </a:r>
            <a:r>
              <a:rPr lang="en-US" sz="4400">
                <a:solidFill>
                  <a:srgbClr val="B71450"/>
                </a:solidFill>
              </a:rPr>
              <a:t>Ereditatea (genele, procesele biologice) </a:t>
            </a:r>
            <a:r>
              <a:rPr lang="en-US" sz="4400"/>
              <a:t>sau </a:t>
            </a:r>
            <a:r>
              <a:rPr lang="en-US" sz="4400">
                <a:solidFill>
                  <a:srgbClr val="00B050"/>
                </a:solidFill>
              </a:rPr>
              <a:t>contextele de mediu (educație, părinți, cultură)?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SzPts val="4048"/>
              <a:buNone/>
            </a:pPr>
            <a:r>
              <a:t/>
            </a:r>
            <a:endParaRPr sz="4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3050381" y="3244334"/>
            <a:ext cx="61007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https://www.youtube.com/watch?v=k50yMwEOWGU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/>
        </p:nvSpPr>
        <p:spPr>
          <a:xfrm>
            <a:off x="2590800" y="1524001"/>
            <a:ext cx="77724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tipuri de interacţiuni persoană-mediu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842963" y="2438401"/>
            <a:ext cx="105156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Reactivă- indivizi diferiţi expuşi la acelaşi mediu,îl experienţiează, interpretează şi reacţionează diferit la el (ex. scheme)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Evocativă: personalitatea unui individ provoacă răspunsuri comportamentale diferite din partea  celorlalţi (ex. Copil vesel)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Proactivă: selectarea mediului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3657600" y="6156326"/>
            <a:ext cx="6324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/>
          <p:nvPr>
            <p:ph type="title"/>
          </p:nvPr>
        </p:nvSpPr>
        <p:spPr>
          <a:xfrm>
            <a:off x="581192" y="702156"/>
            <a:ext cx="1102961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ill Sans"/>
              <a:buNone/>
            </a:pPr>
            <a:r>
              <a:rPr lang="en-US"/>
              <a:t>PRINCIPII GENERALE ALE DEZVOLTĂRII</a:t>
            </a:r>
            <a:endParaRPr/>
          </a:p>
        </p:txBody>
      </p:sp>
      <p:sp>
        <p:nvSpPr>
          <p:cNvPr id="155" name="Google Shape;155;p7"/>
          <p:cNvSpPr txBox="1"/>
          <p:nvPr>
            <p:ph idx="1" type="body"/>
          </p:nvPr>
        </p:nvSpPr>
        <p:spPr>
          <a:xfrm>
            <a:off x="581192" y="2340864"/>
            <a:ext cx="11029615" cy="3634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8"/>
              <a:buChar char="◼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Oamenii se dezvoltă diferit/în ritmuri diferite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. (ex. Anumiți elevi de aceeași vârstă procesează informația în ritm diferit, au o maturizare socio-emoțională diferită). </a:t>
            </a:r>
            <a:endParaRPr/>
          </a:p>
          <a:p>
            <a:pPr indent="-306000" lvl="0" marL="30600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208"/>
              <a:buChar char="◼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Dezvoltarea areo logică prestabilită, dar nu în mod necesar liniară și predictibilă.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Oamenii își dezvoltă abilitățile într-o ordine logică. (ex. Învățăm să adunăm, înainte să înmulțim…</a:t>
            </a:r>
            <a:endParaRPr/>
          </a:p>
          <a:p>
            <a:pPr indent="-306000" lvl="0" marL="30600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208"/>
              <a:buChar char="◼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Dezvoltarea se produce gradual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. Schimbările nu apar peste noapte…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00844" lvl="0" marL="306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>
            <p:ph type="title"/>
          </p:nvPr>
        </p:nvSpPr>
        <p:spPr>
          <a:xfrm>
            <a:off x="581192" y="702156"/>
            <a:ext cx="11029616" cy="5980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CE AR TREBUI SĂ ȘTIE UN PROFESOR</a:t>
            </a:r>
            <a:endParaRPr/>
          </a:p>
        </p:txBody>
      </p:sp>
      <p:sp>
        <p:nvSpPr>
          <p:cNvPr id="161" name="Google Shape;161;p8"/>
          <p:cNvSpPr txBox="1"/>
          <p:nvPr>
            <p:ph idx="1" type="body"/>
          </p:nvPr>
        </p:nvSpPr>
        <p:spPr>
          <a:xfrm>
            <a:off x="581192" y="1471613"/>
            <a:ext cx="11029615" cy="525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8"/>
              <a:buChar char="◼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Abilitățile umane (intelligența, comunicarea, gândirea) sunt rezultatul prerechizitelor genetice/biologice și a mediului care interacționează între ele și produc un rezultat unic. </a:t>
            </a:r>
            <a:endParaRPr/>
          </a:p>
          <a:p>
            <a:pPr indent="-306000" lvl="0" marL="30600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208"/>
              <a:buChar char="◼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Învățarea prin apel la probleme de viață și experiențe concrete, ajută elevi să construiască cunoașterea. </a:t>
            </a:r>
            <a:endParaRPr/>
          </a:p>
          <a:p>
            <a:pPr indent="-306000" lvl="0" marL="30600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208"/>
              <a:buChar char="◼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Învățarea se produce atunci când ajutăm creierul să facă conexiuni cu ceea ce cunoaște deja (mintea ca rețea). </a:t>
            </a:r>
            <a:endParaRPr/>
          </a:p>
          <a:p>
            <a:pPr indent="-306000" lvl="0" marL="30600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208"/>
              <a:buChar char="◼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Un mesaj important pentru elevi (pt voi!) este acela că : fiecare este responsabil pentru ce face cu mintea sa- la ce informații o expune, ce învață etc…)</a:t>
            </a:r>
            <a:endParaRPr/>
          </a:p>
          <a:p>
            <a:pPr indent="-306000" lvl="0" marL="30600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208"/>
              <a:buChar char="◼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/>
          <p:nvPr>
            <p:ph type="title"/>
          </p:nvPr>
        </p:nvSpPr>
        <p:spPr>
          <a:xfrm>
            <a:off x="581192" y="702156"/>
            <a:ext cx="11029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 txBox="1"/>
          <p:nvPr>
            <p:ph idx="1" type="body"/>
          </p:nvPr>
        </p:nvSpPr>
        <p:spPr>
          <a:xfrm>
            <a:off x="581192" y="2340864"/>
            <a:ext cx="11029500" cy="36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600"/>
              </a:spcAft>
              <a:buSzPts val="1656"/>
              <a:buNone/>
            </a:pPr>
            <a:r>
              <a:rPr lang="en-US" sz="2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https://www.youtube.com/watch?v=dLAi78hluFc</a:t>
            </a:r>
            <a:endParaRPr sz="3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"/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4" name="Google Shape;174;p15"/>
          <p:cNvSpPr txBox="1"/>
          <p:nvPr>
            <p:ph type="title"/>
          </p:nvPr>
        </p:nvSpPr>
        <p:spPr>
          <a:xfrm>
            <a:off x="289184" y="1009397"/>
            <a:ext cx="3054091" cy="4709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ill Sans"/>
              <a:buNone/>
            </a:pPr>
            <a:r>
              <a:rPr lang="en-US"/>
              <a:t>MODALITĂȚI DE A DEZVOLTA O STIMA DE SINE OPTIMA</a:t>
            </a:r>
            <a:endParaRPr/>
          </a:p>
        </p:txBody>
      </p:sp>
      <p:sp>
        <p:nvSpPr>
          <p:cNvPr id="175" name="Google Shape;175;p15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" name="Google Shape;177;p15"/>
          <p:cNvGrpSpPr/>
          <p:nvPr/>
        </p:nvGrpSpPr>
        <p:grpSpPr>
          <a:xfrm>
            <a:off x="3343275" y="1208357"/>
            <a:ext cx="8267533" cy="4707981"/>
            <a:chOff x="0" y="574"/>
            <a:chExt cx="8267533" cy="4707981"/>
          </a:xfrm>
        </p:grpSpPr>
        <p:sp>
          <p:nvSpPr>
            <p:cNvPr id="178" name="Google Shape;178;p15"/>
            <p:cNvSpPr/>
            <p:nvPr/>
          </p:nvSpPr>
          <p:spPr>
            <a:xfrm>
              <a:off x="0" y="574"/>
              <a:ext cx="8267533" cy="1345137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406904" y="303230"/>
              <a:ext cx="739825" cy="73982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-38995" r="-38994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1553633" y="574"/>
              <a:ext cx="6713899" cy="1345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5"/>
            <p:cNvSpPr txBox="1"/>
            <p:nvPr/>
          </p:nvSpPr>
          <p:spPr>
            <a:xfrm>
              <a:off x="1553633" y="574"/>
              <a:ext cx="6713899" cy="1345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350" lIns="142350" spcFirstLastPara="1" rIns="142350" wrap="square" tIns="142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Gill Sans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Stabilirea unor scopuri și așteptări realiste față de noi înșine. – cu așteptări prea mari și scopuri nerealiste, oricine se poate simți ratat!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0" y="1681996"/>
              <a:ext cx="8267533" cy="1345137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406904" y="1984652"/>
              <a:ext cx="739825" cy="73982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1553633" y="1681996"/>
              <a:ext cx="6713899" cy="1345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5"/>
            <p:cNvSpPr txBox="1"/>
            <p:nvPr/>
          </p:nvSpPr>
          <p:spPr>
            <a:xfrm>
              <a:off x="1553633" y="1681996"/>
              <a:ext cx="6713899" cy="1345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350" lIns="142350" spcFirstLastPara="1" rIns="142350" wrap="square" tIns="142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Gill Sans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Acceptarea greșelilor.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7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Gill Sans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Cu toții învățăm și creștem fără încetare.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0" y="3363418"/>
              <a:ext cx="8267533" cy="1345137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406904" y="3666074"/>
              <a:ext cx="739825" cy="73982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1553633" y="3363418"/>
              <a:ext cx="6713899" cy="1345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5"/>
            <p:cNvSpPr txBox="1"/>
            <p:nvPr/>
          </p:nvSpPr>
          <p:spPr>
            <a:xfrm>
              <a:off x="1553633" y="3363418"/>
              <a:ext cx="6713899" cy="1345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350" lIns="142350" spcFirstLastPara="1" rIns="142350" wrap="square" tIns="142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Gill Sans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Învățarea despre sine- sinele nostru se schimbă și trebuie să ținem pasul cu el pentru a-i oferi experiențe cu sens.</a:t>
              </a:r>
              <a:endParaRPr b="0" i="0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746772"/>
            </a:gs>
            <a:gs pos="100000">
              <a:srgbClr val="371C34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5" name="Google Shape;195;p10"/>
          <p:cNvSpPr txBox="1"/>
          <p:nvPr>
            <p:ph type="title"/>
          </p:nvPr>
        </p:nvSpPr>
        <p:spPr>
          <a:xfrm>
            <a:off x="271766" y="852230"/>
            <a:ext cx="3703320" cy="4709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Gill Sans"/>
              <a:buNone/>
            </a:pPr>
            <a:r>
              <a:rPr lang="en-US" sz="3100">
                <a:solidFill>
                  <a:srgbClr val="002060"/>
                </a:solidFill>
              </a:rPr>
              <a:t>STIMA DE SINE - </a:t>
            </a:r>
            <a:r>
              <a:rPr lang="en-US" sz="3100" cap="none">
                <a:solidFill>
                  <a:srgbClr val="002060"/>
                </a:solidFill>
              </a:rPr>
              <a:t>măsura în care o persoană se valorizează și apreciază  pe sine.  </a:t>
            </a:r>
            <a:r>
              <a:rPr lang="en-US" sz="1800" cap="none">
                <a:solidFill>
                  <a:srgbClr val="002060"/>
                </a:solidFill>
              </a:rPr>
              <a:t>(Adyler &amp; Stewart, 2004) </a:t>
            </a:r>
            <a:br>
              <a:rPr lang="en-US" sz="3100" cap="none">
                <a:solidFill>
                  <a:srgbClr val="002060"/>
                </a:solidFill>
              </a:rPr>
            </a:br>
            <a:br>
              <a:rPr lang="en-US" sz="3100" cap="none">
                <a:solidFill>
                  <a:srgbClr val="262626"/>
                </a:solidFill>
              </a:rPr>
            </a:br>
            <a:r>
              <a:rPr lang="en-US" sz="3100" cap="none">
                <a:solidFill>
                  <a:srgbClr val="002060"/>
                </a:solidFill>
              </a:rPr>
              <a:t>IMPORTANT- </a:t>
            </a:r>
            <a:br>
              <a:rPr lang="en-US" sz="3100" cap="none">
                <a:solidFill>
                  <a:srgbClr val="002060"/>
                </a:solidFill>
              </a:rPr>
            </a:br>
            <a:r>
              <a:rPr lang="en-US" sz="3100" cap="none">
                <a:solidFill>
                  <a:srgbClr val="002060"/>
                </a:solidFill>
              </a:rPr>
              <a:t>se poate modifica!</a:t>
            </a:r>
            <a:br>
              <a:rPr lang="en-US" sz="3100" cap="none">
                <a:solidFill>
                  <a:srgbClr val="002060"/>
                </a:solidFill>
              </a:rPr>
            </a:br>
            <a:r>
              <a:rPr lang="en-US" sz="3100" cap="none">
                <a:solidFill>
                  <a:srgbClr val="002060"/>
                </a:solidFill>
              </a:rPr>
              <a:t>O putem evalua și îmbunătăți!</a:t>
            </a:r>
            <a:br>
              <a:rPr lang="en-US" sz="3100" cap="none">
                <a:solidFill>
                  <a:srgbClr val="002060"/>
                </a:solidFill>
              </a:rPr>
            </a:br>
            <a:endParaRPr sz="3100">
              <a:solidFill>
                <a:srgbClr val="002060"/>
              </a:solidFill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9" name="Google Shape;199;p10"/>
          <p:cNvGrpSpPr/>
          <p:nvPr/>
        </p:nvGrpSpPr>
        <p:grpSpPr>
          <a:xfrm>
            <a:off x="4598438" y="1292751"/>
            <a:ext cx="7012370" cy="4539195"/>
            <a:chOff x="0" y="84968"/>
            <a:chExt cx="7012370" cy="4539195"/>
          </a:xfrm>
        </p:grpSpPr>
        <p:sp>
          <p:nvSpPr>
            <p:cNvPr id="200" name="Google Shape;200;p10"/>
            <p:cNvSpPr/>
            <p:nvPr/>
          </p:nvSpPr>
          <p:spPr>
            <a:xfrm>
              <a:off x="0" y="84968"/>
              <a:ext cx="7012370" cy="45571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DA4843"/>
                </a:gs>
                <a:gs pos="84000">
                  <a:srgbClr val="B21810"/>
                </a:gs>
                <a:gs pos="100000">
                  <a:srgbClr val="B21810"/>
                </a:gs>
              </a:gsLst>
              <a:lin ang="5400000" scaled="0"/>
            </a:gradFill>
            <a:ln>
              <a:noFill/>
            </a:ln>
            <a:effectLst>
              <a:outerShdw blurRad="38100" rotWithShape="0" dir="5400000" dist="25400">
                <a:srgbClr val="000000">
                  <a:alpha val="5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0"/>
            <p:cNvSpPr txBox="1"/>
            <p:nvPr/>
          </p:nvSpPr>
          <p:spPr>
            <a:xfrm>
              <a:off x="22246" y="107214"/>
              <a:ext cx="6967878" cy="411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Gill Sans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Atitudinea noastră față de sine este influețată de: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0"/>
            <p:cNvSpPr/>
            <p:nvPr/>
          </p:nvSpPr>
          <p:spPr>
            <a:xfrm>
              <a:off x="0" y="595403"/>
              <a:ext cx="7012370" cy="45571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DDB245"/>
                </a:gs>
                <a:gs pos="84000">
                  <a:srgbClr val="B48B11"/>
                </a:gs>
                <a:gs pos="100000">
                  <a:srgbClr val="B48B11"/>
                </a:gs>
              </a:gsLst>
              <a:lin ang="5400000" scaled="0"/>
            </a:gradFill>
            <a:ln>
              <a:noFill/>
            </a:ln>
            <a:effectLst>
              <a:outerShdw blurRad="38100" rotWithShape="0" dir="5400000" dist="25400">
                <a:srgbClr val="000000">
                  <a:alpha val="5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0"/>
            <p:cNvSpPr txBox="1"/>
            <p:nvPr/>
          </p:nvSpPr>
          <p:spPr>
            <a:xfrm>
              <a:off x="22246" y="617649"/>
              <a:ext cx="6967878" cy="411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Gill Sans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gene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0"/>
            <p:cNvSpPr/>
            <p:nvPr/>
          </p:nvSpPr>
          <p:spPr>
            <a:xfrm>
              <a:off x="0" y="1105838"/>
              <a:ext cx="7012370" cy="45571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94E046"/>
                </a:gs>
                <a:gs pos="84000">
                  <a:srgbClr val="6DB711"/>
                </a:gs>
                <a:gs pos="100000">
                  <a:srgbClr val="6DB711"/>
                </a:gs>
              </a:gsLst>
              <a:lin ang="5400000" scaled="0"/>
            </a:gradFill>
            <a:ln>
              <a:noFill/>
            </a:ln>
            <a:effectLst>
              <a:outerShdw blurRad="38100" rotWithShape="0" dir="5400000" dist="25400">
                <a:srgbClr val="000000">
                  <a:alpha val="5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0"/>
            <p:cNvSpPr txBox="1"/>
            <p:nvPr/>
          </p:nvSpPr>
          <p:spPr>
            <a:xfrm>
              <a:off x="22246" y="1128084"/>
              <a:ext cx="6967878" cy="411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Gill Sans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personalitate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0"/>
            <p:cNvSpPr/>
            <p:nvPr/>
          </p:nvSpPr>
          <p:spPr>
            <a:xfrm>
              <a:off x="0" y="1616273"/>
              <a:ext cx="7012370" cy="45571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7E456"/>
                </a:gs>
                <a:gs pos="84000">
                  <a:srgbClr val="12BB2B"/>
                </a:gs>
                <a:gs pos="100000">
                  <a:srgbClr val="12BB2B"/>
                </a:gs>
              </a:gsLst>
              <a:lin ang="5400000" scaled="0"/>
            </a:gradFill>
            <a:ln>
              <a:noFill/>
            </a:ln>
            <a:effectLst>
              <a:outerShdw blurRad="38100" rotWithShape="0" dir="5400000" dist="25400">
                <a:srgbClr val="000000">
                  <a:alpha val="5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0"/>
            <p:cNvSpPr txBox="1"/>
            <p:nvPr/>
          </p:nvSpPr>
          <p:spPr>
            <a:xfrm>
              <a:off x="22246" y="1638519"/>
              <a:ext cx="6967878" cy="411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Gill Sans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experiențe de viață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0"/>
            <p:cNvSpPr/>
            <p:nvPr/>
          </p:nvSpPr>
          <p:spPr>
            <a:xfrm>
              <a:off x="0" y="2126708"/>
              <a:ext cx="7012370" cy="45571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8E8CA"/>
                </a:gs>
                <a:gs pos="84000">
                  <a:srgbClr val="12BEA1"/>
                </a:gs>
                <a:gs pos="100000">
                  <a:srgbClr val="12BEA1"/>
                </a:gs>
              </a:gsLst>
              <a:lin ang="5400000" scaled="0"/>
            </a:gradFill>
            <a:ln>
              <a:noFill/>
            </a:ln>
            <a:effectLst>
              <a:outerShdw blurRad="38100" rotWithShape="0" dir="5400000" dist="25400">
                <a:srgbClr val="000000">
                  <a:alpha val="5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0"/>
            <p:cNvSpPr txBox="1"/>
            <p:nvPr/>
          </p:nvSpPr>
          <p:spPr>
            <a:xfrm>
              <a:off x="22246" y="2148954"/>
              <a:ext cx="6967878" cy="411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Gill Sans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vârstă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0"/>
            <p:cNvSpPr/>
            <p:nvPr/>
          </p:nvSpPr>
          <p:spPr>
            <a:xfrm>
              <a:off x="0" y="2637143"/>
              <a:ext cx="7012370" cy="45571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98CEA"/>
                </a:gs>
                <a:gs pos="84000">
                  <a:srgbClr val="1464C1"/>
                </a:gs>
                <a:gs pos="100000">
                  <a:srgbClr val="1464C1"/>
                </a:gs>
              </a:gsLst>
              <a:lin ang="5400000" scaled="0"/>
            </a:gradFill>
            <a:ln>
              <a:noFill/>
            </a:ln>
            <a:effectLst>
              <a:outerShdw blurRad="38100" rotWithShape="0" dir="5400000" dist="25400">
                <a:srgbClr val="000000">
                  <a:alpha val="5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0"/>
            <p:cNvSpPr txBox="1"/>
            <p:nvPr/>
          </p:nvSpPr>
          <p:spPr>
            <a:xfrm>
              <a:off x="22246" y="2659389"/>
              <a:ext cx="6967878" cy="411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Gill Sans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sănătate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0"/>
            <p:cNvSpPr/>
            <p:nvPr/>
          </p:nvSpPr>
          <p:spPr>
            <a:xfrm>
              <a:off x="0" y="3147578"/>
              <a:ext cx="7012370" cy="45571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6A4BEA"/>
                </a:gs>
                <a:gs pos="84000">
                  <a:srgbClr val="4017C1"/>
                </a:gs>
                <a:gs pos="100000">
                  <a:srgbClr val="4017C1"/>
                </a:gs>
              </a:gsLst>
              <a:lin ang="5400000" scaled="0"/>
            </a:gradFill>
            <a:ln>
              <a:noFill/>
            </a:ln>
            <a:effectLst>
              <a:outerShdw blurRad="38100" rotWithShape="0" dir="5400000" dist="25400">
                <a:srgbClr val="000000">
                  <a:alpha val="5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0"/>
            <p:cNvSpPr txBox="1"/>
            <p:nvPr/>
          </p:nvSpPr>
          <p:spPr>
            <a:xfrm>
              <a:off x="22246" y="3169824"/>
              <a:ext cx="6967878" cy="411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Gill Sans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gânduri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0"/>
            <p:cNvSpPr/>
            <p:nvPr/>
          </p:nvSpPr>
          <p:spPr>
            <a:xfrm>
              <a:off x="0" y="3658013"/>
              <a:ext cx="7012370" cy="45571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DF4EEA"/>
                </a:gs>
                <a:gs pos="84000">
                  <a:srgbClr val="B61BC2"/>
                </a:gs>
                <a:gs pos="100000">
                  <a:srgbClr val="B61BC2"/>
                </a:gs>
              </a:gsLst>
              <a:lin ang="5400000" scaled="0"/>
            </a:gradFill>
            <a:ln>
              <a:noFill/>
            </a:ln>
            <a:effectLst>
              <a:outerShdw blurRad="38100" rotWithShape="0" dir="5400000" dist="25400">
                <a:srgbClr val="000000">
                  <a:alpha val="5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0"/>
            <p:cNvSpPr txBox="1"/>
            <p:nvPr/>
          </p:nvSpPr>
          <p:spPr>
            <a:xfrm>
              <a:off x="22246" y="3680259"/>
              <a:ext cx="6967878" cy="411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Gill Sans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circumstanțe sociale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0" y="4168448"/>
              <a:ext cx="7012370" cy="455715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EA5085"/>
                </a:gs>
                <a:gs pos="84000">
                  <a:srgbClr val="C31E5B"/>
                </a:gs>
                <a:gs pos="100000">
                  <a:srgbClr val="C31E5B"/>
                </a:gs>
              </a:gsLst>
              <a:lin ang="5400000" scaled="0"/>
            </a:gradFill>
            <a:ln>
              <a:noFill/>
            </a:ln>
            <a:effectLst>
              <a:outerShdw blurRad="38100" rotWithShape="0" dir="5400000" dist="25400">
                <a:srgbClr val="000000">
                  <a:alpha val="5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0"/>
            <p:cNvSpPr txBox="1"/>
            <p:nvPr/>
          </p:nvSpPr>
          <p:spPr>
            <a:xfrm>
              <a:off x="22246" y="4190694"/>
              <a:ext cx="6967878" cy="411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Gill Sans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reacții ale celorlalți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/>
          <p:nvPr>
            <p:ph type="title"/>
          </p:nvPr>
        </p:nvSpPr>
        <p:spPr>
          <a:xfrm>
            <a:off x="581192" y="702156"/>
            <a:ext cx="1102961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ill Sans"/>
              <a:buNone/>
            </a:pPr>
            <a:r>
              <a:rPr lang="en-US"/>
              <a:t>PORTRETUL PROFESORULUI PENTRU GEN Z &amp; ALPHA</a:t>
            </a:r>
            <a:endParaRPr/>
          </a:p>
        </p:txBody>
      </p:sp>
      <p:sp>
        <p:nvSpPr>
          <p:cNvPr id="223" name="Google Shape;223;p11"/>
          <p:cNvSpPr txBox="1"/>
          <p:nvPr>
            <p:ph idx="1" type="body"/>
          </p:nvPr>
        </p:nvSpPr>
        <p:spPr>
          <a:xfrm>
            <a:off x="581192" y="2340864"/>
            <a:ext cx="11029615" cy="3634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0844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/>
              <a:t>CARACTERISTICI ALE GEN Z &amp; ALPHA CARE SUNT RELEVANTE PENTRU CONTEXTE EDUCATIONALE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6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6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3" name="Google Shape;233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6"/>
          <p:cNvSpPr txBox="1"/>
          <p:nvPr>
            <p:ph type="title"/>
          </p:nvPr>
        </p:nvSpPr>
        <p:spPr>
          <a:xfrm>
            <a:off x="638620" y="863695"/>
            <a:ext cx="3511233" cy="3779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 sz="3600">
                <a:solidFill>
                  <a:schemeClr val="lt1"/>
                </a:solidFill>
              </a:rPr>
              <a:t>HARTA RESURSELOR NOASTRE</a:t>
            </a:r>
            <a:endParaRPr/>
          </a:p>
        </p:txBody>
      </p:sp>
      <p:sp>
        <p:nvSpPr>
          <p:cNvPr id="235" name="Google Shape;235;p16"/>
          <p:cNvSpPr/>
          <p:nvPr/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306" l="0" r="-1" t="2917"/>
          <a:stretch/>
        </p:blipFill>
        <p:spPr>
          <a:xfrm>
            <a:off x="4654295" y="10"/>
            <a:ext cx="7537705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"/>
          <p:cNvSpPr txBox="1"/>
          <p:nvPr>
            <p:ph type="title"/>
          </p:nvPr>
        </p:nvSpPr>
        <p:spPr>
          <a:xfrm>
            <a:off x="581191" y="288290"/>
            <a:ext cx="1102961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Gill Sans"/>
              <a:buNone/>
            </a:pPr>
            <a:r>
              <a:rPr lang="en-US"/>
              <a:t>PROVOCARE RE-SURSE</a:t>
            </a:r>
            <a:endParaRPr/>
          </a:p>
        </p:txBody>
      </p:sp>
      <p:sp>
        <p:nvSpPr>
          <p:cNvPr id="242" name="Google Shape;242;p17"/>
          <p:cNvSpPr txBox="1"/>
          <p:nvPr>
            <p:ph idx="1" type="body"/>
          </p:nvPr>
        </p:nvSpPr>
        <p:spPr>
          <a:xfrm>
            <a:off x="581193" y="1812175"/>
            <a:ext cx="6554714" cy="4163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76"/>
              <a:buChar char="◼"/>
            </a:pPr>
            <a:r>
              <a:rPr lang="en-US" sz="2800"/>
              <a:t>Completează chestionarul care te va conduce către identificarea resurselor tale. https://www.authentichappiness.sas.upenn.edu/user/login?destination=node/434</a:t>
            </a:r>
            <a:endParaRPr/>
          </a:p>
          <a:p>
            <a:pPr indent="-216617" lvl="0" marL="306000" rtl="0" algn="l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pic>
        <p:nvPicPr>
          <p:cNvPr descr="A picture containing fruit, sitting, cat, brown&#10;&#10;Description automatically generated" id="243" name="Google Shape;2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6807" y="2030506"/>
            <a:ext cx="4064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videndVTI">
  <a:themeElements>
    <a:clrScheme name="AnalogousFromRegularSeedLeftStep">
      <a:dk1>
        <a:srgbClr val="000000"/>
      </a:dk1>
      <a:lt1>
        <a:srgbClr val="FFFFFF"/>
      </a:lt1>
      <a:dk2>
        <a:srgbClr val="41243D"/>
      </a:dk2>
      <a:lt2>
        <a:srgbClr val="E2E5E8"/>
      </a:lt2>
      <a:accent1>
        <a:srgbClr val="E78129"/>
      </a:accent1>
      <a:accent2>
        <a:srgbClr val="D52117"/>
      </a:accent2>
      <a:accent3>
        <a:srgbClr val="E7296F"/>
      </a:accent3>
      <a:accent4>
        <a:srgbClr val="D517AC"/>
      </a:accent4>
      <a:accent5>
        <a:srgbClr val="C129E7"/>
      </a:accent5>
      <a:accent6>
        <a:srgbClr val="702FD9"/>
      </a:accent6>
      <a:hlink>
        <a:srgbClr val="3F83BF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ividendVTI">
  <a:themeElements>
    <a:clrScheme name="AnalogousFromRegularSeedLeftStep">
      <a:dk1>
        <a:srgbClr val="000000"/>
      </a:dk1>
      <a:lt1>
        <a:srgbClr val="FFFFFF"/>
      </a:lt1>
      <a:dk2>
        <a:srgbClr val="41243D"/>
      </a:dk2>
      <a:lt2>
        <a:srgbClr val="E2E5E8"/>
      </a:lt2>
      <a:accent1>
        <a:srgbClr val="E78129"/>
      </a:accent1>
      <a:accent2>
        <a:srgbClr val="D52117"/>
      </a:accent2>
      <a:accent3>
        <a:srgbClr val="E7296F"/>
      </a:accent3>
      <a:accent4>
        <a:srgbClr val="D517AC"/>
      </a:accent4>
      <a:accent5>
        <a:srgbClr val="C129E7"/>
      </a:accent5>
      <a:accent6>
        <a:srgbClr val="702FD9"/>
      </a:accent6>
      <a:hlink>
        <a:srgbClr val="3F83BF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3" ma:contentTypeDescription="Creați un document nou." ma:contentTypeScope="" ma:versionID="27742f813821eaaf0189b8fd88a37526">
  <xsd:schema xmlns:xsd="http://www.w3.org/2001/XMLSchema" xmlns:xs="http://www.w3.org/2001/XMLSchema" xmlns:p="http://schemas.microsoft.com/office/2006/metadata/properties" xmlns:ns2="fa0e77c9-1a0d-4ee8-b1f5-4ac48c790630" targetNamespace="http://schemas.microsoft.com/office/2006/metadata/properties" ma:root="true" ma:fieldsID="b5661d34166bd3f994369f0ce1401d53" ns2:_="">
    <xsd:import namespace="fa0e77c9-1a0d-4ee8-b1f5-4ac48c7906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e77c9-1a0d-4ee8-b1f5-4ac48c7906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C074012-7929-492A-BE5F-2B0DE9151A7B}"/>
</file>

<file path=customXml/itemProps2.xml><?xml version="1.0" encoding="utf-8"?>
<ds:datastoreItem xmlns:ds="http://schemas.openxmlformats.org/officeDocument/2006/customXml" ds:itemID="{4AFB0A14-CE2B-41C9-857D-BBF723EDE0A2}"/>
</file>

<file path=customXml/itemProps3.xml><?xml version="1.0" encoding="utf-8"?>
<ds:datastoreItem xmlns:ds="http://schemas.openxmlformats.org/officeDocument/2006/customXml" ds:itemID="{DD987A82-2966-42D2-AA61-5047C18C8471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0x0101008904CC3ACF4D0747AA1FE12D19DCF021</vt:lpwstr>
  </property>
</Properties>
</file>