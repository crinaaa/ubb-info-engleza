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71" r:id="rId4"/>
    <p:sldId id="260" r:id="rId5"/>
    <p:sldId id="268" r:id="rId6"/>
    <p:sldId id="272" r:id="rId7"/>
    <p:sldId id="265" r:id="rId8"/>
    <p:sldId id="270" r:id="rId9"/>
    <p:sldId id="267" r:id="rId10"/>
    <p:sldId id="269" r:id="rId11"/>
    <p:sldId id="275" r:id="rId12"/>
    <p:sldId id="273" r:id="rId13"/>
    <p:sldId id="274" r:id="rId14"/>
    <p:sldId id="263" r:id="rId15"/>
  </p:sldIdLst>
  <p:sldSz cx="18288000" cy="10287000"/>
  <p:notesSz cx="6858000" cy="9144000"/>
  <p:embeddedFontLst>
    <p:embeddedFont>
      <p:font typeface="Carelia" panose="020B0604020202020204" charset="0"/>
      <p:regular r:id="rId17"/>
    </p:embeddedFont>
    <p:embeddedFont>
      <p:font typeface="Dosis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4034-DE9F-40A5-B580-0C4F8D429629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60511-F18F-431A-96DE-D50545061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069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ro-RO" sz="12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Leagăn</a:t>
            </a:r>
            <a:br>
              <a:rPr lang="ro-RO" sz="12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12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Ciocolată</a:t>
            </a:r>
            <a:br>
              <a:rPr lang="ro-RO" sz="12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12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Minereu</a:t>
            </a:r>
          </a:p>
          <a:p>
            <a:pPr lvl="0" algn="ctr">
              <a:lnSpc>
                <a:spcPts val="8400"/>
              </a:lnSpc>
              <a:spcBef>
                <a:spcPct val="0"/>
              </a:spcBef>
            </a:pPr>
            <a:r>
              <a:rPr lang="ro-RO" sz="12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Albastru</a:t>
            </a:r>
            <a:br>
              <a:rPr lang="ro-RO" sz="12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12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Castane</a:t>
            </a:r>
            <a:br>
              <a:rPr lang="ro-RO" sz="12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12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Răbdare</a:t>
            </a:r>
            <a:endParaRPr lang="en-US" sz="1200" dirty="0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  <a:p>
            <a:endParaRPr lang="en-GB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60511-F18F-431A-96DE-D5054506131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822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 err="1"/>
              <a:t>Invățarea</a:t>
            </a:r>
            <a:r>
              <a:rPr lang="ro-RO" dirty="0"/>
              <a:t> este un </a:t>
            </a:r>
            <a:r>
              <a:rPr lang="ro-RO" dirty="0" err="1"/>
              <a:t>poces</a:t>
            </a:r>
            <a:r>
              <a:rPr lang="ro-RO" dirty="0"/>
              <a:t> mental, contextual și social de tipul </a:t>
            </a:r>
            <a:r>
              <a:rPr lang="ro-RO" dirty="0" err="1"/>
              <a:t>co</a:t>
            </a:r>
            <a:r>
              <a:rPr lang="ro-RO" dirty="0"/>
              <a:t>-construcție</a:t>
            </a:r>
            <a:endParaRPr lang="en-GB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60511-F18F-431A-96DE-D5054506131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016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7Zhv9ELy3hU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youtube.com/watch?v=pMMRE4Q2FG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63033" y="6195861"/>
            <a:ext cx="6914093" cy="5028432"/>
          </a:xfrm>
          <a:custGeom>
            <a:avLst/>
            <a:gdLst/>
            <a:ahLst/>
            <a:cxnLst/>
            <a:rect l="l" t="t" r="r" b="b"/>
            <a:pathLst>
              <a:path w="6914093" h="5028432">
                <a:moveTo>
                  <a:pt x="0" y="0"/>
                </a:moveTo>
                <a:lnTo>
                  <a:pt x="6914093" y="0"/>
                </a:lnTo>
                <a:lnTo>
                  <a:pt x="6914093" y="5028431"/>
                </a:lnTo>
                <a:lnTo>
                  <a:pt x="0" y="502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61979" y="4153649"/>
            <a:ext cx="11835175" cy="1979702"/>
          </a:xfrm>
          <a:custGeom>
            <a:avLst/>
            <a:gdLst/>
            <a:ahLst/>
            <a:cxnLst/>
            <a:rect l="l" t="t" r="r" b="b"/>
            <a:pathLst>
              <a:path w="11835175" h="1979702">
                <a:moveTo>
                  <a:pt x="0" y="0"/>
                </a:moveTo>
                <a:lnTo>
                  <a:pt x="11835175" y="0"/>
                </a:lnTo>
                <a:lnTo>
                  <a:pt x="11835175" y="1979702"/>
                </a:lnTo>
                <a:lnTo>
                  <a:pt x="0" y="1979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91843" y="3341211"/>
            <a:ext cx="1221254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Psihologia</a:t>
            </a:r>
            <a:r>
              <a:rPr lang="en-US" sz="6000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6000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Educației</a:t>
            </a:r>
            <a:endParaRPr lang="en-US" sz="6000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456379" y="5404911"/>
            <a:ext cx="8246933" cy="6247677"/>
          </a:xfrm>
          <a:custGeom>
            <a:avLst/>
            <a:gdLst/>
            <a:ahLst/>
            <a:cxnLst/>
            <a:rect l="l" t="t" r="r" b="b"/>
            <a:pathLst>
              <a:path w="8246933" h="6247677">
                <a:moveTo>
                  <a:pt x="0" y="0"/>
                </a:moveTo>
                <a:lnTo>
                  <a:pt x="8246933" y="0"/>
                </a:lnTo>
                <a:lnTo>
                  <a:pt x="8246933" y="6247677"/>
                </a:lnTo>
                <a:lnTo>
                  <a:pt x="0" y="6247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08980" y="-1652824"/>
            <a:ext cx="8905028" cy="5575060"/>
          </a:xfrm>
          <a:custGeom>
            <a:avLst/>
            <a:gdLst/>
            <a:ahLst/>
            <a:cxnLst/>
            <a:rect l="l" t="t" r="r" b="b"/>
            <a:pathLst>
              <a:path w="8905028" h="5575060">
                <a:moveTo>
                  <a:pt x="0" y="0"/>
                </a:moveTo>
                <a:lnTo>
                  <a:pt x="8905029" y="0"/>
                </a:lnTo>
                <a:lnTo>
                  <a:pt x="8905029" y="5575060"/>
                </a:lnTo>
                <a:lnTo>
                  <a:pt x="0" y="5575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495846">
            <a:off x="-3929800" y="-2685694"/>
            <a:ext cx="5243739" cy="7338566"/>
          </a:xfrm>
          <a:custGeom>
            <a:avLst/>
            <a:gdLst/>
            <a:ahLst/>
            <a:cxnLst/>
            <a:rect l="l" t="t" r="r" b="b"/>
            <a:pathLst>
              <a:path w="5243739" h="7338566">
                <a:moveTo>
                  <a:pt x="0" y="0"/>
                </a:moveTo>
                <a:lnTo>
                  <a:pt x="5243739" y="0"/>
                </a:lnTo>
                <a:lnTo>
                  <a:pt x="5243739" y="7338565"/>
                </a:lnTo>
                <a:lnTo>
                  <a:pt x="0" y="7338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23248" y="8452549"/>
            <a:ext cx="6639489" cy="126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Drd</a:t>
            </a:r>
            <a:r>
              <a:rPr lang="en-US" sz="3594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. </a:t>
            </a:r>
            <a:r>
              <a:rPr lang="en-US" sz="3594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Miheș</a:t>
            </a:r>
            <a:r>
              <a:rPr lang="en-US" sz="3594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Mihai</a:t>
            </a:r>
          </a:p>
          <a:p>
            <a:pPr algn="ctr">
              <a:lnSpc>
                <a:spcPts val="5032"/>
              </a:lnSpc>
            </a:pPr>
            <a:r>
              <a:rPr lang="en-US" sz="3594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mihaimihes@psychology.ro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65872" y="4635848"/>
            <a:ext cx="1085001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ro-RO" sz="6000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Paradigme și Î</a:t>
            </a:r>
            <a:r>
              <a:rPr lang="en-US" sz="6000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nvățarea</a:t>
            </a:r>
            <a:r>
              <a:rPr lang="ro-RO" sz="6000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2</a:t>
            </a:r>
            <a:endParaRPr lang="en-US" sz="6000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B62B-FD03-8903-FE23-E0CEAA97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96AA37-5BAD-A20F-D527-1DCCBD1112E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04AF5C5-00CE-22F9-71CE-76163F7405E8}"/>
              </a:ext>
            </a:extLst>
          </p:cNvPr>
          <p:cNvGrpSpPr/>
          <p:nvPr/>
        </p:nvGrpSpPr>
        <p:grpSpPr>
          <a:xfrm rot="93123">
            <a:off x="2244226" y="1467293"/>
            <a:ext cx="13118097" cy="8000329"/>
            <a:chOff x="0" y="0"/>
            <a:chExt cx="4021842" cy="245279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57D995-11B2-EA0C-6035-9D78C7ED54B6}"/>
                </a:ext>
              </a:extLst>
            </p:cNvPr>
            <p:cNvSpPr/>
            <p:nvPr/>
          </p:nvSpPr>
          <p:spPr>
            <a:xfrm>
              <a:off x="0" y="0"/>
              <a:ext cx="4021842" cy="2452800"/>
            </a:xfrm>
            <a:custGeom>
              <a:avLst/>
              <a:gdLst/>
              <a:ahLst/>
              <a:cxnLst/>
              <a:rect l="l" t="t" r="r" b="b"/>
              <a:pathLst>
                <a:path w="4021842" h="2452800">
                  <a:moveTo>
                    <a:pt x="15344" y="0"/>
                  </a:moveTo>
                  <a:lnTo>
                    <a:pt x="4006497" y="0"/>
                  </a:lnTo>
                  <a:cubicBezTo>
                    <a:pt x="4010567" y="0"/>
                    <a:pt x="4014470" y="1617"/>
                    <a:pt x="4017347" y="4494"/>
                  </a:cubicBezTo>
                  <a:cubicBezTo>
                    <a:pt x="4020225" y="7372"/>
                    <a:pt x="4021842" y="11275"/>
                    <a:pt x="4021842" y="15344"/>
                  </a:cubicBezTo>
                  <a:lnTo>
                    <a:pt x="4021842" y="2437455"/>
                  </a:lnTo>
                  <a:cubicBezTo>
                    <a:pt x="4021842" y="2441525"/>
                    <a:pt x="4020225" y="2445428"/>
                    <a:pt x="4017347" y="2448305"/>
                  </a:cubicBezTo>
                  <a:cubicBezTo>
                    <a:pt x="4014470" y="2451183"/>
                    <a:pt x="4010567" y="2452800"/>
                    <a:pt x="4006497" y="2452800"/>
                  </a:cubicBezTo>
                  <a:lnTo>
                    <a:pt x="15344" y="2452800"/>
                  </a:lnTo>
                  <a:cubicBezTo>
                    <a:pt x="11275" y="2452800"/>
                    <a:pt x="7372" y="2451183"/>
                    <a:pt x="4494" y="2448305"/>
                  </a:cubicBezTo>
                  <a:cubicBezTo>
                    <a:pt x="1617" y="2445428"/>
                    <a:pt x="0" y="2441525"/>
                    <a:pt x="0" y="2437455"/>
                  </a:cubicBezTo>
                  <a:lnTo>
                    <a:pt x="0" y="15344"/>
                  </a:lnTo>
                  <a:cubicBezTo>
                    <a:pt x="0" y="11275"/>
                    <a:pt x="1617" y="7372"/>
                    <a:pt x="4494" y="4494"/>
                  </a:cubicBezTo>
                  <a:cubicBezTo>
                    <a:pt x="7372" y="1617"/>
                    <a:pt x="11275" y="0"/>
                    <a:pt x="1534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5CBCA7C-67EF-6887-9CDF-62A0DF6D7D99}"/>
                </a:ext>
              </a:extLst>
            </p:cNvPr>
            <p:cNvSpPr txBox="1"/>
            <p:nvPr/>
          </p:nvSpPr>
          <p:spPr>
            <a:xfrm>
              <a:off x="0" y="-47625"/>
              <a:ext cx="4021842" cy="2500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1BC602B-A73E-5545-A1E2-5E448D0EE1EF}"/>
              </a:ext>
            </a:extLst>
          </p:cNvPr>
          <p:cNvGrpSpPr/>
          <p:nvPr/>
        </p:nvGrpSpPr>
        <p:grpSpPr>
          <a:xfrm>
            <a:off x="2225464" y="1291107"/>
            <a:ext cx="12819264" cy="8334250"/>
            <a:chOff x="0" y="0"/>
            <a:chExt cx="3930223" cy="25551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03D5505-C35F-C82C-A1BE-17A3F7DDD99C}"/>
                </a:ext>
              </a:extLst>
            </p:cNvPr>
            <p:cNvSpPr/>
            <p:nvPr/>
          </p:nvSpPr>
          <p:spPr>
            <a:xfrm>
              <a:off x="0" y="0"/>
              <a:ext cx="3930224" cy="2555175"/>
            </a:xfrm>
            <a:custGeom>
              <a:avLst/>
              <a:gdLst/>
              <a:ahLst/>
              <a:cxnLst/>
              <a:rect l="l" t="t" r="r" b="b"/>
              <a:pathLst>
                <a:path w="3930224" h="2555175">
                  <a:moveTo>
                    <a:pt x="6643" y="0"/>
                  </a:moveTo>
                  <a:lnTo>
                    <a:pt x="3923580" y="0"/>
                  </a:lnTo>
                  <a:cubicBezTo>
                    <a:pt x="3927249" y="0"/>
                    <a:pt x="3930224" y="2974"/>
                    <a:pt x="3930224" y="6643"/>
                  </a:cubicBezTo>
                  <a:lnTo>
                    <a:pt x="3930224" y="2548532"/>
                  </a:lnTo>
                  <a:cubicBezTo>
                    <a:pt x="3930224" y="2552201"/>
                    <a:pt x="3927249" y="2555175"/>
                    <a:pt x="3923580" y="2555175"/>
                  </a:cubicBezTo>
                  <a:lnTo>
                    <a:pt x="6643" y="2555175"/>
                  </a:lnTo>
                  <a:cubicBezTo>
                    <a:pt x="2974" y="2555175"/>
                    <a:pt x="0" y="2552201"/>
                    <a:pt x="0" y="2548532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81AA007-CB55-B531-4C1F-50EC2FE23167}"/>
                </a:ext>
              </a:extLst>
            </p:cNvPr>
            <p:cNvSpPr txBox="1"/>
            <p:nvPr/>
          </p:nvSpPr>
          <p:spPr>
            <a:xfrm>
              <a:off x="0" y="-114300"/>
              <a:ext cx="3930223" cy="266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3A8564A-0FCA-36A7-F047-A1F12689B6F0}"/>
              </a:ext>
            </a:extLst>
          </p:cNvPr>
          <p:cNvSpPr/>
          <p:nvPr/>
        </p:nvSpPr>
        <p:spPr>
          <a:xfrm rot="-117286">
            <a:off x="12481505" y="1156774"/>
            <a:ext cx="3828638" cy="4509103"/>
          </a:xfrm>
          <a:custGeom>
            <a:avLst/>
            <a:gdLst/>
            <a:ahLst/>
            <a:cxnLst/>
            <a:rect l="l" t="t" r="r" b="b"/>
            <a:pathLst>
              <a:path w="3828638" h="4509103">
                <a:moveTo>
                  <a:pt x="0" y="0"/>
                </a:moveTo>
                <a:lnTo>
                  <a:pt x="3828638" y="0"/>
                </a:lnTo>
                <a:lnTo>
                  <a:pt x="3828638" y="4509103"/>
                </a:lnTo>
                <a:lnTo>
                  <a:pt x="0" y="4509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823D785-80A9-2258-20BE-5C1B59C0944F}"/>
              </a:ext>
            </a:extLst>
          </p:cNvPr>
          <p:cNvSpPr/>
          <p:nvPr/>
        </p:nvSpPr>
        <p:spPr>
          <a:xfrm>
            <a:off x="2225464" y="239562"/>
            <a:ext cx="1239167" cy="1189600"/>
          </a:xfrm>
          <a:custGeom>
            <a:avLst/>
            <a:gdLst/>
            <a:ahLst/>
            <a:cxnLst/>
            <a:rect l="l" t="t" r="r" b="b"/>
            <a:pathLst>
              <a:path w="1239167" h="1189600">
                <a:moveTo>
                  <a:pt x="0" y="0"/>
                </a:moveTo>
                <a:lnTo>
                  <a:pt x="1239167" y="0"/>
                </a:lnTo>
                <a:lnTo>
                  <a:pt x="1239167" y="1189600"/>
                </a:lnTo>
                <a:lnTo>
                  <a:pt x="0" y="118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70EC0E9-1A39-79D4-5D46-53A505D49196}"/>
              </a:ext>
            </a:extLst>
          </p:cNvPr>
          <p:cNvSpPr txBox="1"/>
          <p:nvPr/>
        </p:nvSpPr>
        <p:spPr>
          <a:xfrm>
            <a:off x="3178043" y="1305337"/>
            <a:ext cx="8894674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ro-RO" sz="6332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Cuvinte Cheie</a:t>
            </a:r>
            <a:endParaRPr lang="en-US" sz="6332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3500F58-9330-1ED2-C695-9A995B24ECAF}"/>
              </a:ext>
            </a:extLst>
          </p:cNvPr>
          <p:cNvSpPr txBox="1"/>
          <p:nvPr/>
        </p:nvSpPr>
        <p:spPr>
          <a:xfrm>
            <a:off x="6239632" y="2822504"/>
            <a:ext cx="4081663" cy="636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Leagăn</a:t>
            </a:r>
            <a:b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Ciocolată</a:t>
            </a:r>
            <a:b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Minereu</a:t>
            </a:r>
          </a:p>
          <a:p>
            <a:pPr lvl="0" algn="ctr">
              <a:lnSpc>
                <a:spcPts val="8400"/>
              </a:lnSpc>
              <a:spcBef>
                <a:spcPct val="0"/>
              </a:spcBef>
            </a:pP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Albastru</a:t>
            </a:r>
            <a:b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Castane</a:t>
            </a:r>
            <a:b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Răbdare</a:t>
            </a:r>
            <a:endParaRPr lang="en-US" sz="6000" dirty="0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221215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93B80-B3B0-13BD-DC5E-08ED2D38A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03F05A-11B2-CBC4-CF96-6164271C78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383494A-9ED1-7832-41D8-DA65BD338FB8}"/>
              </a:ext>
            </a:extLst>
          </p:cNvPr>
          <p:cNvGrpSpPr/>
          <p:nvPr/>
        </p:nvGrpSpPr>
        <p:grpSpPr>
          <a:xfrm>
            <a:off x="2523559" y="-495300"/>
            <a:ext cx="13240881" cy="12247451"/>
            <a:chOff x="0" y="0"/>
            <a:chExt cx="3250304" cy="322566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A8F2886-1CBF-C5C9-2540-1235B27F6E1F}"/>
                </a:ext>
              </a:extLst>
            </p:cNvPr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AE7950B-6A43-B5B0-AE94-3C45F67C6DD5}"/>
                </a:ext>
              </a:extLst>
            </p:cNvPr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80B0F0EE-E6CD-26E4-3F60-90D1AABF55C5}"/>
              </a:ext>
            </a:extLst>
          </p:cNvPr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5BD94F9-050D-072F-563C-68FD0984D50C}"/>
              </a:ext>
            </a:extLst>
          </p:cNvPr>
          <p:cNvSpPr txBox="1"/>
          <p:nvPr/>
        </p:nvSpPr>
        <p:spPr>
          <a:xfrm>
            <a:off x="2682749" y="0"/>
            <a:ext cx="12922500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ro-RO" sz="6974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Teoria procesării informației</a:t>
            </a:r>
            <a:endParaRPr lang="en-US" sz="6974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5DE59A9-095D-5B03-3C16-3B94173C95EE}"/>
              </a:ext>
            </a:extLst>
          </p:cNvPr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9931ED9-562C-ABDF-1050-77658C26A0AD}"/>
              </a:ext>
            </a:extLst>
          </p:cNvPr>
          <p:cNvSpPr txBox="1"/>
          <p:nvPr/>
        </p:nvSpPr>
        <p:spPr>
          <a:xfrm>
            <a:off x="3696076" y="3342934"/>
            <a:ext cx="10895848" cy="264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Dosis" pitchFamily="2" charset="0"/>
              </a:rPr>
              <a:t>Atkinson </a:t>
            </a:r>
            <a:r>
              <a:rPr lang="ro-RO" sz="3200" dirty="0">
                <a:latin typeface="Dosis" pitchFamily="2" charset="0"/>
              </a:rPr>
              <a:t>și</a:t>
            </a:r>
            <a:r>
              <a:rPr lang="en-GB" sz="3200" dirty="0">
                <a:latin typeface="Dosis" pitchFamily="2" charset="0"/>
              </a:rPr>
              <a:t> Shiffrin (1968)</a:t>
            </a:r>
            <a:endParaRPr lang="ro-RO" sz="3200" dirty="0">
              <a:latin typeface="Dosis" pitchFamily="2" charset="0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Dosis" pitchFamily="2" charset="0"/>
              </a:rPr>
              <a:t>Baddeley </a:t>
            </a:r>
            <a:r>
              <a:rPr lang="ro-RO" sz="3200" dirty="0">
                <a:latin typeface="Dosis" pitchFamily="2" charset="0"/>
              </a:rPr>
              <a:t>și</a:t>
            </a:r>
            <a:r>
              <a:rPr lang="en-GB" sz="3200" dirty="0">
                <a:latin typeface="Dosis" pitchFamily="2" charset="0"/>
              </a:rPr>
              <a:t> Hitch (1974)</a:t>
            </a:r>
            <a:endParaRPr lang="ro-RO" sz="3200" dirty="0">
              <a:latin typeface="Dosis" pitchFamily="2" charset="0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ro-RO" sz="3200" dirty="0">
                <a:latin typeface="Dosis" pitchFamily="2" charset="0"/>
              </a:rPr>
              <a:t>Teorie cognitivistă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ro-RO" sz="3200" dirty="0">
                <a:latin typeface="Dosis" pitchFamily="2" charset="0"/>
              </a:rPr>
              <a:t>Creierul este ca și un calculator</a:t>
            </a:r>
            <a:br>
              <a:rPr lang="ro-RO" sz="3200" dirty="0">
                <a:latin typeface="Dosis" pitchFamily="2" charset="0"/>
              </a:rPr>
            </a:br>
            <a:endParaRPr lang="en-US" sz="3000" dirty="0">
              <a:solidFill>
                <a:srgbClr val="01070A"/>
              </a:solidFill>
              <a:latin typeface="Dosis" pitchFamily="2" charset="0"/>
              <a:ea typeface="Dosis"/>
              <a:cs typeface="Dosis"/>
              <a:sym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42693720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6505" y="607058"/>
            <a:ext cx="16088032" cy="9431807"/>
            <a:chOff x="0" y="0"/>
            <a:chExt cx="4491524" cy="22624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1524" cy="2262458"/>
            </a:xfrm>
            <a:custGeom>
              <a:avLst/>
              <a:gdLst/>
              <a:ahLst/>
              <a:cxnLst/>
              <a:rect l="l" t="t" r="r" b="b"/>
              <a:pathLst>
                <a:path w="4491524" h="2262458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949557" y="7889359"/>
            <a:ext cx="3584090" cy="3192451"/>
          </a:xfrm>
          <a:custGeom>
            <a:avLst/>
            <a:gdLst/>
            <a:ahLst/>
            <a:cxnLst/>
            <a:rect l="l" t="t" r="r" b="b"/>
            <a:pathLst>
              <a:path w="3584090" h="3192451">
                <a:moveTo>
                  <a:pt x="0" y="0"/>
                </a:moveTo>
                <a:lnTo>
                  <a:pt x="3584089" y="0"/>
                </a:lnTo>
                <a:lnTo>
                  <a:pt x="3584089" y="3192451"/>
                </a:lnTo>
                <a:lnTo>
                  <a:pt x="0" y="3192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437982">
            <a:off x="15679085" y="34456"/>
            <a:ext cx="3160431" cy="3028267"/>
          </a:xfrm>
          <a:custGeom>
            <a:avLst/>
            <a:gdLst/>
            <a:ahLst/>
            <a:cxnLst/>
            <a:rect l="l" t="t" r="r" b="b"/>
            <a:pathLst>
              <a:path w="3160431" h="3028267">
                <a:moveTo>
                  <a:pt x="0" y="0"/>
                </a:moveTo>
                <a:lnTo>
                  <a:pt x="3160430" y="0"/>
                </a:lnTo>
                <a:lnTo>
                  <a:pt x="3160430" y="3028267"/>
                </a:lnTo>
                <a:lnTo>
                  <a:pt x="0" y="302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CasetăText 23">
            <a:extLst>
              <a:ext uri="{FF2B5EF4-FFF2-40B4-BE49-F238E27FC236}">
                <a16:creationId xmlns:a16="http://schemas.microsoft.com/office/drawing/2014/main" id="{B8D015D1-03DF-0EF3-AF8F-95A6CAA531C5}"/>
              </a:ext>
            </a:extLst>
          </p:cNvPr>
          <p:cNvSpPr txBox="1"/>
          <p:nvPr/>
        </p:nvSpPr>
        <p:spPr>
          <a:xfrm>
            <a:off x="6781800" y="1846885"/>
            <a:ext cx="4114800" cy="7078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ro-RO" sz="4000" dirty="0">
                <a:latin typeface="Dosis" pitchFamily="2" charset="0"/>
              </a:rPr>
              <a:t>Memorie Senzorială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25" name="CasetăText 24">
            <a:extLst>
              <a:ext uri="{FF2B5EF4-FFF2-40B4-BE49-F238E27FC236}">
                <a16:creationId xmlns:a16="http://schemas.microsoft.com/office/drawing/2014/main" id="{DFEC6458-7204-7AE7-2E84-5EAF9B903930}"/>
              </a:ext>
            </a:extLst>
          </p:cNvPr>
          <p:cNvSpPr txBox="1"/>
          <p:nvPr/>
        </p:nvSpPr>
        <p:spPr>
          <a:xfrm>
            <a:off x="7207061" y="4003112"/>
            <a:ext cx="3156667" cy="13234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Memorie de lucru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26" name="CasetăText 25">
            <a:extLst>
              <a:ext uri="{FF2B5EF4-FFF2-40B4-BE49-F238E27FC236}">
                <a16:creationId xmlns:a16="http://schemas.microsoft.com/office/drawing/2014/main" id="{10E60E92-1377-6932-C17B-B910D9071DF8}"/>
              </a:ext>
            </a:extLst>
          </p:cNvPr>
          <p:cNvSpPr txBox="1"/>
          <p:nvPr/>
        </p:nvSpPr>
        <p:spPr>
          <a:xfrm>
            <a:off x="7283695" y="6774892"/>
            <a:ext cx="3156667" cy="132343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Memorie de lungă durată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31" name="Săgeată: dreapta 30">
            <a:extLst>
              <a:ext uri="{FF2B5EF4-FFF2-40B4-BE49-F238E27FC236}">
                <a16:creationId xmlns:a16="http://schemas.microsoft.com/office/drawing/2014/main" id="{07D16CE1-52DD-C703-DC5D-0F16DEF99AC0}"/>
              </a:ext>
            </a:extLst>
          </p:cNvPr>
          <p:cNvSpPr/>
          <p:nvPr/>
        </p:nvSpPr>
        <p:spPr>
          <a:xfrm rot="5400000">
            <a:off x="8259607" y="2885210"/>
            <a:ext cx="1204842" cy="90836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ăgeată: dreapta 7">
            <a:extLst>
              <a:ext uri="{FF2B5EF4-FFF2-40B4-BE49-F238E27FC236}">
                <a16:creationId xmlns:a16="http://schemas.microsoft.com/office/drawing/2014/main" id="{CC62631D-C71E-A1A4-A72E-ABFC12F3FEB5}"/>
              </a:ext>
            </a:extLst>
          </p:cNvPr>
          <p:cNvSpPr/>
          <p:nvPr/>
        </p:nvSpPr>
        <p:spPr>
          <a:xfrm rot="5400000">
            <a:off x="8255629" y="5596537"/>
            <a:ext cx="1204842" cy="90836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31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44804-A62B-3C90-3B56-56C2820FA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EB6CDA-1AC3-ADBB-D314-059AC7421DA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6A4A2EE-E097-911D-28FB-EEB82F3F68EC}"/>
              </a:ext>
            </a:extLst>
          </p:cNvPr>
          <p:cNvGrpSpPr/>
          <p:nvPr/>
        </p:nvGrpSpPr>
        <p:grpSpPr>
          <a:xfrm>
            <a:off x="1166505" y="607058"/>
            <a:ext cx="16088032" cy="9431807"/>
            <a:chOff x="0" y="0"/>
            <a:chExt cx="4491524" cy="226245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3903E3E-6062-7422-EEAC-28CC47D37EF6}"/>
                </a:ext>
              </a:extLst>
            </p:cNvPr>
            <p:cNvSpPr/>
            <p:nvPr/>
          </p:nvSpPr>
          <p:spPr>
            <a:xfrm>
              <a:off x="0" y="0"/>
              <a:ext cx="4491524" cy="2262458"/>
            </a:xfrm>
            <a:custGeom>
              <a:avLst/>
              <a:gdLst/>
              <a:ahLst/>
              <a:cxnLst/>
              <a:rect l="l" t="t" r="r" b="b"/>
              <a:pathLst>
                <a:path w="4491524" h="2262458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FFD7A6A-0602-4680-5863-743871BC6A55}"/>
                </a:ext>
              </a:extLst>
            </p:cNvPr>
            <p:cNvSpPr txBox="1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81A1889-8F6D-1A5D-90ED-0D0A92BE5A47}"/>
              </a:ext>
            </a:extLst>
          </p:cNvPr>
          <p:cNvSpPr/>
          <p:nvPr/>
        </p:nvSpPr>
        <p:spPr>
          <a:xfrm>
            <a:off x="-949557" y="7889359"/>
            <a:ext cx="3584090" cy="3192451"/>
          </a:xfrm>
          <a:custGeom>
            <a:avLst/>
            <a:gdLst/>
            <a:ahLst/>
            <a:cxnLst/>
            <a:rect l="l" t="t" r="r" b="b"/>
            <a:pathLst>
              <a:path w="3584090" h="3192451">
                <a:moveTo>
                  <a:pt x="0" y="0"/>
                </a:moveTo>
                <a:lnTo>
                  <a:pt x="3584089" y="0"/>
                </a:lnTo>
                <a:lnTo>
                  <a:pt x="3584089" y="3192451"/>
                </a:lnTo>
                <a:lnTo>
                  <a:pt x="0" y="3192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777EC2A-194C-5792-F9E7-B1A385D37BC9}"/>
              </a:ext>
            </a:extLst>
          </p:cNvPr>
          <p:cNvSpPr/>
          <p:nvPr/>
        </p:nvSpPr>
        <p:spPr>
          <a:xfrm rot="1437982">
            <a:off x="15679085" y="34456"/>
            <a:ext cx="3160431" cy="3028267"/>
          </a:xfrm>
          <a:custGeom>
            <a:avLst/>
            <a:gdLst/>
            <a:ahLst/>
            <a:cxnLst/>
            <a:rect l="l" t="t" r="r" b="b"/>
            <a:pathLst>
              <a:path w="3160431" h="3028267">
                <a:moveTo>
                  <a:pt x="0" y="0"/>
                </a:moveTo>
                <a:lnTo>
                  <a:pt x="3160430" y="0"/>
                </a:lnTo>
                <a:lnTo>
                  <a:pt x="3160430" y="3028267"/>
                </a:lnTo>
                <a:lnTo>
                  <a:pt x="0" y="302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CasetăText 23">
            <a:extLst>
              <a:ext uri="{FF2B5EF4-FFF2-40B4-BE49-F238E27FC236}">
                <a16:creationId xmlns:a16="http://schemas.microsoft.com/office/drawing/2014/main" id="{3730F792-696D-789D-768A-0993DAA2C933}"/>
              </a:ext>
            </a:extLst>
          </p:cNvPr>
          <p:cNvSpPr txBox="1"/>
          <p:nvPr/>
        </p:nvSpPr>
        <p:spPr>
          <a:xfrm>
            <a:off x="2634533" y="2519741"/>
            <a:ext cx="4114800" cy="7078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ro-RO" sz="4000" dirty="0">
                <a:latin typeface="Dosis" pitchFamily="2" charset="0"/>
              </a:rPr>
              <a:t>Memorie Senzorială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25" name="CasetăText 24">
            <a:extLst>
              <a:ext uri="{FF2B5EF4-FFF2-40B4-BE49-F238E27FC236}">
                <a16:creationId xmlns:a16="http://schemas.microsoft.com/office/drawing/2014/main" id="{39D93D41-D6C6-312E-FD11-61329327A36C}"/>
              </a:ext>
            </a:extLst>
          </p:cNvPr>
          <p:cNvSpPr txBox="1"/>
          <p:nvPr/>
        </p:nvSpPr>
        <p:spPr>
          <a:xfrm>
            <a:off x="2790415" y="4662003"/>
            <a:ext cx="3156667" cy="13234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Memorie de lucru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26" name="CasetăText 25">
            <a:extLst>
              <a:ext uri="{FF2B5EF4-FFF2-40B4-BE49-F238E27FC236}">
                <a16:creationId xmlns:a16="http://schemas.microsoft.com/office/drawing/2014/main" id="{44382F92-081F-705B-7828-A58919B5B0EE}"/>
              </a:ext>
            </a:extLst>
          </p:cNvPr>
          <p:cNvSpPr txBox="1"/>
          <p:nvPr/>
        </p:nvSpPr>
        <p:spPr>
          <a:xfrm>
            <a:off x="2867049" y="7433783"/>
            <a:ext cx="3156667" cy="132343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Memorie de lungă durată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27" name="CasetăText 26">
            <a:extLst>
              <a:ext uri="{FF2B5EF4-FFF2-40B4-BE49-F238E27FC236}">
                <a16:creationId xmlns:a16="http://schemas.microsoft.com/office/drawing/2014/main" id="{02B7D148-3C1A-5A9E-8BE0-D4EF8D1B45FB}"/>
              </a:ext>
            </a:extLst>
          </p:cNvPr>
          <p:cNvSpPr txBox="1"/>
          <p:nvPr/>
        </p:nvSpPr>
        <p:spPr>
          <a:xfrm>
            <a:off x="12106454" y="2482267"/>
            <a:ext cx="3156667" cy="707886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Pozitivă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28" name="CasetăText 27">
            <a:extLst>
              <a:ext uri="{FF2B5EF4-FFF2-40B4-BE49-F238E27FC236}">
                <a16:creationId xmlns:a16="http://schemas.microsoft.com/office/drawing/2014/main" id="{1C34274A-8541-B200-0A6C-4681098AC317}"/>
              </a:ext>
            </a:extLst>
          </p:cNvPr>
          <p:cNvSpPr txBox="1"/>
          <p:nvPr/>
        </p:nvSpPr>
        <p:spPr>
          <a:xfrm>
            <a:off x="12106453" y="4405520"/>
            <a:ext cx="3156667" cy="707886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Negativă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29" name="CasetăText 28">
            <a:extLst>
              <a:ext uri="{FF2B5EF4-FFF2-40B4-BE49-F238E27FC236}">
                <a16:creationId xmlns:a16="http://schemas.microsoft.com/office/drawing/2014/main" id="{F2F6397F-9998-670F-600B-CEA506C2D8B8}"/>
              </a:ext>
            </a:extLst>
          </p:cNvPr>
          <p:cNvSpPr txBox="1"/>
          <p:nvPr/>
        </p:nvSpPr>
        <p:spPr>
          <a:xfrm>
            <a:off x="12106452" y="6492636"/>
            <a:ext cx="3156667" cy="7078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Pozitivă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30" name="CasetăText 29">
            <a:extLst>
              <a:ext uri="{FF2B5EF4-FFF2-40B4-BE49-F238E27FC236}">
                <a16:creationId xmlns:a16="http://schemas.microsoft.com/office/drawing/2014/main" id="{CF7A5E6B-460D-A783-A789-878C899DBD56}"/>
              </a:ext>
            </a:extLst>
          </p:cNvPr>
          <p:cNvSpPr txBox="1"/>
          <p:nvPr/>
        </p:nvSpPr>
        <p:spPr>
          <a:xfrm>
            <a:off x="12106452" y="8095503"/>
            <a:ext cx="3156667" cy="7078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Negativă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31" name="Săgeată: dreapta 30">
            <a:extLst>
              <a:ext uri="{FF2B5EF4-FFF2-40B4-BE49-F238E27FC236}">
                <a16:creationId xmlns:a16="http://schemas.microsoft.com/office/drawing/2014/main" id="{EED992FC-9D1B-24F3-B867-9E627BA2D35C}"/>
              </a:ext>
            </a:extLst>
          </p:cNvPr>
          <p:cNvSpPr/>
          <p:nvPr/>
        </p:nvSpPr>
        <p:spPr>
          <a:xfrm rot="5400000">
            <a:off x="3842961" y="3544101"/>
            <a:ext cx="1204842" cy="90836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Săgeată: dreapta 32">
            <a:extLst>
              <a:ext uri="{FF2B5EF4-FFF2-40B4-BE49-F238E27FC236}">
                <a16:creationId xmlns:a16="http://schemas.microsoft.com/office/drawing/2014/main" id="{1C1B1B34-981D-2FD6-8DB9-615A3502A9A6}"/>
              </a:ext>
            </a:extLst>
          </p:cNvPr>
          <p:cNvSpPr/>
          <p:nvPr/>
        </p:nvSpPr>
        <p:spPr>
          <a:xfrm rot="20229878">
            <a:off x="7281909" y="1416560"/>
            <a:ext cx="145843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Săgeată: dreapta 33">
            <a:extLst>
              <a:ext uri="{FF2B5EF4-FFF2-40B4-BE49-F238E27FC236}">
                <a16:creationId xmlns:a16="http://schemas.microsoft.com/office/drawing/2014/main" id="{242B2186-B05A-535C-0AD2-596BDA62EE4C}"/>
              </a:ext>
            </a:extLst>
          </p:cNvPr>
          <p:cNvSpPr/>
          <p:nvPr/>
        </p:nvSpPr>
        <p:spPr>
          <a:xfrm rot="756559">
            <a:off x="7454178" y="2773444"/>
            <a:ext cx="145843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Săgeată: dreapta 34">
            <a:extLst>
              <a:ext uri="{FF2B5EF4-FFF2-40B4-BE49-F238E27FC236}">
                <a16:creationId xmlns:a16="http://schemas.microsoft.com/office/drawing/2014/main" id="{C55A273D-AD4B-0887-3CA8-F9F7EFA240D1}"/>
              </a:ext>
            </a:extLst>
          </p:cNvPr>
          <p:cNvSpPr/>
          <p:nvPr/>
        </p:nvSpPr>
        <p:spPr>
          <a:xfrm rot="20566467">
            <a:off x="10206076" y="6540615"/>
            <a:ext cx="145843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Săgeată: dreapta 35">
            <a:extLst>
              <a:ext uri="{FF2B5EF4-FFF2-40B4-BE49-F238E27FC236}">
                <a16:creationId xmlns:a16="http://schemas.microsoft.com/office/drawing/2014/main" id="{B14D3942-777E-67EE-CB7A-59E731EDE611}"/>
              </a:ext>
            </a:extLst>
          </p:cNvPr>
          <p:cNvSpPr/>
          <p:nvPr/>
        </p:nvSpPr>
        <p:spPr>
          <a:xfrm rot="771985">
            <a:off x="10184197" y="7771078"/>
            <a:ext cx="1516657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ăgeată: dreapta 7">
            <a:extLst>
              <a:ext uri="{FF2B5EF4-FFF2-40B4-BE49-F238E27FC236}">
                <a16:creationId xmlns:a16="http://schemas.microsoft.com/office/drawing/2014/main" id="{6D7F875E-2FCA-F631-1F61-E84424129F75}"/>
              </a:ext>
            </a:extLst>
          </p:cNvPr>
          <p:cNvSpPr/>
          <p:nvPr/>
        </p:nvSpPr>
        <p:spPr>
          <a:xfrm rot="5400000">
            <a:off x="3838983" y="6255428"/>
            <a:ext cx="1204842" cy="90836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6764E662-F16A-0104-9587-6683D441E295}"/>
              </a:ext>
            </a:extLst>
          </p:cNvPr>
          <p:cNvSpPr txBox="1"/>
          <p:nvPr/>
        </p:nvSpPr>
        <p:spPr>
          <a:xfrm>
            <a:off x="9129712" y="1115590"/>
            <a:ext cx="4114800" cy="7078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ro-RO" sz="4000" dirty="0">
                <a:latin typeface="Dosis" pitchFamily="2" charset="0"/>
              </a:rPr>
              <a:t>Memorie Senzorială</a:t>
            </a:r>
            <a:endParaRPr lang="en-GB" sz="4000" dirty="0">
              <a:latin typeface="Dosis" pitchFamily="2" charset="0"/>
            </a:endParaRPr>
          </a:p>
        </p:txBody>
      </p:sp>
      <p:pic>
        <p:nvPicPr>
          <p:cNvPr id="1026" name="Picture 2" descr="What is Information Processing Theory? - LearnUpon">
            <a:extLst>
              <a:ext uri="{FF2B5EF4-FFF2-40B4-BE49-F238E27FC236}">
                <a16:creationId xmlns:a16="http://schemas.microsoft.com/office/drawing/2014/main" id="{50AA7930-26AC-8792-5D37-2CBAF916F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111" y="708841"/>
            <a:ext cx="14935200" cy="902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502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DBCBD-7B9E-5D2A-0B17-4D8235A7B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05C3B7-5564-F5B4-AB63-F622482D727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85FC213-A79D-6105-6FB7-72E0CAEA8AA9}"/>
              </a:ext>
            </a:extLst>
          </p:cNvPr>
          <p:cNvGrpSpPr/>
          <p:nvPr/>
        </p:nvGrpSpPr>
        <p:grpSpPr>
          <a:xfrm rot="93123">
            <a:off x="2244226" y="1467293"/>
            <a:ext cx="13118097" cy="8000329"/>
            <a:chOff x="0" y="0"/>
            <a:chExt cx="4021842" cy="245279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305A33D-A2F5-2900-8736-4474C8F7297C}"/>
                </a:ext>
              </a:extLst>
            </p:cNvPr>
            <p:cNvSpPr/>
            <p:nvPr/>
          </p:nvSpPr>
          <p:spPr>
            <a:xfrm>
              <a:off x="0" y="0"/>
              <a:ext cx="4021842" cy="2452800"/>
            </a:xfrm>
            <a:custGeom>
              <a:avLst/>
              <a:gdLst/>
              <a:ahLst/>
              <a:cxnLst/>
              <a:rect l="l" t="t" r="r" b="b"/>
              <a:pathLst>
                <a:path w="4021842" h="2452800">
                  <a:moveTo>
                    <a:pt x="15344" y="0"/>
                  </a:moveTo>
                  <a:lnTo>
                    <a:pt x="4006497" y="0"/>
                  </a:lnTo>
                  <a:cubicBezTo>
                    <a:pt x="4010567" y="0"/>
                    <a:pt x="4014470" y="1617"/>
                    <a:pt x="4017347" y="4494"/>
                  </a:cubicBezTo>
                  <a:cubicBezTo>
                    <a:pt x="4020225" y="7372"/>
                    <a:pt x="4021842" y="11275"/>
                    <a:pt x="4021842" y="15344"/>
                  </a:cubicBezTo>
                  <a:lnTo>
                    <a:pt x="4021842" y="2437455"/>
                  </a:lnTo>
                  <a:cubicBezTo>
                    <a:pt x="4021842" y="2441525"/>
                    <a:pt x="4020225" y="2445428"/>
                    <a:pt x="4017347" y="2448305"/>
                  </a:cubicBezTo>
                  <a:cubicBezTo>
                    <a:pt x="4014470" y="2451183"/>
                    <a:pt x="4010567" y="2452800"/>
                    <a:pt x="4006497" y="2452800"/>
                  </a:cubicBezTo>
                  <a:lnTo>
                    <a:pt x="15344" y="2452800"/>
                  </a:lnTo>
                  <a:cubicBezTo>
                    <a:pt x="11275" y="2452800"/>
                    <a:pt x="7372" y="2451183"/>
                    <a:pt x="4494" y="2448305"/>
                  </a:cubicBezTo>
                  <a:cubicBezTo>
                    <a:pt x="1617" y="2445428"/>
                    <a:pt x="0" y="2441525"/>
                    <a:pt x="0" y="2437455"/>
                  </a:cubicBezTo>
                  <a:lnTo>
                    <a:pt x="0" y="15344"/>
                  </a:lnTo>
                  <a:cubicBezTo>
                    <a:pt x="0" y="11275"/>
                    <a:pt x="1617" y="7372"/>
                    <a:pt x="4494" y="4494"/>
                  </a:cubicBezTo>
                  <a:cubicBezTo>
                    <a:pt x="7372" y="1617"/>
                    <a:pt x="11275" y="0"/>
                    <a:pt x="1534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0A6323E-FDEB-704C-F1AF-1FE85C2B76BA}"/>
                </a:ext>
              </a:extLst>
            </p:cNvPr>
            <p:cNvSpPr txBox="1"/>
            <p:nvPr/>
          </p:nvSpPr>
          <p:spPr>
            <a:xfrm>
              <a:off x="0" y="-47625"/>
              <a:ext cx="4021842" cy="2500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026FD4D-3CDF-9D3E-1072-6648A5A9D47B}"/>
              </a:ext>
            </a:extLst>
          </p:cNvPr>
          <p:cNvGrpSpPr/>
          <p:nvPr/>
        </p:nvGrpSpPr>
        <p:grpSpPr>
          <a:xfrm>
            <a:off x="2225464" y="1291107"/>
            <a:ext cx="12819264" cy="8334250"/>
            <a:chOff x="0" y="0"/>
            <a:chExt cx="3930223" cy="25551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35627DC-56A1-A7B0-23A0-E862F2EA7B40}"/>
                </a:ext>
              </a:extLst>
            </p:cNvPr>
            <p:cNvSpPr/>
            <p:nvPr/>
          </p:nvSpPr>
          <p:spPr>
            <a:xfrm>
              <a:off x="0" y="0"/>
              <a:ext cx="3930224" cy="2555175"/>
            </a:xfrm>
            <a:custGeom>
              <a:avLst/>
              <a:gdLst/>
              <a:ahLst/>
              <a:cxnLst/>
              <a:rect l="l" t="t" r="r" b="b"/>
              <a:pathLst>
                <a:path w="3930224" h="2555175">
                  <a:moveTo>
                    <a:pt x="6643" y="0"/>
                  </a:moveTo>
                  <a:lnTo>
                    <a:pt x="3923580" y="0"/>
                  </a:lnTo>
                  <a:cubicBezTo>
                    <a:pt x="3927249" y="0"/>
                    <a:pt x="3930224" y="2974"/>
                    <a:pt x="3930224" y="6643"/>
                  </a:cubicBezTo>
                  <a:lnTo>
                    <a:pt x="3930224" y="2548532"/>
                  </a:lnTo>
                  <a:cubicBezTo>
                    <a:pt x="3930224" y="2552201"/>
                    <a:pt x="3927249" y="2555175"/>
                    <a:pt x="3923580" y="2555175"/>
                  </a:cubicBezTo>
                  <a:lnTo>
                    <a:pt x="6643" y="2555175"/>
                  </a:lnTo>
                  <a:cubicBezTo>
                    <a:pt x="2974" y="2555175"/>
                    <a:pt x="0" y="2552201"/>
                    <a:pt x="0" y="2548532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B674DB7-F39E-DC97-1363-DC5726B78FD9}"/>
                </a:ext>
              </a:extLst>
            </p:cNvPr>
            <p:cNvSpPr txBox="1"/>
            <p:nvPr/>
          </p:nvSpPr>
          <p:spPr>
            <a:xfrm>
              <a:off x="0" y="-114300"/>
              <a:ext cx="3930223" cy="266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C7576D1-64DF-F21D-7BD9-DC179B564FF7}"/>
              </a:ext>
            </a:extLst>
          </p:cNvPr>
          <p:cNvSpPr/>
          <p:nvPr/>
        </p:nvSpPr>
        <p:spPr>
          <a:xfrm rot="-117286">
            <a:off x="12481505" y="1156774"/>
            <a:ext cx="3828638" cy="4509103"/>
          </a:xfrm>
          <a:custGeom>
            <a:avLst/>
            <a:gdLst/>
            <a:ahLst/>
            <a:cxnLst/>
            <a:rect l="l" t="t" r="r" b="b"/>
            <a:pathLst>
              <a:path w="3828638" h="4509103">
                <a:moveTo>
                  <a:pt x="0" y="0"/>
                </a:moveTo>
                <a:lnTo>
                  <a:pt x="3828638" y="0"/>
                </a:lnTo>
                <a:lnTo>
                  <a:pt x="3828638" y="4509103"/>
                </a:lnTo>
                <a:lnTo>
                  <a:pt x="0" y="4509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21F54FB-730C-2F90-40F3-17A7A7268071}"/>
              </a:ext>
            </a:extLst>
          </p:cNvPr>
          <p:cNvSpPr/>
          <p:nvPr/>
        </p:nvSpPr>
        <p:spPr>
          <a:xfrm>
            <a:off x="2225464" y="239562"/>
            <a:ext cx="1239167" cy="1189600"/>
          </a:xfrm>
          <a:custGeom>
            <a:avLst/>
            <a:gdLst/>
            <a:ahLst/>
            <a:cxnLst/>
            <a:rect l="l" t="t" r="r" b="b"/>
            <a:pathLst>
              <a:path w="1239167" h="1189600">
                <a:moveTo>
                  <a:pt x="0" y="0"/>
                </a:moveTo>
                <a:lnTo>
                  <a:pt x="1239167" y="0"/>
                </a:lnTo>
                <a:lnTo>
                  <a:pt x="1239167" y="1189600"/>
                </a:lnTo>
                <a:lnTo>
                  <a:pt x="0" y="118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08D4D21-8E58-D792-AB65-49CA71135A7B}"/>
              </a:ext>
            </a:extLst>
          </p:cNvPr>
          <p:cNvSpPr txBox="1"/>
          <p:nvPr/>
        </p:nvSpPr>
        <p:spPr>
          <a:xfrm>
            <a:off x="3178043" y="1305337"/>
            <a:ext cx="8894674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ro-RO" sz="6332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Cuvinte Cheie</a:t>
            </a:r>
            <a:endParaRPr lang="en-US" sz="6332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4AACE0A-8495-B8D2-B07B-9EABD22EA064}"/>
              </a:ext>
            </a:extLst>
          </p:cNvPr>
          <p:cNvSpPr txBox="1"/>
          <p:nvPr/>
        </p:nvSpPr>
        <p:spPr>
          <a:xfrm>
            <a:off x="6239632" y="2822504"/>
            <a:ext cx="4081663" cy="636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Leagăn</a:t>
            </a:r>
            <a:b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Ciocolată</a:t>
            </a:r>
            <a:b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Minereu</a:t>
            </a:r>
          </a:p>
          <a:p>
            <a:pPr lvl="0" algn="ctr">
              <a:lnSpc>
                <a:spcPts val="8400"/>
              </a:lnSpc>
              <a:spcBef>
                <a:spcPct val="0"/>
              </a:spcBef>
            </a:pP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Albastru</a:t>
            </a:r>
            <a:b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Castane</a:t>
            </a:r>
            <a:b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Răbdare</a:t>
            </a:r>
            <a:endParaRPr lang="en-US" sz="6000" dirty="0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152200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65E33-5678-8EC2-D727-DBC677447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CFCFF8-9E2E-84E1-4028-9843488A30F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8679A78-6BDB-7A40-7F1E-D8B554F6FCE6}"/>
              </a:ext>
            </a:extLst>
          </p:cNvPr>
          <p:cNvGrpSpPr/>
          <p:nvPr/>
        </p:nvGrpSpPr>
        <p:grpSpPr>
          <a:xfrm rot="93123">
            <a:off x="2244226" y="1467293"/>
            <a:ext cx="13118097" cy="8000329"/>
            <a:chOff x="0" y="0"/>
            <a:chExt cx="4021842" cy="245279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D3F3066-8CEA-A478-F695-C1DAE2CA0B58}"/>
                </a:ext>
              </a:extLst>
            </p:cNvPr>
            <p:cNvSpPr/>
            <p:nvPr/>
          </p:nvSpPr>
          <p:spPr>
            <a:xfrm>
              <a:off x="0" y="0"/>
              <a:ext cx="4021842" cy="2452800"/>
            </a:xfrm>
            <a:custGeom>
              <a:avLst/>
              <a:gdLst/>
              <a:ahLst/>
              <a:cxnLst/>
              <a:rect l="l" t="t" r="r" b="b"/>
              <a:pathLst>
                <a:path w="4021842" h="2452800">
                  <a:moveTo>
                    <a:pt x="15344" y="0"/>
                  </a:moveTo>
                  <a:lnTo>
                    <a:pt x="4006497" y="0"/>
                  </a:lnTo>
                  <a:cubicBezTo>
                    <a:pt x="4010567" y="0"/>
                    <a:pt x="4014470" y="1617"/>
                    <a:pt x="4017347" y="4494"/>
                  </a:cubicBezTo>
                  <a:cubicBezTo>
                    <a:pt x="4020225" y="7372"/>
                    <a:pt x="4021842" y="11275"/>
                    <a:pt x="4021842" y="15344"/>
                  </a:cubicBezTo>
                  <a:lnTo>
                    <a:pt x="4021842" y="2437455"/>
                  </a:lnTo>
                  <a:cubicBezTo>
                    <a:pt x="4021842" y="2441525"/>
                    <a:pt x="4020225" y="2445428"/>
                    <a:pt x="4017347" y="2448305"/>
                  </a:cubicBezTo>
                  <a:cubicBezTo>
                    <a:pt x="4014470" y="2451183"/>
                    <a:pt x="4010567" y="2452800"/>
                    <a:pt x="4006497" y="2452800"/>
                  </a:cubicBezTo>
                  <a:lnTo>
                    <a:pt x="15344" y="2452800"/>
                  </a:lnTo>
                  <a:cubicBezTo>
                    <a:pt x="11275" y="2452800"/>
                    <a:pt x="7372" y="2451183"/>
                    <a:pt x="4494" y="2448305"/>
                  </a:cubicBezTo>
                  <a:cubicBezTo>
                    <a:pt x="1617" y="2445428"/>
                    <a:pt x="0" y="2441525"/>
                    <a:pt x="0" y="2437455"/>
                  </a:cubicBezTo>
                  <a:lnTo>
                    <a:pt x="0" y="15344"/>
                  </a:lnTo>
                  <a:cubicBezTo>
                    <a:pt x="0" y="11275"/>
                    <a:pt x="1617" y="7372"/>
                    <a:pt x="4494" y="4494"/>
                  </a:cubicBezTo>
                  <a:cubicBezTo>
                    <a:pt x="7372" y="1617"/>
                    <a:pt x="11275" y="0"/>
                    <a:pt x="1534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74BB7E0-C1BB-D02A-953F-DA6343B171B1}"/>
                </a:ext>
              </a:extLst>
            </p:cNvPr>
            <p:cNvSpPr txBox="1"/>
            <p:nvPr/>
          </p:nvSpPr>
          <p:spPr>
            <a:xfrm>
              <a:off x="0" y="-47625"/>
              <a:ext cx="4021842" cy="2500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7035042-C3B7-864A-3280-A5FA413DDBBB}"/>
              </a:ext>
            </a:extLst>
          </p:cNvPr>
          <p:cNvGrpSpPr/>
          <p:nvPr/>
        </p:nvGrpSpPr>
        <p:grpSpPr>
          <a:xfrm>
            <a:off x="2225464" y="1291107"/>
            <a:ext cx="12819264" cy="8334250"/>
            <a:chOff x="0" y="0"/>
            <a:chExt cx="3930223" cy="25551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8CC5E98-E321-1B3A-4C1D-BB748091135B}"/>
                </a:ext>
              </a:extLst>
            </p:cNvPr>
            <p:cNvSpPr/>
            <p:nvPr/>
          </p:nvSpPr>
          <p:spPr>
            <a:xfrm>
              <a:off x="0" y="0"/>
              <a:ext cx="3930224" cy="2555175"/>
            </a:xfrm>
            <a:custGeom>
              <a:avLst/>
              <a:gdLst/>
              <a:ahLst/>
              <a:cxnLst/>
              <a:rect l="l" t="t" r="r" b="b"/>
              <a:pathLst>
                <a:path w="3930224" h="2555175">
                  <a:moveTo>
                    <a:pt x="6643" y="0"/>
                  </a:moveTo>
                  <a:lnTo>
                    <a:pt x="3923580" y="0"/>
                  </a:lnTo>
                  <a:cubicBezTo>
                    <a:pt x="3927249" y="0"/>
                    <a:pt x="3930224" y="2974"/>
                    <a:pt x="3930224" y="6643"/>
                  </a:cubicBezTo>
                  <a:lnTo>
                    <a:pt x="3930224" y="2548532"/>
                  </a:lnTo>
                  <a:cubicBezTo>
                    <a:pt x="3930224" y="2552201"/>
                    <a:pt x="3927249" y="2555175"/>
                    <a:pt x="3923580" y="2555175"/>
                  </a:cubicBezTo>
                  <a:lnTo>
                    <a:pt x="6643" y="2555175"/>
                  </a:lnTo>
                  <a:cubicBezTo>
                    <a:pt x="2974" y="2555175"/>
                    <a:pt x="0" y="2552201"/>
                    <a:pt x="0" y="2548532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F5A9129-9D69-A7A8-3630-148649A1CC77}"/>
                </a:ext>
              </a:extLst>
            </p:cNvPr>
            <p:cNvSpPr txBox="1"/>
            <p:nvPr/>
          </p:nvSpPr>
          <p:spPr>
            <a:xfrm>
              <a:off x="0" y="-114300"/>
              <a:ext cx="3930223" cy="266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C47F28B3-293D-D5A5-021D-3F9AAB96D494}"/>
              </a:ext>
            </a:extLst>
          </p:cNvPr>
          <p:cNvSpPr/>
          <p:nvPr/>
        </p:nvSpPr>
        <p:spPr>
          <a:xfrm rot="-117286">
            <a:off x="12481505" y="1156774"/>
            <a:ext cx="3828638" cy="4509103"/>
          </a:xfrm>
          <a:custGeom>
            <a:avLst/>
            <a:gdLst/>
            <a:ahLst/>
            <a:cxnLst/>
            <a:rect l="l" t="t" r="r" b="b"/>
            <a:pathLst>
              <a:path w="3828638" h="4509103">
                <a:moveTo>
                  <a:pt x="0" y="0"/>
                </a:moveTo>
                <a:lnTo>
                  <a:pt x="3828638" y="0"/>
                </a:lnTo>
                <a:lnTo>
                  <a:pt x="3828638" y="4509103"/>
                </a:lnTo>
                <a:lnTo>
                  <a:pt x="0" y="4509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74F60C4-6E42-6D6C-F9D6-563DC8A1402E}"/>
              </a:ext>
            </a:extLst>
          </p:cNvPr>
          <p:cNvSpPr/>
          <p:nvPr/>
        </p:nvSpPr>
        <p:spPr>
          <a:xfrm>
            <a:off x="2225464" y="239562"/>
            <a:ext cx="1239167" cy="1189600"/>
          </a:xfrm>
          <a:custGeom>
            <a:avLst/>
            <a:gdLst/>
            <a:ahLst/>
            <a:cxnLst/>
            <a:rect l="l" t="t" r="r" b="b"/>
            <a:pathLst>
              <a:path w="1239167" h="1189600">
                <a:moveTo>
                  <a:pt x="0" y="0"/>
                </a:moveTo>
                <a:lnTo>
                  <a:pt x="1239167" y="0"/>
                </a:lnTo>
                <a:lnTo>
                  <a:pt x="1239167" y="1189600"/>
                </a:lnTo>
                <a:lnTo>
                  <a:pt x="0" y="118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ECB1A3A-9BB8-40DC-423E-649DBFED699A}"/>
              </a:ext>
            </a:extLst>
          </p:cNvPr>
          <p:cNvSpPr txBox="1"/>
          <p:nvPr/>
        </p:nvSpPr>
        <p:spPr>
          <a:xfrm>
            <a:off x="3178043" y="1305337"/>
            <a:ext cx="8894674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ro-RO" sz="6332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Cuvinte Cheie</a:t>
            </a:r>
            <a:endParaRPr lang="en-US" sz="6332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AFC9E7B-631B-667D-D058-B1508526D13C}"/>
              </a:ext>
            </a:extLst>
          </p:cNvPr>
          <p:cNvSpPr txBox="1"/>
          <p:nvPr/>
        </p:nvSpPr>
        <p:spPr>
          <a:xfrm>
            <a:off x="6421985" y="4991100"/>
            <a:ext cx="4081663" cy="2058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Aligator</a:t>
            </a:r>
            <a:b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Castravete</a:t>
            </a:r>
            <a:endParaRPr lang="en-US" sz="6000" dirty="0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353676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75A03-34F0-D644-03C9-E5F8B292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363B47-1405-D0F4-DADB-DDC674DDBCA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9073FFB-B127-F4E0-8254-6C59743E9BF4}"/>
              </a:ext>
            </a:extLst>
          </p:cNvPr>
          <p:cNvGrpSpPr/>
          <p:nvPr/>
        </p:nvGrpSpPr>
        <p:grpSpPr>
          <a:xfrm>
            <a:off x="1166505" y="607058"/>
            <a:ext cx="16088032" cy="9431807"/>
            <a:chOff x="0" y="0"/>
            <a:chExt cx="4491524" cy="226245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F964A55-A43C-E36C-55C4-2779343D5263}"/>
                </a:ext>
              </a:extLst>
            </p:cNvPr>
            <p:cNvSpPr/>
            <p:nvPr/>
          </p:nvSpPr>
          <p:spPr>
            <a:xfrm>
              <a:off x="0" y="0"/>
              <a:ext cx="4491524" cy="2262458"/>
            </a:xfrm>
            <a:custGeom>
              <a:avLst/>
              <a:gdLst/>
              <a:ahLst/>
              <a:cxnLst/>
              <a:rect l="l" t="t" r="r" b="b"/>
              <a:pathLst>
                <a:path w="4491524" h="2262458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703F7E7-8B14-8A60-4D9A-A683FD211D10}"/>
                </a:ext>
              </a:extLst>
            </p:cNvPr>
            <p:cNvSpPr txBox="1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90632A2-3C8D-AC35-E03F-FD8813231B93}"/>
              </a:ext>
            </a:extLst>
          </p:cNvPr>
          <p:cNvSpPr/>
          <p:nvPr/>
        </p:nvSpPr>
        <p:spPr>
          <a:xfrm>
            <a:off x="-949557" y="7889359"/>
            <a:ext cx="3584090" cy="3192451"/>
          </a:xfrm>
          <a:custGeom>
            <a:avLst/>
            <a:gdLst/>
            <a:ahLst/>
            <a:cxnLst/>
            <a:rect l="l" t="t" r="r" b="b"/>
            <a:pathLst>
              <a:path w="3584090" h="3192451">
                <a:moveTo>
                  <a:pt x="0" y="0"/>
                </a:moveTo>
                <a:lnTo>
                  <a:pt x="3584089" y="0"/>
                </a:lnTo>
                <a:lnTo>
                  <a:pt x="3584089" y="3192451"/>
                </a:lnTo>
                <a:lnTo>
                  <a:pt x="0" y="3192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C10B5FD-796C-4D43-A9B3-C64962346D34}"/>
              </a:ext>
            </a:extLst>
          </p:cNvPr>
          <p:cNvSpPr/>
          <p:nvPr/>
        </p:nvSpPr>
        <p:spPr>
          <a:xfrm rot="1437982">
            <a:off x="15679085" y="34456"/>
            <a:ext cx="3160431" cy="3028267"/>
          </a:xfrm>
          <a:custGeom>
            <a:avLst/>
            <a:gdLst/>
            <a:ahLst/>
            <a:cxnLst/>
            <a:rect l="l" t="t" r="r" b="b"/>
            <a:pathLst>
              <a:path w="3160431" h="3028267">
                <a:moveTo>
                  <a:pt x="0" y="0"/>
                </a:moveTo>
                <a:lnTo>
                  <a:pt x="3160430" y="0"/>
                </a:lnTo>
                <a:lnTo>
                  <a:pt x="3160430" y="3028267"/>
                </a:lnTo>
                <a:lnTo>
                  <a:pt x="0" y="302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CasetăText 23">
            <a:extLst>
              <a:ext uri="{FF2B5EF4-FFF2-40B4-BE49-F238E27FC236}">
                <a16:creationId xmlns:a16="http://schemas.microsoft.com/office/drawing/2014/main" id="{8D531724-B9B3-1E4B-6F1D-261E974016EB}"/>
              </a:ext>
            </a:extLst>
          </p:cNvPr>
          <p:cNvSpPr txBox="1"/>
          <p:nvPr/>
        </p:nvSpPr>
        <p:spPr>
          <a:xfrm>
            <a:off x="4876800" y="4435614"/>
            <a:ext cx="4114800" cy="7078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ro-RO" sz="4000" dirty="0">
                <a:latin typeface="Dosis" pitchFamily="2" charset="0"/>
              </a:rPr>
              <a:t>Memorie Senzorială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33" name="Săgeată: dreapta 32">
            <a:extLst>
              <a:ext uri="{FF2B5EF4-FFF2-40B4-BE49-F238E27FC236}">
                <a16:creationId xmlns:a16="http://schemas.microsoft.com/office/drawing/2014/main" id="{A0F02462-1704-8F4A-4648-C42AB43AE6F7}"/>
              </a:ext>
            </a:extLst>
          </p:cNvPr>
          <p:cNvSpPr/>
          <p:nvPr/>
        </p:nvSpPr>
        <p:spPr>
          <a:xfrm rot="20229878">
            <a:off x="9385965" y="3613805"/>
            <a:ext cx="145843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Săgeată: dreapta 33">
            <a:extLst>
              <a:ext uri="{FF2B5EF4-FFF2-40B4-BE49-F238E27FC236}">
                <a16:creationId xmlns:a16="http://schemas.microsoft.com/office/drawing/2014/main" id="{82394E5D-8F8D-7FBB-6A84-E8E8AF6E4C64}"/>
              </a:ext>
            </a:extLst>
          </p:cNvPr>
          <p:cNvSpPr/>
          <p:nvPr/>
        </p:nvSpPr>
        <p:spPr>
          <a:xfrm rot="756559">
            <a:off x="9500099" y="4970688"/>
            <a:ext cx="145843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9BB72C9D-D951-2CE5-C3AA-5247ABE5C0C1}"/>
              </a:ext>
            </a:extLst>
          </p:cNvPr>
          <p:cNvSpPr txBox="1"/>
          <p:nvPr/>
        </p:nvSpPr>
        <p:spPr>
          <a:xfrm>
            <a:off x="11395821" y="3482503"/>
            <a:ext cx="1621558" cy="7078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ro-RO" sz="4000" dirty="0">
                <a:latin typeface="Dosis" pitchFamily="2" charset="0"/>
              </a:rPr>
              <a:t>Iconic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DCB7F7A6-D065-C068-5516-25AE2F36B8ED}"/>
              </a:ext>
            </a:extLst>
          </p:cNvPr>
          <p:cNvSpPr txBox="1"/>
          <p:nvPr/>
        </p:nvSpPr>
        <p:spPr>
          <a:xfrm>
            <a:off x="11410109" y="5393203"/>
            <a:ext cx="1621558" cy="7078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ro-RO" sz="4000" dirty="0" err="1">
                <a:latin typeface="Dosis" pitchFamily="2" charset="0"/>
              </a:rPr>
              <a:t>Echoic</a:t>
            </a:r>
            <a:endParaRPr lang="en-GB" sz="4000" dirty="0">
              <a:latin typeface="Dosi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9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13D3C-F131-7717-422A-A5CB972B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25C0AD-7680-7859-C657-8CE9873A6B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F1B5D71-C769-D00F-2462-B9A5AC1EBDD2}"/>
              </a:ext>
            </a:extLst>
          </p:cNvPr>
          <p:cNvGrpSpPr/>
          <p:nvPr/>
        </p:nvGrpSpPr>
        <p:grpSpPr>
          <a:xfrm>
            <a:off x="1166505" y="607058"/>
            <a:ext cx="16088032" cy="9431807"/>
            <a:chOff x="0" y="0"/>
            <a:chExt cx="4491524" cy="226245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8510475-8561-247B-2170-84D22B89F286}"/>
                </a:ext>
              </a:extLst>
            </p:cNvPr>
            <p:cNvSpPr/>
            <p:nvPr/>
          </p:nvSpPr>
          <p:spPr>
            <a:xfrm>
              <a:off x="0" y="0"/>
              <a:ext cx="4491524" cy="2262458"/>
            </a:xfrm>
            <a:custGeom>
              <a:avLst/>
              <a:gdLst/>
              <a:ahLst/>
              <a:cxnLst/>
              <a:rect l="l" t="t" r="r" b="b"/>
              <a:pathLst>
                <a:path w="4491524" h="2262458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FB283C0-089B-A04C-9C33-D59B33DFC901}"/>
                </a:ext>
              </a:extLst>
            </p:cNvPr>
            <p:cNvSpPr txBox="1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569E30F-BB6D-5C49-2BE8-344326297E34}"/>
              </a:ext>
            </a:extLst>
          </p:cNvPr>
          <p:cNvSpPr/>
          <p:nvPr/>
        </p:nvSpPr>
        <p:spPr>
          <a:xfrm>
            <a:off x="-949557" y="7889359"/>
            <a:ext cx="3584090" cy="3192451"/>
          </a:xfrm>
          <a:custGeom>
            <a:avLst/>
            <a:gdLst/>
            <a:ahLst/>
            <a:cxnLst/>
            <a:rect l="l" t="t" r="r" b="b"/>
            <a:pathLst>
              <a:path w="3584090" h="3192451">
                <a:moveTo>
                  <a:pt x="0" y="0"/>
                </a:moveTo>
                <a:lnTo>
                  <a:pt x="3584089" y="0"/>
                </a:lnTo>
                <a:lnTo>
                  <a:pt x="3584089" y="3192451"/>
                </a:lnTo>
                <a:lnTo>
                  <a:pt x="0" y="3192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DD30E28-4E93-3C04-0401-2EED0BEBB478}"/>
              </a:ext>
            </a:extLst>
          </p:cNvPr>
          <p:cNvSpPr/>
          <p:nvPr/>
        </p:nvSpPr>
        <p:spPr>
          <a:xfrm rot="1437982">
            <a:off x="15679085" y="34456"/>
            <a:ext cx="3160431" cy="3028267"/>
          </a:xfrm>
          <a:custGeom>
            <a:avLst/>
            <a:gdLst/>
            <a:ahLst/>
            <a:cxnLst/>
            <a:rect l="l" t="t" r="r" b="b"/>
            <a:pathLst>
              <a:path w="3160431" h="3028267">
                <a:moveTo>
                  <a:pt x="0" y="0"/>
                </a:moveTo>
                <a:lnTo>
                  <a:pt x="3160430" y="0"/>
                </a:lnTo>
                <a:lnTo>
                  <a:pt x="3160430" y="3028267"/>
                </a:lnTo>
                <a:lnTo>
                  <a:pt x="0" y="302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CasetăText 24">
            <a:extLst>
              <a:ext uri="{FF2B5EF4-FFF2-40B4-BE49-F238E27FC236}">
                <a16:creationId xmlns:a16="http://schemas.microsoft.com/office/drawing/2014/main" id="{EE4F7E22-51AE-D915-E848-BAC33247EF79}"/>
              </a:ext>
            </a:extLst>
          </p:cNvPr>
          <p:cNvSpPr txBox="1"/>
          <p:nvPr/>
        </p:nvSpPr>
        <p:spPr>
          <a:xfrm>
            <a:off x="2209800" y="3110886"/>
            <a:ext cx="3156667" cy="13234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Memorie de lucru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27" name="CasetăText 26">
            <a:extLst>
              <a:ext uri="{FF2B5EF4-FFF2-40B4-BE49-F238E27FC236}">
                <a16:creationId xmlns:a16="http://schemas.microsoft.com/office/drawing/2014/main" id="{0923C908-78DD-6421-7F7A-AED9E8B6221B}"/>
              </a:ext>
            </a:extLst>
          </p:cNvPr>
          <p:cNvSpPr txBox="1"/>
          <p:nvPr/>
        </p:nvSpPr>
        <p:spPr>
          <a:xfrm>
            <a:off x="7034655" y="3349552"/>
            <a:ext cx="3438346" cy="707886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Centrul Executiv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28" name="CasetăText 27">
            <a:extLst>
              <a:ext uri="{FF2B5EF4-FFF2-40B4-BE49-F238E27FC236}">
                <a16:creationId xmlns:a16="http://schemas.microsoft.com/office/drawing/2014/main" id="{49FE9E3D-AE24-60E3-19D6-59110D83A565}"/>
              </a:ext>
            </a:extLst>
          </p:cNvPr>
          <p:cNvSpPr txBox="1"/>
          <p:nvPr/>
        </p:nvSpPr>
        <p:spPr>
          <a:xfrm>
            <a:off x="12514946" y="4434325"/>
            <a:ext cx="3438346" cy="13234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 err="1">
                <a:latin typeface="Dosis" pitchFamily="2" charset="0"/>
              </a:rPr>
              <a:t>Visuospațial</a:t>
            </a:r>
            <a:r>
              <a:rPr lang="ro-RO" sz="4000" dirty="0">
                <a:latin typeface="Dosis" pitchFamily="2" charset="0"/>
              </a:rPr>
              <a:t> </a:t>
            </a:r>
            <a:r>
              <a:rPr lang="ro-RO" sz="4000" dirty="0" err="1">
                <a:latin typeface="Dosis" pitchFamily="2" charset="0"/>
              </a:rPr>
              <a:t>Sketchpad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11" name="Săgeată: dreapta 10">
            <a:extLst>
              <a:ext uri="{FF2B5EF4-FFF2-40B4-BE49-F238E27FC236}">
                <a16:creationId xmlns:a16="http://schemas.microsoft.com/office/drawing/2014/main" id="{497245ED-6833-8B44-00B3-42AA2134C8B0}"/>
              </a:ext>
            </a:extLst>
          </p:cNvPr>
          <p:cNvSpPr/>
          <p:nvPr/>
        </p:nvSpPr>
        <p:spPr>
          <a:xfrm>
            <a:off x="5499509" y="3308519"/>
            <a:ext cx="140210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FBD19ABC-70AB-4960-108D-F3A8A492592A}"/>
              </a:ext>
            </a:extLst>
          </p:cNvPr>
          <p:cNvSpPr txBox="1"/>
          <p:nvPr/>
        </p:nvSpPr>
        <p:spPr>
          <a:xfrm>
            <a:off x="12386097" y="2253434"/>
            <a:ext cx="3438346" cy="707886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Buclă Fonologică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13" name="Săgeată: dreapta 12">
            <a:extLst>
              <a:ext uri="{FF2B5EF4-FFF2-40B4-BE49-F238E27FC236}">
                <a16:creationId xmlns:a16="http://schemas.microsoft.com/office/drawing/2014/main" id="{6EC4BC4E-BDDD-D797-4A2A-873B53A3F05D}"/>
              </a:ext>
            </a:extLst>
          </p:cNvPr>
          <p:cNvSpPr/>
          <p:nvPr/>
        </p:nvSpPr>
        <p:spPr>
          <a:xfrm rot="20394769">
            <a:off x="10762399" y="2726051"/>
            <a:ext cx="140210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Săgeată: dreapta 14">
            <a:extLst>
              <a:ext uri="{FF2B5EF4-FFF2-40B4-BE49-F238E27FC236}">
                <a16:creationId xmlns:a16="http://schemas.microsoft.com/office/drawing/2014/main" id="{E9DBE943-00A1-4B20-974F-CDDAA33379B9}"/>
              </a:ext>
            </a:extLst>
          </p:cNvPr>
          <p:cNvSpPr/>
          <p:nvPr/>
        </p:nvSpPr>
        <p:spPr>
          <a:xfrm rot="2210633">
            <a:off x="10570707" y="4002577"/>
            <a:ext cx="1667893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ăgeată: dreapta 15">
            <a:extLst>
              <a:ext uri="{FF2B5EF4-FFF2-40B4-BE49-F238E27FC236}">
                <a16:creationId xmlns:a16="http://schemas.microsoft.com/office/drawing/2014/main" id="{BE70FD0C-E5B8-3C42-2CF7-563A7521C0E5}"/>
              </a:ext>
            </a:extLst>
          </p:cNvPr>
          <p:cNvSpPr/>
          <p:nvPr/>
        </p:nvSpPr>
        <p:spPr>
          <a:xfrm rot="5400000">
            <a:off x="8704087" y="6345748"/>
            <a:ext cx="1667893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asetăText 16">
            <a:extLst>
              <a:ext uri="{FF2B5EF4-FFF2-40B4-BE49-F238E27FC236}">
                <a16:creationId xmlns:a16="http://schemas.microsoft.com/office/drawing/2014/main" id="{50311B77-41D3-2670-2298-09ED727C41E5}"/>
              </a:ext>
            </a:extLst>
          </p:cNvPr>
          <p:cNvSpPr txBox="1"/>
          <p:nvPr/>
        </p:nvSpPr>
        <p:spPr>
          <a:xfrm>
            <a:off x="7818860" y="8306464"/>
            <a:ext cx="3438346" cy="707886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Buffer Episodic</a:t>
            </a:r>
            <a:endParaRPr lang="en-GB" sz="4000" dirty="0">
              <a:latin typeface="Dosi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33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8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9CCAC-6081-4480-9DE9-E7B7EEF1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45093E-8E81-2267-7F47-64665378EEE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C87D926-8DD9-A76A-ED27-72980E8A4BF0}"/>
              </a:ext>
            </a:extLst>
          </p:cNvPr>
          <p:cNvGrpSpPr/>
          <p:nvPr/>
        </p:nvGrpSpPr>
        <p:grpSpPr>
          <a:xfrm>
            <a:off x="1166505" y="607058"/>
            <a:ext cx="16088032" cy="9431807"/>
            <a:chOff x="0" y="0"/>
            <a:chExt cx="4491524" cy="226245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880C6FD-4DEC-C2A1-D8C8-1C5E582E5FE9}"/>
                </a:ext>
              </a:extLst>
            </p:cNvPr>
            <p:cNvSpPr/>
            <p:nvPr/>
          </p:nvSpPr>
          <p:spPr>
            <a:xfrm>
              <a:off x="0" y="0"/>
              <a:ext cx="4491524" cy="2262458"/>
            </a:xfrm>
            <a:custGeom>
              <a:avLst/>
              <a:gdLst/>
              <a:ahLst/>
              <a:cxnLst/>
              <a:rect l="l" t="t" r="r" b="b"/>
              <a:pathLst>
                <a:path w="4491524" h="2262458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4158C1F-4B98-2924-8DBD-58B601468321}"/>
                </a:ext>
              </a:extLst>
            </p:cNvPr>
            <p:cNvSpPr txBox="1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EF6EC9C9-DECF-8491-DE71-33C7A8ED5F13}"/>
              </a:ext>
            </a:extLst>
          </p:cNvPr>
          <p:cNvSpPr/>
          <p:nvPr/>
        </p:nvSpPr>
        <p:spPr>
          <a:xfrm>
            <a:off x="-949557" y="7889359"/>
            <a:ext cx="3584090" cy="3192451"/>
          </a:xfrm>
          <a:custGeom>
            <a:avLst/>
            <a:gdLst/>
            <a:ahLst/>
            <a:cxnLst/>
            <a:rect l="l" t="t" r="r" b="b"/>
            <a:pathLst>
              <a:path w="3584090" h="3192451">
                <a:moveTo>
                  <a:pt x="0" y="0"/>
                </a:moveTo>
                <a:lnTo>
                  <a:pt x="3584089" y="0"/>
                </a:lnTo>
                <a:lnTo>
                  <a:pt x="3584089" y="3192451"/>
                </a:lnTo>
                <a:lnTo>
                  <a:pt x="0" y="3192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70C40D5-0430-680E-628C-7C7E436E0932}"/>
              </a:ext>
            </a:extLst>
          </p:cNvPr>
          <p:cNvSpPr/>
          <p:nvPr/>
        </p:nvSpPr>
        <p:spPr>
          <a:xfrm rot="1437982">
            <a:off x="15679085" y="34456"/>
            <a:ext cx="3160431" cy="3028267"/>
          </a:xfrm>
          <a:custGeom>
            <a:avLst/>
            <a:gdLst/>
            <a:ahLst/>
            <a:cxnLst/>
            <a:rect l="l" t="t" r="r" b="b"/>
            <a:pathLst>
              <a:path w="3160431" h="3028267">
                <a:moveTo>
                  <a:pt x="0" y="0"/>
                </a:moveTo>
                <a:lnTo>
                  <a:pt x="3160430" y="0"/>
                </a:lnTo>
                <a:lnTo>
                  <a:pt x="3160430" y="3028267"/>
                </a:lnTo>
                <a:lnTo>
                  <a:pt x="0" y="302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CasetăText 25">
            <a:extLst>
              <a:ext uri="{FF2B5EF4-FFF2-40B4-BE49-F238E27FC236}">
                <a16:creationId xmlns:a16="http://schemas.microsoft.com/office/drawing/2014/main" id="{8B70C010-5DE0-0986-0754-3FA940D85286}"/>
              </a:ext>
            </a:extLst>
          </p:cNvPr>
          <p:cNvSpPr txBox="1"/>
          <p:nvPr/>
        </p:nvSpPr>
        <p:spPr>
          <a:xfrm>
            <a:off x="3801038" y="2171700"/>
            <a:ext cx="3156667" cy="132343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Memorie de lungă durată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29" name="CasetăText 28">
            <a:extLst>
              <a:ext uri="{FF2B5EF4-FFF2-40B4-BE49-F238E27FC236}">
                <a16:creationId xmlns:a16="http://schemas.microsoft.com/office/drawing/2014/main" id="{26944E4A-2629-10C4-22BE-D96958F2606A}"/>
              </a:ext>
            </a:extLst>
          </p:cNvPr>
          <p:cNvSpPr txBox="1"/>
          <p:nvPr/>
        </p:nvSpPr>
        <p:spPr>
          <a:xfrm>
            <a:off x="9015271" y="2387021"/>
            <a:ext cx="3156667" cy="7078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Explicit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30" name="CasetăText 29">
            <a:extLst>
              <a:ext uri="{FF2B5EF4-FFF2-40B4-BE49-F238E27FC236}">
                <a16:creationId xmlns:a16="http://schemas.microsoft.com/office/drawing/2014/main" id="{D2D0335A-D7CB-D896-8CC5-A0D7A567DE40}"/>
              </a:ext>
            </a:extLst>
          </p:cNvPr>
          <p:cNvSpPr txBox="1"/>
          <p:nvPr/>
        </p:nvSpPr>
        <p:spPr>
          <a:xfrm>
            <a:off x="9215719" y="6285119"/>
            <a:ext cx="3156667" cy="7078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Implicit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14" name="Săgeată: dreapta 13">
            <a:extLst>
              <a:ext uri="{FF2B5EF4-FFF2-40B4-BE49-F238E27FC236}">
                <a16:creationId xmlns:a16="http://schemas.microsoft.com/office/drawing/2014/main" id="{D16ACE40-719E-1C5C-9776-82A87A9A5EDB}"/>
              </a:ext>
            </a:extLst>
          </p:cNvPr>
          <p:cNvSpPr/>
          <p:nvPr/>
        </p:nvSpPr>
        <p:spPr>
          <a:xfrm>
            <a:off x="7311780" y="2318839"/>
            <a:ext cx="140210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asetăText 15">
            <a:extLst>
              <a:ext uri="{FF2B5EF4-FFF2-40B4-BE49-F238E27FC236}">
                <a16:creationId xmlns:a16="http://schemas.microsoft.com/office/drawing/2014/main" id="{9DA80103-08A2-77F2-AE14-13A0E9CF0C57}"/>
              </a:ext>
            </a:extLst>
          </p:cNvPr>
          <p:cNvSpPr txBox="1"/>
          <p:nvPr/>
        </p:nvSpPr>
        <p:spPr>
          <a:xfrm>
            <a:off x="6904660" y="4165140"/>
            <a:ext cx="3156667" cy="7078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Semantic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17" name="CasetăText 16">
            <a:extLst>
              <a:ext uri="{FF2B5EF4-FFF2-40B4-BE49-F238E27FC236}">
                <a16:creationId xmlns:a16="http://schemas.microsoft.com/office/drawing/2014/main" id="{C1DB20D2-87FA-E199-EAA2-17B0D63A348E}"/>
              </a:ext>
            </a:extLst>
          </p:cNvPr>
          <p:cNvSpPr txBox="1"/>
          <p:nvPr/>
        </p:nvSpPr>
        <p:spPr>
          <a:xfrm>
            <a:off x="11227832" y="4165140"/>
            <a:ext cx="3156667" cy="7078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Episodic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18" name="CasetăText 17">
            <a:extLst>
              <a:ext uri="{FF2B5EF4-FFF2-40B4-BE49-F238E27FC236}">
                <a16:creationId xmlns:a16="http://schemas.microsoft.com/office/drawing/2014/main" id="{337F57F3-6E39-8EC9-785E-633F6F7C6B53}"/>
              </a:ext>
            </a:extLst>
          </p:cNvPr>
          <p:cNvSpPr txBox="1"/>
          <p:nvPr/>
        </p:nvSpPr>
        <p:spPr>
          <a:xfrm>
            <a:off x="7135550" y="7874608"/>
            <a:ext cx="3156667" cy="7078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Procedural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19" name="CasetăText 18">
            <a:extLst>
              <a:ext uri="{FF2B5EF4-FFF2-40B4-BE49-F238E27FC236}">
                <a16:creationId xmlns:a16="http://schemas.microsoft.com/office/drawing/2014/main" id="{D317EF0F-90D7-F191-59A0-87C5F9ECC045}"/>
              </a:ext>
            </a:extLst>
          </p:cNvPr>
          <p:cNvSpPr txBox="1"/>
          <p:nvPr/>
        </p:nvSpPr>
        <p:spPr>
          <a:xfrm>
            <a:off x="11458722" y="7869629"/>
            <a:ext cx="3156667" cy="7078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 err="1">
                <a:latin typeface="Dosis" pitchFamily="2" charset="0"/>
              </a:rPr>
              <a:t>Priming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35" name="CasetăText 34">
            <a:extLst>
              <a:ext uri="{FF2B5EF4-FFF2-40B4-BE49-F238E27FC236}">
                <a16:creationId xmlns:a16="http://schemas.microsoft.com/office/drawing/2014/main" id="{B5FA1D45-ADBF-E034-D22E-8338314DB5CC}"/>
              </a:ext>
            </a:extLst>
          </p:cNvPr>
          <p:cNvSpPr txBox="1"/>
          <p:nvPr/>
        </p:nvSpPr>
        <p:spPr>
          <a:xfrm>
            <a:off x="3801038" y="6069640"/>
            <a:ext cx="3156667" cy="132343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Memorie de lungă durată</a:t>
            </a:r>
            <a:endParaRPr lang="en-GB" sz="4000" dirty="0">
              <a:latin typeface="Dosis" pitchFamily="2" charset="0"/>
            </a:endParaRPr>
          </a:p>
        </p:txBody>
      </p:sp>
      <p:sp>
        <p:nvSpPr>
          <p:cNvPr id="36" name="Săgeată: dreapta 35">
            <a:extLst>
              <a:ext uri="{FF2B5EF4-FFF2-40B4-BE49-F238E27FC236}">
                <a16:creationId xmlns:a16="http://schemas.microsoft.com/office/drawing/2014/main" id="{5A64203B-2BCE-0329-1714-C195567361A9}"/>
              </a:ext>
            </a:extLst>
          </p:cNvPr>
          <p:cNvSpPr/>
          <p:nvPr/>
        </p:nvSpPr>
        <p:spPr>
          <a:xfrm>
            <a:off x="7311780" y="6216779"/>
            <a:ext cx="140210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Săgeată: dreapta 38">
            <a:extLst>
              <a:ext uri="{FF2B5EF4-FFF2-40B4-BE49-F238E27FC236}">
                <a16:creationId xmlns:a16="http://schemas.microsoft.com/office/drawing/2014/main" id="{0E03A607-9A47-6906-BB6A-A9CB3FD7DFA3}"/>
              </a:ext>
            </a:extLst>
          </p:cNvPr>
          <p:cNvSpPr/>
          <p:nvPr/>
        </p:nvSpPr>
        <p:spPr>
          <a:xfrm rot="7684863">
            <a:off x="9069392" y="3347499"/>
            <a:ext cx="975971" cy="61267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Săgeată: dreapta 39">
            <a:extLst>
              <a:ext uri="{FF2B5EF4-FFF2-40B4-BE49-F238E27FC236}">
                <a16:creationId xmlns:a16="http://schemas.microsoft.com/office/drawing/2014/main" id="{C51AADB4-A4CB-6B64-FCA8-CD2C6C802A71}"/>
              </a:ext>
            </a:extLst>
          </p:cNvPr>
          <p:cNvSpPr/>
          <p:nvPr/>
        </p:nvSpPr>
        <p:spPr>
          <a:xfrm rot="3469405">
            <a:off x="10936145" y="3344383"/>
            <a:ext cx="975971" cy="61267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Săgeată: dreapta 40">
            <a:extLst>
              <a:ext uri="{FF2B5EF4-FFF2-40B4-BE49-F238E27FC236}">
                <a16:creationId xmlns:a16="http://schemas.microsoft.com/office/drawing/2014/main" id="{E736738D-19DD-806E-72A7-E0F479F94B49}"/>
              </a:ext>
            </a:extLst>
          </p:cNvPr>
          <p:cNvSpPr/>
          <p:nvPr/>
        </p:nvSpPr>
        <p:spPr>
          <a:xfrm rot="7684863">
            <a:off x="9452039" y="7225553"/>
            <a:ext cx="883920" cy="51888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Săgeată: dreapta 41">
            <a:extLst>
              <a:ext uri="{FF2B5EF4-FFF2-40B4-BE49-F238E27FC236}">
                <a16:creationId xmlns:a16="http://schemas.microsoft.com/office/drawing/2014/main" id="{821175FC-55A8-C43D-2FD4-C91ADE88E15E}"/>
              </a:ext>
            </a:extLst>
          </p:cNvPr>
          <p:cNvSpPr/>
          <p:nvPr/>
        </p:nvSpPr>
        <p:spPr>
          <a:xfrm rot="3469405">
            <a:off x="11378722" y="7173621"/>
            <a:ext cx="826573" cy="61267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73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  <p:bldP spid="30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35" grpId="0" animBg="1"/>
      <p:bldP spid="36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EDDEF-835C-D36D-DBDF-13F30C7D9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309425-B3EF-52A0-E867-B3111F65414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84E65F2-8E2A-B7C1-BE60-26E87BC6B9C4}"/>
              </a:ext>
            </a:extLst>
          </p:cNvPr>
          <p:cNvGrpSpPr/>
          <p:nvPr/>
        </p:nvGrpSpPr>
        <p:grpSpPr>
          <a:xfrm rot="93123">
            <a:off x="2244226" y="1467293"/>
            <a:ext cx="13118097" cy="8000329"/>
            <a:chOff x="0" y="0"/>
            <a:chExt cx="4021842" cy="245279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98B273F-4B9F-CF70-1ECC-7CB05F8452A8}"/>
                </a:ext>
              </a:extLst>
            </p:cNvPr>
            <p:cNvSpPr/>
            <p:nvPr/>
          </p:nvSpPr>
          <p:spPr>
            <a:xfrm>
              <a:off x="0" y="0"/>
              <a:ext cx="4021842" cy="2452800"/>
            </a:xfrm>
            <a:custGeom>
              <a:avLst/>
              <a:gdLst/>
              <a:ahLst/>
              <a:cxnLst/>
              <a:rect l="l" t="t" r="r" b="b"/>
              <a:pathLst>
                <a:path w="4021842" h="2452800">
                  <a:moveTo>
                    <a:pt x="15344" y="0"/>
                  </a:moveTo>
                  <a:lnTo>
                    <a:pt x="4006497" y="0"/>
                  </a:lnTo>
                  <a:cubicBezTo>
                    <a:pt x="4010567" y="0"/>
                    <a:pt x="4014470" y="1617"/>
                    <a:pt x="4017347" y="4494"/>
                  </a:cubicBezTo>
                  <a:cubicBezTo>
                    <a:pt x="4020225" y="7372"/>
                    <a:pt x="4021842" y="11275"/>
                    <a:pt x="4021842" y="15344"/>
                  </a:cubicBezTo>
                  <a:lnTo>
                    <a:pt x="4021842" y="2437455"/>
                  </a:lnTo>
                  <a:cubicBezTo>
                    <a:pt x="4021842" y="2441525"/>
                    <a:pt x="4020225" y="2445428"/>
                    <a:pt x="4017347" y="2448305"/>
                  </a:cubicBezTo>
                  <a:cubicBezTo>
                    <a:pt x="4014470" y="2451183"/>
                    <a:pt x="4010567" y="2452800"/>
                    <a:pt x="4006497" y="2452800"/>
                  </a:cubicBezTo>
                  <a:lnTo>
                    <a:pt x="15344" y="2452800"/>
                  </a:lnTo>
                  <a:cubicBezTo>
                    <a:pt x="11275" y="2452800"/>
                    <a:pt x="7372" y="2451183"/>
                    <a:pt x="4494" y="2448305"/>
                  </a:cubicBezTo>
                  <a:cubicBezTo>
                    <a:pt x="1617" y="2445428"/>
                    <a:pt x="0" y="2441525"/>
                    <a:pt x="0" y="2437455"/>
                  </a:cubicBezTo>
                  <a:lnTo>
                    <a:pt x="0" y="15344"/>
                  </a:lnTo>
                  <a:cubicBezTo>
                    <a:pt x="0" y="11275"/>
                    <a:pt x="1617" y="7372"/>
                    <a:pt x="4494" y="4494"/>
                  </a:cubicBezTo>
                  <a:cubicBezTo>
                    <a:pt x="7372" y="1617"/>
                    <a:pt x="11275" y="0"/>
                    <a:pt x="1534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D5CA0B1-0955-D839-FDC8-AB6401D6387C}"/>
                </a:ext>
              </a:extLst>
            </p:cNvPr>
            <p:cNvSpPr txBox="1"/>
            <p:nvPr/>
          </p:nvSpPr>
          <p:spPr>
            <a:xfrm>
              <a:off x="0" y="-47625"/>
              <a:ext cx="4021842" cy="2500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B083CBF-6BDB-5362-CB22-02CE58307AC7}"/>
              </a:ext>
            </a:extLst>
          </p:cNvPr>
          <p:cNvGrpSpPr/>
          <p:nvPr/>
        </p:nvGrpSpPr>
        <p:grpSpPr>
          <a:xfrm>
            <a:off x="2225464" y="1291107"/>
            <a:ext cx="12819264" cy="8334250"/>
            <a:chOff x="0" y="0"/>
            <a:chExt cx="3930223" cy="25551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51F37F2-359D-AFAA-1B25-0F089C1915A6}"/>
                </a:ext>
              </a:extLst>
            </p:cNvPr>
            <p:cNvSpPr/>
            <p:nvPr/>
          </p:nvSpPr>
          <p:spPr>
            <a:xfrm>
              <a:off x="0" y="0"/>
              <a:ext cx="3930224" cy="2555175"/>
            </a:xfrm>
            <a:custGeom>
              <a:avLst/>
              <a:gdLst/>
              <a:ahLst/>
              <a:cxnLst/>
              <a:rect l="l" t="t" r="r" b="b"/>
              <a:pathLst>
                <a:path w="3930224" h="2555175">
                  <a:moveTo>
                    <a:pt x="6643" y="0"/>
                  </a:moveTo>
                  <a:lnTo>
                    <a:pt x="3923580" y="0"/>
                  </a:lnTo>
                  <a:cubicBezTo>
                    <a:pt x="3927249" y="0"/>
                    <a:pt x="3930224" y="2974"/>
                    <a:pt x="3930224" y="6643"/>
                  </a:cubicBezTo>
                  <a:lnTo>
                    <a:pt x="3930224" y="2548532"/>
                  </a:lnTo>
                  <a:cubicBezTo>
                    <a:pt x="3930224" y="2552201"/>
                    <a:pt x="3927249" y="2555175"/>
                    <a:pt x="3923580" y="2555175"/>
                  </a:cubicBezTo>
                  <a:lnTo>
                    <a:pt x="6643" y="2555175"/>
                  </a:lnTo>
                  <a:cubicBezTo>
                    <a:pt x="2974" y="2555175"/>
                    <a:pt x="0" y="2552201"/>
                    <a:pt x="0" y="2548532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5DCB07A-1700-966A-97BB-C9E623F160AC}"/>
                </a:ext>
              </a:extLst>
            </p:cNvPr>
            <p:cNvSpPr txBox="1"/>
            <p:nvPr/>
          </p:nvSpPr>
          <p:spPr>
            <a:xfrm>
              <a:off x="0" y="-114300"/>
              <a:ext cx="3930223" cy="266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A51C072-51BA-C59C-A49D-DDF213A7C144}"/>
              </a:ext>
            </a:extLst>
          </p:cNvPr>
          <p:cNvSpPr/>
          <p:nvPr/>
        </p:nvSpPr>
        <p:spPr>
          <a:xfrm rot="-117286">
            <a:off x="12481505" y="1156774"/>
            <a:ext cx="3828638" cy="4509103"/>
          </a:xfrm>
          <a:custGeom>
            <a:avLst/>
            <a:gdLst/>
            <a:ahLst/>
            <a:cxnLst/>
            <a:rect l="l" t="t" r="r" b="b"/>
            <a:pathLst>
              <a:path w="3828638" h="4509103">
                <a:moveTo>
                  <a:pt x="0" y="0"/>
                </a:moveTo>
                <a:lnTo>
                  <a:pt x="3828638" y="0"/>
                </a:lnTo>
                <a:lnTo>
                  <a:pt x="3828638" y="4509103"/>
                </a:lnTo>
                <a:lnTo>
                  <a:pt x="0" y="4509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E192137-19ED-A8A2-99EA-F1FEDCF9C1FE}"/>
              </a:ext>
            </a:extLst>
          </p:cNvPr>
          <p:cNvSpPr/>
          <p:nvPr/>
        </p:nvSpPr>
        <p:spPr>
          <a:xfrm>
            <a:off x="2225464" y="239562"/>
            <a:ext cx="1239167" cy="1189600"/>
          </a:xfrm>
          <a:custGeom>
            <a:avLst/>
            <a:gdLst/>
            <a:ahLst/>
            <a:cxnLst/>
            <a:rect l="l" t="t" r="r" b="b"/>
            <a:pathLst>
              <a:path w="1239167" h="1189600">
                <a:moveTo>
                  <a:pt x="0" y="0"/>
                </a:moveTo>
                <a:lnTo>
                  <a:pt x="1239167" y="0"/>
                </a:lnTo>
                <a:lnTo>
                  <a:pt x="1239167" y="1189600"/>
                </a:lnTo>
                <a:lnTo>
                  <a:pt x="0" y="118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20B4287-FDBD-B99B-0912-E044895FFB5F}"/>
              </a:ext>
            </a:extLst>
          </p:cNvPr>
          <p:cNvSpPr txBox="1"/>
          <p:nvPr/>
        </p:nvSpPr>
        <p:spPr>
          <a:xfrm>
            <a:off x="3178043" y="1305337"/>
            <a:ext cx="8894674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ro-RO" sz="6332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Cuvinte Cheie</a:t>
            </a:r>
            <a:endParaRPr lang="en-US" sz="6332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D296136-9903-EE7C-72F7-617CF4B142A5}"/>
              </a:ext>
            </a:extLst>
          </p:cNvPr>
          <p:cNvSpPr txBox="1"/>
          <p:nvPr/>
        </p:nvSpPr>
        <p:spPr>
          <a:xfrm>
            <a:off x="6421985" y="4991100"/>
            <a:ext cx="4081663" cy="2058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Aligator</a:t>
            </a:r>
            <a:b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6000" dirty="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Castravete</a:t>
            </a:r>
            <a:endParaRPr lang="en-US" sz="6000" dirty="0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384507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F6340-F457-B3AE-3A01-5BA92AC2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D9F59C-22B1-0C64-C3FE-A64CD0E0B51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A7FAA7A-75A9-C5CD-6E1E-CD0E1C1868C5}"/>
              </a:ext>
            </a:extLst>
          </p:cNvPr>
          <p:cNvGrpSpPr/>
          <p:nvPr/>
        </p:nvGrpSpPr>
        <p:grpSpPr>
          <a:xfrm>
            <a:off x="2804885" y="-667606"/>
            <a:ext cx="12340996" cy="12247451"/>
            <a:chOff x="0" y="0"/>
            <a:chExt cx="3250304" cy="322566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C9209EB-0E70-CB31-1A6F-6B450C8E8A39}"/>
                </a:ext>
              </a:extLst>
            </p:cNvPr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BF1C22D-77EA-61B4-2782-8050820695EC}"/>
                </a:ext>
              </a:extLst>
            </p:cNvPr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1397478-EB1E-5D4C-9B91-0998923175C8}"/>
              </a:ext>
            </a:extLst>
          </p:cNvPr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3ABFE3E-EF04-E935-DAEC-A7731F3C1939}"/>
              </a:ext>
            </a:extLst>
          </p:cNvPr>
          <p:cNvSpPr txBox="1"/>
          <p:nvPr/>
        </p:nvSpPr>
        <p:spPr>
          <a:xfrm>
            <a:off x="4084052" y="143384"/>
            <a:ext cx="10089148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ro-RO" sz="6974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Teoria constructivistă</a:t>
            </a:r>
            <a:endParaRPr lang="en-US" sz="6974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5A2076D-9B0E-087F-C16E-641BE5209955}"/>
              </a:ext>
            </a:extLst>
          </p:cNvPr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D8103B7-3BD0-6A0D-B09E-A93D9810EEC7}"/>
              </a:ext>
            </a:extLst>
          </p:cNvPr>
          <p:cNvSpPr txBox="1"/>
          <p:nvPr/>
        </p:nvSpPr>
        <p:spPr>
          <a:xfrm>
            <a:off x="3738320" y="1703270"/>
            <a:ext cx="10895848" cy="2107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ro-RO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Cum acumulăm informații?</a:t>
            </a:r>
          </a:p>
          <a:p>
            <a:pPr marL="457200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ro-RO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rol au profesorii?</a:t>
            </a:r>
          </a:p>
          <a:p>
            <a:pPr marL="457200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ro-RO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facem ca și profesori?</a:t>
            </a:r>
          </a:p>
          <a:p>
            <a:pPr marL="457200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ro-RO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Învățare a cum să înveți</a:t>
            </a: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AA939CF6-9F0E-B657-9DB1-90263F9D6B07}"/>
              </a:ext>
            </a:extLst>
          </p:cNvPr>
          <p:cNvSpPr txBox="1"/>
          <p:nvPr/>
        </p:nvSpPr>
        <p:spPr>
          <a:xfrm>
            <a:off x="3886200" y="6757235"/>
            <a:ext cx="9753599" cy="65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</a:pPr>
            <a:r>
              <a:rPr lang="ro-RO" sz="54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Teoria socioculturală a lui </a:t>
            </a:r>
            <a:r>
              <a:rPr lang="ro-RO" sz="54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Vygotsky</a:t>
            </a:r>
            <a:endParaRPr lang="ro-RO" sz="54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29474907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FB20-D04A-7442-1B0D-99DB4DB09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C8BAEE-373A-424C-C1D6-C64222DCD56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B59C451-B051-ABFC-9AFE-214A85DB67D2}"/>
              </a:ext>
            </a:extLst>
          </p:cNvPr>
          <p:cNvGrpSpPr/>
          <p:nvPr/>
        </p:nvGrpSpPr>
        <p:grpSpPr>
          <a:xfrm>
            <a:off x="990600" y="114300"/>
            <a:ext cx="16088032" cy="9630347"/>
            <a:chOff x="0" y="-47625"/>
            <a:chExt cx="4491524" cy="231008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D158863-E235-4EFD-2383-CD06D7654D50}"/>
                </a:ext>
              </a:extLst>
            </p:cNvPr>
            <p:cNvSpPr/>
            <p:nvPr/>
          </p:nvSpPr>
          <p:spPr>
            <a:xfrm>
              <a:off x="0" y="0"/>
              <a:ext cx="4491524" cy="2262458"/>
            </a:xfrm>
            <a:custGeom>
              <a:avLst/>
              <a:gdLst/>
              <a:ahLst/>
              <a:cxnLst/>
              <a:rect l="l" t="t" r="r" b="b"/>
              <a:pathLst>
                <a:path w="4491524" h="2262458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CAA38E1-4621-54AF-BD5E-F59977F0D7E7}"/>
                </a:ext>
              </a:extLst>
            </p:cNvPr>
            <p:cNvSpPr txBox="1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D412139-95F6-7D5C-06DF-A6DD32BB398C}"/>
              </a:ext>
            </a:extLst>
          </p:cNvPr>
          <p:cNvSpPr/>
          <p:nvPr/>
        </p:nvSpPr>
        <p:spPr>
          <a:xfrm>
            <a:off x="5524500" y="2095500"/>
            <a:ext cx="7620000" cy="64008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85B7470-E0D6-7087-8C4F-3EF58543DA52}"/>
              </a:ext>
            </a:extLst>
          </p:cNvPr>
          <p:cNvSpPr/>
          <p:nvPr/>
        </p:nvSpPr>
        <p:spPr>
          <a:xfrm>
            <a:off x="-949557" y="7889359"/>
            <a:ext cx="3584090" cy="3192451"/>
          </a:xfrm>
          <a:custGeom>
            <a:avLst/>
            <a:gdLst/>
            <a:ahLst/>
            <a:cxnLst/>
            <a:rect l="l" t="t" r="r" b="b"/>
            <a:pathLst>
              <a:path w="3584090" h="3192451">
                <a:moveTo>
                  <a:pt x="0" y="0"/>
                </a:moveTo>
                <a:lnTo>
                  <a:pt x="3584089" y="0"/>
                </a:lnTo>
                <a:lnTo>
                  <a:pt x="3584089" y="3192451"/>
                </a:lnTo>
                <a:lnTo>
                  <a:pt x="0" y="3192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A6F58D2-230D-B526-326D-DC0075DAAC4D}"/>
              </a:ext>
            </a:extLst>
          </p:cNvPr>
          <p:cNvSpPr/>
          <p:nvPr/>
        </p:nvSpPr>
        <p:spPr>
          <a:xfrm rot="1437982">
            <a:off x="15679085" y="34456"/>
            <a:ext cx="3160431" cy="3028267"/>
          </a:xfrm>
          <a:custGeom>
            <a:avLst/>
            <a:gdLst/>
            <a:ahLst/>
            <a:cxnLst/>
            <a:rect l="l" t="t" r="r" b="b"/>
            <a:pathLst>
              <a:path w="3160431" h="3028267">
                <a:moveTo>
                  <a:pt x="0" y="0"/>
                </a:moveTo>
                <a:lnTo>
                  <a:pt x="3160430" y="0"/>
                </a:lnTo>
                <a:lnTo>
                  <a:pt x="3160430" y="3028267"/>
                </a:lnTo>
                <a:lnTo>
                  <a:pt x="0" y="302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EFFFFC-02F2-EA13-7E77-3B40BE1EBBE9}"/>
              </a:ext>
            </a:extLst>
          </p:cNvPr>
          <p:cNvSpPr/>
          <p:nvPr/>
        </p:nvSpPr>
        <p:spPr>
          <a:xfrm>
            <a:off x="6705600" y="2781300"/>
            <a:ext cx="5257800" cy="48006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C8F678-925D-9054-48BD-6A2EFD346DD7}"/>
              </a:ext>
            </a:extLst>
          </p:cNvPr>
          <p:cNvSpPr/>
          <p:nvPr/>
        </p:nvSpPr>
        <p:spPr>
          <a:xfrm>
            <a:off x="7772400" y="3714750"/>
            <a:ext cx="3124200" cy="2857500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Săgeată: dreapta 19">
            <a:extLst>
              <a:ext uri="{FF2B5EF4-FFF2-40B4-BE49-F238E27FC236}">
                <a16:creationId xmlns:a16="http://schemas.microsoft.com/office/drawing/2014/main" id="{97D53B8F-F5AB-300B-7737-B0B7B3D6FE81}"/>
              </a:ext>
            </a:extLst>
          </p:cNvPr>
          <p:cNvSpPr/>
          <p:nvPr/>
        </p:nvSpPr>
        <p:spPr>
          <a:xfrm rot="2430136">
            <a:off x="5262041" y="2585433"/>
            <a:ext cx="140210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Săgeată: dreapta 20">
            <a:extLst>
              <a:ext uri="{FF2B5EF4-FFF2-40B4-BE49-F238E27FC236}">
                <a16:creationId xmlns:a16="http://schemas.microsoft.com/office/drawing/2014/main" id="{3A9CB911-AA0F-4DE8-B5D6-C4C904DF7A75}"/>
              </a:ext>
            </a:extLst>
          </p:cNvPr>
          <p:cNvSpPr/>
          <p:nvPr/>
        </p:nvSpPr>
        <p:spPr>
          <a:xfrm rot="5400000">
            <a:off x="8666220" y="3022124"/>
            <a:ext cx="140210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Săgeată: dreapta 21">
            <a:extLst>
              <a:ext uri="{FF2B5EF4-FFF2-40B4-BE49-F238E27FC236}">
                <a16:creationId xmlns:a16="http://schemas.microsoft.com/office/drawing/2014/main" id="{29C790C6-8F6B-46DC-EA2D-4944DC33DDA1}"/>
              </a:ext>
            </a:extLst>
          </p:cNvPr>
          <p:cNvSpPr/>
          <p:nvPr/>
        </p:nvSpPr>
        <p:spPr>
          <a:xfrm rot="8126870">
            <a:off x="10874462" y="2561290"/>
            <a:ext cx="1849461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asetăText 24">
            <a:extLst>
              <a:ext uri="{FF2B5EF4-FFF2-40B4-BE49-F238E27FC236}">
                <a16:creationId xmlns:a16="http://schemas.microsoft.com/office/drawing/2014/main" id="{40533934-B49C-3DE5-77C3-CF7E3B3F29A7}"/>
              </a:ext>
            </a:extLst>
          </p:cNvPr>
          <p:cNvSpPr txBox="1"/>
          <p:nvPr/>
        </p:nvSpPr>
        <p:spPr>
          <a:xfrm>
            <a:off x="11720518" y="774634"/>
            <a:ext cx="3156667" cy="132343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 dirty="0">
                <a:latin typeface="Dosis" pitchFamily="2" charset="0"/>
              </a:rPr>
              <a:t>Zona Proximei Dezvoltări</a:t>
            </a:r>
            <a:endParaRPr lang="en-GB" sz="4000" dirty="0">
              <a:latin typeface="Dosi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3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04885" y="-667606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84052" y="143384"/>
            <a:ext cx="8573922" cy="11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Resurse video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738320" y="1703270"/>
            <a:ext cx="10895848" cy="3183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ro-RO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Teoria Procesării Informației:</a:t>
            </a: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  <a:hlinkClick r:id="rId7"/>
              </a:rPr>
              <a:t>https://www.youtube.com/watch?v=pMMRE4Q2FGk</a:t>
            </a:r>
            <a:endParaRPr lang="ro-RO" sz="30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>
              <a:lnSpc>
                <a:spcPts val="4200"/>
              </a:lnSpc>
            </a:pP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r>
              <a:rPr lang="ro-RO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Teoria Constructivistă:</a:t>
            </a: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  <a:hlinkClick r:id="rId8"/>
              </a:rPr>
              <a:t>https://www.youtube.com/watch?v=7Zhv9ELy3hU</a:t>
            </a:r>
            <a:r>
              <a:rPr lang="ro-RO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</a:p>
          <a:p>
            <a:pPr>
              <a:lnSpc>
                <a:spcPts val="4200"/>
              </a:lnSpc>
            </a:pP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te a new document." ma:contentTypeScope="" ma:versionID="bacad1ff664c2d2ec7c8cc0e173910bc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2d949852c592878203bfce1860d1c848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3A728B-BE1D-4E15-AB4A-8CF93BF6DD85}"/>
</file>

<file path=customXml/itemProps2.xml><?xml version="1.0" encoding="utf-8"?>
<ds:datastoreItem xmlns:ds="http://schemas.openxmlformats.org/officeDocument/2006/customXml" ds:itemID="{F3140411-2FDF-4D9E-A2BA-1A6DF83F671D}"/>
</file>

<file path=customXml/itemProps3.xml><?xml version="1.0" encoding="utf-8"?>
<ds:datastoreItem xmlns:ds="http://schemas.openxmlformats.org/officeDocument/2006/customXml" ds:itemID="{19E00EE3-327A-47F8-8A4F-9EE457B15D27}"/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216</Words>
  <Application>Microsoft Office PowerPoint</Application>
  <PresentationFormat>Particularizare</PresentationFormat>
  <Paragraphs>64</Paragraphs>
  <Slides>14</Slides>
  <Notes>2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14</vt:i4>
      </vt:variant>
    </vt:vector>
  </HeadingPairs>
  <TitlesOfParts>
    <vt:vector size="19" baseType="lpstr">
      <vt:lpstr>Arial</vt:lpstr>
      <vt:lpstr>Calibri</vt:lpstr>
      <vt:lpstr>Dosis</vt:lpstr>
      <vt:lpstr>Carelia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seminar 5</dc:title>
  <dc:creator>Mihai</dc:creator>
  <cp:lastModifiedBy>Mihai Mihes</cp:lastModifiedBy>
  <cp:revision>8</cp:revision>
  <dcterms:created xsi:type="dcterms:W3CDTF">2006-08-16T00:00:00Z</dcterms:created>
  <dcterms:modified xsi:type="dcterms:W3CDTF">2025-10-29T19:15:43Z</dcterms:modified>
  <dc:identifier>DAGUNRmP7A0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