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50" r:id="rId5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144000" cy="6858000" type="screen4x3"/>
  <p:notesSz cx="6858000" cy="9144000"/>
  <p:embeddedFontLst>
    <p:embeddedFont>
      <p:font typeface="Constantia" panose="02030602050306030303" pitchFamily="18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im/QykJTXGzEIQLzwTJvvJvBqm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BECEBE-19B6-F27B-9931-0814E3A4C753}" v="1" dt="2025-12-22T16:48:06.4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2.fntdata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customschemas.google.com/relationships/presentationmetadata" Target="meta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4.fntdata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ĂLINA-ELENA RUSU" userId="S::malina.rusu@stud.ubbcluj.ro::87c2e33f-0060-4f32-94a6-7c8d62d58ddb" providerId="AD" clId="Web-{36BECEBE-19B6-F27B-9931-0814E3A4C753}"/>
    <pc:docChg chg="modSld">
      <pc:chgData name="MĂLINA-ELENA RUSU" userId="S::malina.rusu@stud.ubbcluj.ro::87c2e33f-0060-4f32-94a6-7c8d62d58ddb" providerId="AD" clId="Web-{36BECEBE-19B6-F27B-9931-0814E3A4C753}" dt="2025-12-22T16:48:06.426" v="0" actId="1076"/>
      <pc:docMkLst>
        <pc:docMk/>
      </pc:docMkLst>
      <pc:sldChg chg="modSp">
        <pc:chgData name="MĂLINA-ELENA RUSU" userId="S::malina.rusu@stud.ubbcluj.ro::87c2e33f-0060-4f32-94a6-7c8d62d58ddb" providerId="AD" clId="Web-{36BECEBE-19B6-F27B-9931-0814E3A4C753}" dt="2025-12-22T16:48:06.426" v="0" actId="1076"/>
        <pc:sldMkLst>
          <pc:docMk/>
          <pc:sldMk cId="0" sldId="256"/>
        </pc:sldMkLst>
        <pc:picChg chg="mod">
          <ac:chgData name="MĂLINA-ELENA RUSU" userId="S::malina.rusu@stud.ubbcluj.ro::87c2e33f-0060-4f32-94a6-7c8d62d58ddb" providerId="AD" clId="Web-{36BECEBE-19B6-F27B-9931-0814E3A4C753}" dt="2025-12-22T16:48:06.426" v="0" actId="1076"/>
          <ac:picMkLst>
            <pc:docMk/>
            <pc:sldMk cId="0" sldId="256"/>
            <ac:picMk id="11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nstantia"/>
              <a:buNone/>
              <a:defRPr sz="12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nstantia"/>
              <a:buNone/>
              <a:defRPr sz="12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nstantia"/>
              <a:buNone/>
              <a:defRPr sz="12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ro-R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2" name="Google Shape;1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fld id="{00000000-1234-1234-1234-123412341234}" type="slidenum">
              <a:rPr lang="ro-RO" sz="1200"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30a79366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g3a30a79366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76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30a79366e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7" name="Google Shape;147;g3a30a79366e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4763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3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sz="5600" b="1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E9E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E9E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-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5C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5C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-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5445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marL="914400" lvl="1" indent="-35814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5445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marL="914400" lvl="1" indent="-35814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5C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5C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-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5C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5C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-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sz="5600" b="1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E9E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E9E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-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7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sz="5600" b="1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E9E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E9E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EAEE"/>
              </a:buClr>
              <a:buSzPts val="1200"/>
              <a:buFont typeface="Constantia"/>
              <a:buNone/>
              <a:defRPr>
                <a:solidFill>
                  <a:srgbClr val="D1EAEE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-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8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61315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marL="914400" lvl="1" indent="-33655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marL="1828800" lvl="3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61315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marL="914400" lvl="1" indent="-33655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marL="1828800" lvl="3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5C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5C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-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9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sz="50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5C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5C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-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0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sz="26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marL="914400" lvl="1" indent="-368935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marL="1371600" lvl="2" indent="-33528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marL="1828800" lvl="3" indent="-31115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5C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5C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-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1"/>
          <p:cNvSpPr/>
          <p:nvPr/>
        </p:nvSpPr>
        <p:spPr>
          <a:xfrm rot="-10380000" flipH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tantia"/>
              <a:buNone/>
            </a:pPr>
            <a:endParaRPr sz="1800" b="0" i="0" u="none" strike="noStrike" cap="non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9" name="Google Shape;89;p31"/>
          <p:cNvSpPr/>
          <p:nvPr/>
        </p:nvSpPr>
        <p:spPr>
          <a:xfrm rot="-10380000" flipH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66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tantia"/>
              <a:buNone/>
            </a:pPr>
            <a:endParaRPr sz="1800" b="0" i="0" u="none" strike="noStrike" cap="non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0" name="Google Shape;90;p31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1" name="Google Shape;91;p31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2" name="Google Shape;92;p31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1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marL="914400" lvl="1" indent="-293369" algn="l"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marL="1371600" lvl="2" indent="-273050" algn="l"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marL="1828800" lvl="3" indent="-265747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marL="2286000" lvl="4" indent="-265747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31"/>
          <p:cNvSpPr>
            <a:spLocks noGrp="1"/>
          </p:cNvSpPr>
          <p:nvPr>
            <p:ph type="pic" idx="2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5C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1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5C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1"/>
          <p:cNvSpPr txBox="1">
            <a:spLocks noGrp="1"/>
          </p:cNvSpPr>
          <p:nvPr>
            <p:ph type="sldNum" idx="12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-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2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2"/>
          <p:cNvSpPr txBox="1">
            <a:spLocks noGrp="1"/>
          </p:cNvSpPr>
          <p:nvPr>
            <p:ph type="body" idx="1"/>
          </p:nvPr>
        </p:nvSpPr>
        <p:spPr>
          <a:xfrm rot="5400000">
            <a:off x="2377282" y="15082"/>
            <a:ext cx="4389437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5C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2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5C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2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-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3"/>
          <p:cNvSpPr txBox="1">
            <a:spLocks noGrp="1"/>
          </p:cNvSpPr>
          <p:nvPr>
            <p:ph type="title"/>
          </p:nvPr>
        </p:nvSpPr>
        <p:spPr>
          <a:xfrm rot="5400000">
            <a:off x="5052219" y="2491582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3"/>
          <p:cNvSpPr txBox="1">
            <a:spLocks noGrp="1"/>
          </p:cNvSpPr>
          <p:nvPr>
            <p:ph type="body" idx="1"/>
          </p:nvPr>
        </p:nvSpPr>
        <p:spPr>
          <a:xfrm rot="5400000">
            <a:off x="861219" y="510382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5C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33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5C75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33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-R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65000" sy="65000" flip="none" algn="tl"/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/>
          <p:nvPr/>
        </p:nvSpPr>
        <p:spPr>
          <a:xfrm>
            <a:off x="-9525" y="-7937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tantia"/>
              <a:buNone/>
            </a:pPr>
            <a:endParaRPr sz="1800" b="0" i="0" u="none" strike="noStrike" cap="non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1" name="Google Shape;11;p21"/>
          <p:cNvSpPr/>
          <p:nvPr/>
        </p:nvSpPr>
        <p:spPr>
          <a:xfrm>
            <a:off x="4381500" y="-7937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tantia"/>
              <a:buNone/>
            </a:pPr>
            <a:endParaRPr sz="1800" b="0" i="0" u="none" strike="noStrike" cap="non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2" name="Google Shape;12;p21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Calibri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5445" algn="l" rtl="0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sz="2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914400" marR="0" lvl="1" indent="-35814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1371600" marR="0" lvl="2" indent="-321944" algn="l" rtl="0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sz="21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sz="20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2286000" marR="0" lvl="4" indent="-311150" algn="l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sz="20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3200400" marR="0" lvl="6" indent="-309879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sz="14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E9ED"/>
              </a:buClr>
              <a:buSzPts val="1200"/>
              <a:buFont typeface="Constantia"/>
              <a:buNone/>
              <a:defRPr sz="1200" b="0" i="0" u="none" strike="noStrike" cap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5" name="Google Shape;15;p21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E9ED"/>
              </a:buClr>
              <a:buSzPts val="1200"/>
              <a:buFont typeface="Constantia"/>
              <a:buNone/>
              <a:defRPr sz="1200" b="0" i="0" u="none" strike="noStrike" cap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6" name="Google Shape;16;p21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 sz="1200" b="0" i="0" u="none" strike="noStrike" cap="non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 sz="1200" b="0" i="0" u="none" strike="noStrike" cap="non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 sz="1200" b="0" i="0" u="none" strike="noStrike" cap="non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 sz="1200" b="0" i="0" u="none" strike="noStrike" cap="non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 sz="1200" b="0" i="0" u="none" strike="noStrike" cap="non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 sz="1200" b="0" i="0" u="none" strike="noStrike" cap="non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 sz="1200" b="0" i="0" u="none" strike="noStrike" cap="non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 sz="1200" b="0" i="0" u="none" strike="noStrike" cap="non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 sz="1200" b="0" i="0" u="none" strike="noStrike" cap="non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-RO"/>
              <a:t>‹#›</a:t>
            </a:fld>
            <a:endParaRPr/>
          </a:p>
        </p:txBody>
      </p:sp>
      <p:grpSp>
        <p:nvGrpSpPr>
          <p:cNvPr id="17" name="Google Shape;17;p21"/>
          <p:cNvGrpSpPr/>
          <p:nvPr/>
        </p:nvGrpSpPr>
        <p:grpSpPr>
          <a:xfrm>
            <a:off x="-29327" y="-14808"/>
            <a:ext cx="9198220" cy="1083716"/>
            <a:chOff x="-29322" y="-1971"/>
            <a:chExt cx="9198255" cy="1086266"/>
          </a:xfrm>
        </p:grpSpPr>
        <p:sp>
          <p:nvSpPr>
            <p:cNvPr id="18" name="Google Shape;18;p21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avLst/>
              <a:gdLst/>
              <a:ahLst/>
              <a:cxnLst/>
              <a:rect l="l" t="t" r="r" b="b"/>
              <a:pathLst>
                <a:path w="5772" h="1055" extrusionOk="0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75" cap="flat" cmpd="sng">
              <a:solidFill>
                <a:srgbClr val="09B6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nstantia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9" name="Google Shape;19;p21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avLst/>
              <a:gdLst/>
              <a:ahLst/>
              <a:cxnLst/>
              <a:rect l="l" t="t" r="r" b="b"/>
              <a:pathLst>
                <a:path w="5766" h="854" extrusionOk="0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onstantia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/>
          </a:blip>
          <a:tile tx="0" ty="0" sx="65000" sy="65000" flip="none" algn="tl"/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/>
          <p:nvPr/>
        </p:nvSpPr>
        <p:spPr>
          <a:xfrm>
            <a:off x="-9525" y="-7937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8" name="Google Shape;28;p20"/>
          <p:cNvSpPr/>
          <p:nvPr/>
        </p:nvSpPr>
        <p:spPr>
          <a:xfrm>
            <a:off x="4381500" y="-7937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9" name="Google Shape;29;p20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5445" algn="l" rtl="0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914400" marR="0" lvl="1" indent="-35814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1371600" marR="0" lvl="2" indent="-321944" algn="l" rtl="0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sz="21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2286000" marR="0" lvl="4" indent="-311150" algn="l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3200400" marR="0" lvl="6" indent="-309879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sz="1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5C75"/>
              </a:buClr>
              <a:buSzPts val="1200"/>
              <a:buFont typeface="Constantia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5C75"/>
              </a:buClr>
              <a:buSzPts val="1200"/>
              <a:buFont typeface="Constantia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tantia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 sz="1200" b="0" i="0" u="none" strike="noStrike" cap="non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 sz="1200" b="0" i="0" u="none" strike="noStrike" cap="non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 sz="1200" b="0" i="0" u="none" strike="noStrike" cap="non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 sz="1200" b="0" i="0" u="none" strike="noStrike" cap="non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 sz="1200" b="0" i="0" u="none" strike="noStrike" cap="non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 sz="1200" b="0" i="0" u="none" strike="noStrike" cap="non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 sz="1200" b="0" i="0" u="none" strike="noStrike" cap="non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 sz="1200" b="0" i="0" u="none" strike="noStrike" cap="non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5C75"/>
              </a:buClr>
              <a:buSzPts val="1200"/>
              <a:buFont typeface="Constantia"/>
              <a:buNone/>
              <a:defRPr sz="1200" b="0" i="0" u="none" strike="noStrike" cap="none">
                <a:solidFill>
                  <a:srgbClr val="04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-RO"/>
              <a:t>‹#›</a:t>
            </a:fld>
            <a:endParaRPr/>
          </a:p>
        </p:txBody>
      </p:sp>
      <p:grpSp>
        <p:nvGrpSpPr>
          <p:cNvPr id="34" name="Google Shape;34;p20"/>
          <p:cNvGrpSpPr/>
          <p:nvPr/>
        </p:nvGrpSpPr>
        <p:grpSpPr>
          <a:xfrm>
            <a:off x="-29327" y="-14808"/>
            <a:ext cx="9198220" cy="1083716"/>
            <a:chOff x="-29322" y="-1971"/>
            <a:chExt cx="9198255" cy="1086266"/>
          </a:xfrm>
        </p:grpSpPr>
        <p:sp>
          <p:nvSpPr>
            <p:cNvPr id="35" name="Google Shape;35;p20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avLst/>
              <a:gdLst/>
              <a:ahLst/>
              <a:cxnLst/>
              <a:rect l="l" t="t" r="r" b="b"/>
              <a:pathLst>
                <a:path w="5772" h="1055" extrusionOk="0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75" cap="flat" cmpd="sng">
              <a:solidFill>
                <a:srgbClr val="09B6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nstantia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6" name="Google Shape;36;p20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avLst/>
              <a:gdLst/>
              <a:ahLst/>
              <a:cxnLst/>
              <a:rect l="l" t="t" r="r" b="b"/>
              <a:pathLst>
                <a:path w="5766" h="854" extrusionOk="0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onstantia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" descr="D:\Facultate\Sabloane ppt\powerpoint-templates-blu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54" y="-7937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"/>
          <p:cNvSpPr txBox="1">
            <a:spLocks noGrp="1"/>
          </p:cNvSpPr>
          <p:nvPr>
            <p:ph type="ctrTitle"/>
          </p:nvPr>
        </p:nvSpPr>
        <p:spPr>
          <a:xfrm>
            <a:off x="2209800" y="1143000"/>
            <a:ext cx="4724400" cy="147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onstantia"/>
              <a:buNone/>
            </a:pPr>
            <a:r>
              <a:rPr lang="ro-RO" sz="80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Motivația </a:t>
            </a:r>
            <a:endParaRPr sz="11500" b="0" i="0" u="none" strike="noStrike" cap="non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17" name="Google Shape;117;p1"/>
          <p:cNvSpPr txBox="1">
            <a:spLocks noGrp="1"/>
          </p:cNvSpPr>
          <p:nvPr>
            <p:ph type="subTitle" idx="1"/>
          </p:nvPr>
        </p:nvSpPr>
        <p:spPr>
          <a:xfrm>
            <a:off x="2133600" y="3657600"/>
            <a:ext cx="556895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470"/>
              <a:buFont typeface="Noto Sans Symbols"/>
              <a:buNone/>
            </a:pPr>
            <a:r>
              <a:rPr lang="ro-RO">
                <a:latin typeface="Constantia"/>
                <a:ea typeface="Constantia"/>
                <a:cs typeface="Constantia"/>
                <a:sym typeface="Constantia"/>
              </a:rPr>
              <a:t>Lect univ dr Daniela Dumulescu</a:t>
            </a:r>
            <a:endParaRPr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/>
          <p:cNvSpPr txBox="1">
            <a:spLocks noGrp="1"/>
          </p:cNvSpPr>
          <p:nvPr>
            <p:ph type="title"/>
          </p:nvPr>
        </p:nvSpPr>
        <p:spPr>
          <a:xfrm>
            <a:off x="381000" y="381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5000"/>
              <a:buFont typeface="Constantia"/>
              <a:buNone/>
            </a:pPr>
            <a:r>
              <a:rPr lang="ro-RO" sz="50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Ce este motivația? </a:t>
            </a:r>
            <a:endParaRPr sz="50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23" name="Google Shape;123;p2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lvl="0" indent="-27432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90"/>
              <a:buChar char="⚫"/>
            </a:pPr>
            <a:r>
              <a:rPr lang="ro-RO" sz="2200">
                <a:solidFill>
                  <a:srgbClr val="004E6D"/>
                </a:solidFill>
              </a:rPr>
              <a:t>lat. movere = a (se) mișca</a:t>
            </a:r>
            <a:endParaRPr sz="2200">
              <a:solidFill>
                <a:srgbClr val="004E6D"/>
              </a:solidFill>
            </a:endParaRPr>
          </a:p>
          <a:p>
            <a:pPr marL="274320" lvl="0" indent="-274320" algn="l" rtl="0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2090"/>
              <a:buNone/>
            </a:pPr>
            <a:endParaRPr sz="2200">
              <a:solidFill>
                <a:srgbClr val="004E6D"/>
              </a:solidFill>
            </a:endParaRPr>
          </a:p>
          <a:p>
            <a:pPr marL="274320" lvl="0" indent="-27432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ro-RO" sz="2000">
                <a:solidFill>
                  <a:srgbClr val="004E6D"/>
                </a:solidFill>
              </a:rPr>
              <a:t>	În sens larg, motivația se referă la totalitatea motivelor care determină o acțiune sau un anumit mod de comportare </a:t>
            </a:r>
            <a:r>
              <a:rPr lang="ro-RO" sz="1600">
                <a:solidFill>
                  <a:srgbClr val="004E6D"/>
                </a:solidFill>
              </a:rPr>
              <a:t>(NODEX, 2002). </a:t>
            </a:r>
            <a:endParaRPr sz="2000">
              <a:solidFill>
                <a:srgbClr val="004E6D"/>
              </a:solidFill>
            </a:endParaRPr>
          </a:p>
          <a:p>
            <a:pPr marL="274320" lvl="0" indent="-27432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50"/>
              <a:buNone/>
            </a:pPr>
            <a:endParaRPr sz="1000">
              <a:solidFill>
                <a:srgbClr val="004E6D"/>
              </a:solidFill>
            </a:endParaRPr>
          </a:p>
          <a:p>
            <a:pPr marL="274320" lvl="0" indent="-27432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ro-RO" sz="2000">
                <a:solidFill>
                  <a:srgbClr val="004E6D"/>
                </a:solidFill>
              </a:rPr>
              <a:t>	</a:t>
            </a:r>
            <a:endParaRPr sz="2000">
              <a:solidFill>
                <a:srgbClr val="004E6D"/>
              </a:solidFill>
            </a:endParaRPr>
          </a:p>
          <a:p>
            <a:pPr marL="274320" lvl="0" indent="-27432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ro-RO" sz="2000">
                <a:solidFill>
                  <a:srgbClr val="004E6D"/>
                </a:solidFill>
              </a:rPr>
              <a:t>	Motivația reprezintă o stare a organismului care servește: </a:t>
            </a:r>
            <a:endParaRPr sz="2000">
              <a:solidFill>
                <a:srgbClr val="004E6D"/>
              </a:solidFill>
            </a:endParaRPr>
          </a:p>
          <a:p>
            <a:pPr marL="274320" lvl="0" indent="-27432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900"/>
              <a:buChar char="⚫"/>
            </a:pPr>
            <a:r>
              <a:rPr lang="ro-RO" sz="2000">
                <a:solidFill>
                  <a:srgbClr val="004E6D"/>
                </a:solidFill>
              </a:rPr>
              <a:t>provocării unui comportament</a:t>
            </a:r>
            <a:endParaRPr sz="2000">
              <a:solidFill>
                <a:srgbClr val="004E6D"/>
              </a:solidFill>
            </a:endParaRPr>
          </a:p>
          <a:p>
            <a:pPr marL="274320" lvl="0" indent="-27432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900"/>
              <a:buChar char="⚫"/>
            </a:pPr>
            <a:r>
              <a:rPr lang="ro-RO" sz="2000">
                <a:solidFill>
                  <a:srgbClr val="004E6D"/>
                </a:solidFill>
              </a:rPr>
              <a:t>direcționării comportamentului (alegerea)</a:t>
            </a:r>
            <a:endParaRPr sz="2000">
              <a:solidFill>
                <a:srgbClr val="004E6D"/>
              </a:solidFill>
            </a:endParaRPr>
          </a:p>
          <a:p>
            <a:pPr marL="274320" lvl="0" indent="-27432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900"/>
              <a:buChar char="⚫"/>
            </a:pPr>
            <a:r>
              <a:rPr lang="ro-RO" sz="2000">
                <a:solidFill>
                  <a:srgbClr val="004E6D"/>
                </a:solidFill>
              </a:rPr>
              <a:t>intensității comportamentului (efort, persistență) </a:t>
            </a:r>
            <a:endParaRPr sz="2000">
              <a:solidFill>
                <a:srgbClr val="004E6D"/>
              </a:solidFill>
            </a:endParaRPr>
          </a:p>
          <a:p>
            <a:pPr marL="274320" lvl="0" indent="-27432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900"/>
              <a:buChar char="⚫"/>
            </a:pPr>
            <a:r>
              <a:rPr lang="ro-RO" sz="2000">
                <a:solidFill>
                  <a:srgbClr val="004E6D"/>
                </a:solidFill>
              </a:rPr>
              <a:t>cunoștintele dobândite sau abilitățile formate </a:t>
            </a:r>
            <a:r>
              <a:rPr lang="ro-RO" sz="1600">
                <a:solidFill>
                  <a:srgbClr val="004E6D"/>
                </a:solidFill>
              </a:rPr>
              <a:t>(Pintrich, 2003)</a:t>
            </a:r>
            <a:endParaRPr sz="1600">
              <a:solidFill>
                <a:srgbClr val="004E6D"/>
              </a:solidFill>
            </a:endParaRPr>
          </a:p>
          <a:p>
            <a:pPr marL="274320" lvl="0" indent="-274320" algn="l" rtl="0">
              <a:lnSpc>
                <a:spcPct val="80000"/>
              </a:lnSpc>
              <a:spcBef>
                <a:spcPts val="140"/>
              </a:spcBef>
              <a:spcAft>
                <a:spcPts val="0"/>
              </a:spcAft>
              <a:buSzPts val="665"/>
              <a:buNone/>
            </a:pPr>
            <a:endParaRPr sz="700">
              <a:solidFill>
                <a:srgbClr val="004E6D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30a79366e_0_0"/>
          <p:cNvSpPr txBox="1">
            <a:spLocks noGrp="1"/>
          </p:cNvSpPr>
          <p:nvPr>
            <p:ph type="title"/>
          </p:nvPr>
        </p:nvSpPr>
        <p:spPr>
          <a:xfrm>
            <a:off x="309649" y="72125"/>
            <a:ext cx="85323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</a:pPr>
            <a:r>
              <a:rPr lang="ro-RO" sz="3000">
                <a:latin typeface="Calibri"/>
                <a:ea typeface="Calibri"/>
                <a:cs typeface="Calibri"/>
                <a:sym typeface="Calibri"/>
              </a:rPr>
              <a:t>SELF-DETERMINATION THEORY (DECI &amp; RYAN, 2000)</a:t>
            </a:r>
            <a:endParaRPr sz="3000"/>
          </a:p>
        </p:txBody>
      </p:sp>
      <p:sp>
        <p:nvSpPr>
          <p:cNvPr id="129" name="Google Shape;129;g3a30a79366e_0_0"/>
          <p:cNvSpPr txBox="1">
            <a:spLocks noGrp="1"/>
          </p:cNvSpPr>
          <p:nvPr>
            <p:ph type="body" idx="1"/>
          </p:nvPr>
        </p:nvSpPr>
        <p:spPr>
          <a:xfrm>
            <a:off x="514350" y="1527825"/>
            <a:ext cx="8327700" cy="48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ro-RO" cap="none">
                <a:latin typeface="Calibri"/>
                <a:ea typeface="Calibri"/>
                <a:cs typeface="Calibri"/>
                <a:sym typeface="Calibri"/>
              </a:rPr>
              <a:t>O macro-teorie ce explică motivația umană </a:t>
            </a:r>
            <a:endParaRPr/>
          </a:p>
          <a:p>
            <a:pPr marL="182880" lvl="0" indent="-18288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ro-RO" b="1" cap="none">
                <a:solidFill>
                  <a:srgbClr val="9E3611"/>
                </a:solidFill>
                <a:latin typeface="Calibri"/>
                <a:ea typeface="Calibri"/>
                <a:cs typeface="Calibri"/>
                <a:sym typeface="Calibri"/>
              </a:rPr>
              <a:t>Motivația: </a:t>
            </a:r>
            <a:r>
              <a:rPr lang="ro-RO"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ro-RO" cap="none">
                <a:latin typeface="Calibri"/>
                <a:ea typeface="Calibri"/>
                <a:cs typeface="Calibri"/>
                <a:sym typeface="Calibri"/>
              </a:rPr>
              <a:t>roces ce debutează cu o serie de nevoi fiziologice și psihologice care activează un comportament sau un motiv animat de un scop</a:t>
            </a:r>
            <a:endParaRPr/>
          </a:p>
          <a:p>
            <a:pPr marL="182880" lvl="0" indent="-18288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ro-RO" b="1" cap="none">
                <a:solidFill>
                  <a:srgbClr val="9E3611"/>
                </a:solidFill>
                <a:latin typeface="Calibri"/>
                <a:ea typeface="Calibri"/>
                <a:cs typeface="Calibri"/>
                <a:sym typeface="Calibri"/>
              </a:rPr>
              <a:t>Premisa: </a:t>
            </a:r>
            <a:r>
              <a:rPr lang="ro-RO" cap="none">
                <a:latin typeface="Calibri"/>
                <a:ea typeface="Calibri"/>
                <a:cs typeface="Calibri"/>
                <a:sym typeface="Calibri"/>
              </a:rPr>
              <a:t>individul are o tendință înnăscută spre dezvoltare 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600"/>
              </a:spcAft>
              <a:buSzPts val="17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>
            <a:spLocks noGrp="1"/>
          </p:cNvSpPr>
          <p:nvPr>
            <p:ph type="title"/>
          </p:nvPr>
        </p:nvSpPr>
        <p:spPr>
          <a:xfrm>
            <a:off x="409575" y="4635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onstantia"/>
              <a:buNone/>
            </a:pPr>
            <a:r>
              <a:rPr lang="ro-RO" sz="5000" b="0" i="0" u="none" strike="noStrike" cap="none">
                <a:solidFill>
                  <a:schemeClr val="dk2"/>
                </a:solidFill>
                <a:latin typeface="Constantia"/>
                <a:ea typeface="Constantia"/>
                <a:cs typeface="Constantia"/>
                <a:sym typeface="Constantia"/>
              </a:rPr>
              <a:t>Motivația școlară </a:t>
            </a:r>
            <a:endParaRPr sz="5000" b="0" i="0" u="none" strike="noStrike" cap="none">
              <a:solidFill>
                <a:schemeClr val="dk2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135" name="Google Shape;13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0" y="1606550"/>
            <a:ext cx="5300663" cy="486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"/>
          <p:cNvSpPr txBox="1"/>
          <p:nvPr/>
        </p:nvSpPr>
        <p:spPr>
          <a:xfrm>
            <a:off x="347663" y="4038600"/>
            <a:ext cx="3309938" cy="220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Char char="⮚"/>
            </a:pPr>
            <a:r>
              <a:rPr lang="ro-RO" sz="24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diferențe elevi cu performanțe ridicate - elevi cu performanțe scăzute</a:t>
            </a:r>
            <a:endParaRPr sz="24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171450" marR="0" lvl="0" indent="-108108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0BD0D9"/>
              </a:buClr>
              <a:buSzPts val="998"/>
              <a:buFont typeface="Noto Sans Symbols"/>
              <a:buNone/>
            </a:pPr>
            <a:endParaRPr sz="105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Char char="⮚"/>
            </a:pPr>
            <a:r>
              <a:rPr lang="ro-RO" sz="24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elevii demotivați </a:t>
            </a:r>
            <a:endParaRPr sz="24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304800" y="1828800"/>
            <a:ext cx="3352800" cy="1938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Char char="⮚"/>
            </a:pPr>
            <a:r>
              <a:rPr lang="ro-RO" sz="2400" b="0" i="0" u="none" strike="noStrike" cap="none">
                <a:solidFill>
                  <a:srgbClr val="004E6D"/>
                </a:solidFill>
                <a:latin typeface="Constantia"/>
                <a:ea typeface="Constantia"/>
                <a:cs typeface="Constantia"/>
                <a:sym typeface="Constantia"/>
              </a:rPr>
              <a:t>imbold spre învățare și implicare susținută în realizarea sarcinilor pe care aceasta le presupune</a:t>
            </a:r>
            <a:endParaRPr sz="2400" b="0" i="0" u="none" strike="noStrike" cap="none">
              <a:solidFill>
                <a:srgbClr val="004E6D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/>
          <p:cNvSpPr txBox="1"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onstantia"/>
              <a:buNone/>
            </a:pPr>
            <a:r>
              <a:rPr lang="ro-RO">
                <a:latin typeface="Constantia"/>
                <a:ea typeface="Constantia"/>
                <a:cs typeface="Constantia"/>
                <a:sym typeface="Constantia"/>
              </a:rPr>
              <a:t>Învățare vs. motivație </a:t>
            </a:r>
            <a:endParaRPr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43" name="Google Shape;143;p4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111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marR="0" lvl="0" indent="-2743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▪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 învățarea – produce modificări în comportament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274320" marR="0" lvl="0" indent="-27432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▪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 motivația – susține comportamentul 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144" name="Google Shape;14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28800" y="2971800"/>
            <a:ext cx="5486400" cy="3656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30a79366e_0_263"/>
          <p:cNvSpPr txBox="1">
            <a:spLocks noGrp="1"/>
          </p:cNvSpPr>
          <p:nvPr>
            <p:ph type="title"/>
          </p:nvPr>
        </p:nvSpPr>
        <p:spPr>
          <a:xfrm>
            <a:off x="513160" y="238125"/>
            <a:ext cx="7797300" cy="11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00"/>
              <a:buFont typeface="Calibri"/>
              <a:buNone/>
            </a:pPr>
            <a:r>
              <a:rPr lang="ro-RO" sz="3400">
                <a:latin typeface="Calibri"/>
                <a:ea typeface="Calibri"/>
                <a:cs typeface="Calibri"/>
                <a:sym typeface="Calibri"/>
              </a:rPr>
              <a:t>SELF-DETERMINATION THEORY </a:t>
            </a:r>
            <a:br>
              <a:rPr lang="ro-RO" sz="3400">
                <a:latin typeface="Calibri"/>
                <a:ea typeface="Calibri"/>
                <a:cs typeface="Calibri"/>
                <a:sym typeface="Calibri"/>
              </a:rPr>
            </a:br>
            <a:r>
              <a:rPr lang="ro-RO" sz="3400">
                <a:latin typeface="Calibri"/>
                <a:ea typeface="Calibri"/>
                <a:cs typeface="Calibri"/>
                <a:sym typeface="Calibri"/>
              </a:rPr>
              <a:t>(DECI &amp;RYAN, 2000)</a:t>
            </a:r>
            <a:endParaRPr/>
          </a:p>
        </p:txBody>
      </p:sp>
      <p:sp>
        <p:nvSpPr>
          <p:cNvPr id="150" name="Google Shape;150;g3a30a79366e_0_263"/>
          <p:cNvSpPr txBox="1">
            <a:spLocks noGrp="1"/>
          </p:cNvSpPr>
          <p:nvPr>
            <p:ph type="body" idx="1"/>
          </p:nvPr>
        </p:nvSpPr>
        <p:spPr>
          <a:xfrm>
            <a:off x="514350" y="1751013"/>
            <a:ext cx="7796400" cy="39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lang="ro-RO" sz="2400" cap="none">
                <a:latin typeface="Arial"/>
                <a:ea typeface="Arial"/>
                <a:cs typeface="Arial"/>
                <a:sym typeface="Arial"/>
              </a:rPr>
              <a:t>Oamenii au trei nevoi bazale</a:t>
            </a:r>
            <a:endParaRPr sz="2400" cap="none">
              <a:latin typeface="Arial"/>
              <a:ea typeface="Arial"/>
              <a:cs typeface="Arial"/>
              <a:sym typeface="Arial"/>
            </a:endParaRPr>
          </a:p>
          <a:p>
            <a:pPr marL="457200" lvl="1" indent="-173164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SzPct val="85000"/>
              <a:buChar char="○"/>
            </a:pPr>
            <a:r>
              <a:rPr lang="ro-RO" sz="2400" cap="none">
                <a:latin typeface="Arial"/>
                <a:ea typeface="Arial"/>
                <a:cs typeface="Arial"/>
                <a:sym typeface="Arial"/>
              </a:rPr>
              <a:t>Competență  </a:t>
            </a:r>
            <a:endParaRPr/>
          </a:p>
          <a:p>
            <a:pPr marL="457200" lvl="1" indent="-173164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SzPct val="85000"/>
              <a:buChar char="○"/>
            </a:pPr>
            <a:r>
              <a:rPr lang="ro-RO" sz="2400" cap="none">
                <a:latin typeface="Arial"/>
                <a:ea typeface="Arial"/>
                <a:cs typeface="Arial"/>
                <a:sym typeface="Arial"/>
              </a:rPr>
              <a:t>autonomie</a:t>
            </a:r>
            <a:endParaRPr sz="2400" cap="none">
              <a:latin typeface="Arial"/>
              <a:ea typeface="Arial"/>
              <a:cs typeface="Arial"/>
              <a:sym typeface="Arial"/>
            </a:endParaRPr>
          </a:p>
          <a:p>
            <a:pPr marL="457200" lvl="1" indent="-173164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SzPct val="85000"/>
              <a:buChar char="○"/>
            </a:pPr>
            <a:r>
              <a:rPr lang="ro-RO" sz="2400" cap="none">
                <a:latin typeface="Arial"/>
                <a:ea typeface="Arial"/>
                <a:cs typeface="Arial"/>
                <a:sym typeface="Arial"/>
              </a:rPr>
              <a:t>Relaționare </a:t>
            </a:r>
            <a:endParaRPr/>
          </a:p>
          <a:p>
            <a:pPr marL="457200" lvl="1" indent="0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endParaRPr sz="2400" cap="none"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ro-RO" sz="2400" cap="none">
                <a:latin typeface="Arial"/>
                <a:ea typeface="Arial"/>
                <a:cs typeface="Arial"/>
                <a:sym typeface="Arial"/>
              </a:rPr>
              <a:t>Satisfacerrea acestora duce la</a:t>
            </a:r>
            <a:endParaRPr/>
          </a:p>
          <a:p>
            <a:pPr marL="457200" lvl="1" indent="0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ro-RO" sz="2400" cap="none">
                <a:latin typeface="Arial"/>
                <a:ea typeface="Arial"/>
                <a:cs typeface="Arial"/>
                <a:sym typeface="Arial"/>
              </a:rPr>
              <a:t> autodeterminare și motivație</a:t>
            </a:r>
            <a:endParaRPr sz="2400" cap="none"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SzPct val="85000"/>
              <a:buNone/>
            </a:pPr>
            <a:r>
              <a:rPr lang="ro-RO" sz="2400" cap="none">
                <a:latin typeface="Arial"/>
                <a:ea typeface="Arial"/>
                <a:cs typeface="Arial"/>
                <a:sym typeface="Arial"/>
              </a:rPr>
              <a:t> intrinsecă.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1" indent="0" algn="l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SzPct val="63749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g3a30a79366e_0_2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70261" y="2444881"/>
            <a:ext cx="4568428" cy="3120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55"/>
              <a:buFont typeface="Calibri"/>
              <a:buNone/>
            </a:pPr>
            <a:r>
              <a:rPr lang="ro-RO" sz="3555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Motivația -teoria autodeterminarii</a:t>
            </a:r>
            <a:endParaRPr sz="3555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20"/>
              <a:buFont typeface="Noto Sans Symbols"/>
              <a:buNone/>
            </a:pPr>
            <a:endParaRPr sz="1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158" name="Google Shape;158;p5" descr="sdt-motivation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04800" y="2438400"/>
            <a:ext cx="8127365" cy="3656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 txBox="1">
            <a:spLocks noGrp="1"/>
          </p:cNvSpPr>
          <p:nvPr>
            <p:ph type="title"/>
          </p:nvPr>
        </p:nvSpPr>
        <p:spPr>
          <a:xfrm>
            <a:off x="152400" y="914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 fontScale="9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ro-RO"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Procese implicate în motivația pentru învățare </a:t>
            </a:r>
            <a:endParaRPr sz="500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 txBox="1">
            <a:spLocks noGrp="1"/>
          </p:cNvSpPr>
          <p:nvPr>
            <p:ph type="body" idx="1"/>
          </p:nvPr>
        </p:nvSpPr>
        <p:spPr>
          <a:xfrm>
            <a:off x="457200" y="2667000"/>
            <a:ext cx="82296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None/>
            </a:pPr>
            <a:r>
              <a:rPr lang="ro-RO" sz="2600" b="1" i="0" u="none" strike="noStrike" cap="none">
                <a:solidFill>
                  <a:srgbClr val="21B2C8"/>
                </a:solidFill>
                <a:latin typeface="Constantia"/>
                <a:ea typeface="Constantia"/>
                <a:cs typeface="Constantia"/>
                <a:sym typeface="Constantia"/>
              </a:rPr>
              <a:t>2. </a:t>
            </a:r>
            <a:r>
              <a:rPr lang="ro-RO" sz="2600" b="1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Atribuirile: </a:t>
            </a: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cogniții prin care oamenii identifică cauze ale comportamentului lor.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710"/>
              <a:buFont typeface="Noto Sans Symbols"/>
              <a:buNone/>
            </a:pPr>
            <a:endParaRPr sz="18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None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Trei dimensiuni ale atribuirilor cauzale </a:t>
            </a:r>
            <a:r>
              <a:rPr lang="ro-RO" sz="1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(Weiner, 2010):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274320" marR="0" lvl="0" indent="-27432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locusul de control (intern/extern)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274320" marR="0" lvl="0" indent="-27432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stabilitatea (stabil/instabil) 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274320" marR="0" lvl="0" indent="-27432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controlabilitatea (controlabil/incontrolabil)</a:t>
            </a:r>
            <a:endParaRPr sz="26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>
            <a:spLocks noGrp="1"/>
          </p:cNvSpPr>
          <p:nvPr>
            <p:ph type="body" idx="1"/>
          </p:nvPr>
        </p:nvSpPr>
        <p:spPr>
          <a:xfrm>
            <a:off x="533400" y="23622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None/>
            </a:pPr>
            <a:r>
              <a:rPr lang="ro-RO" sz="2600" b="1" i="0" u="none" strike="noStrike" cap="none">
                <a:solidFill>
                  <a:srgbClr val="21B2C8"/>
                </a:solidFill>
                <a:latin typeface="Constantia"/>
                <a:ea typeface="Constantia"/>
                <a:cs typeface="Constantia"/>
                <a:sym typeface="Constantia"/>
              </a:rPr>
              <a:t>3. </a:t>
            </a:r>
            <a:r>
              <a:rPr lang="ro-RO" sz="2600" b="1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Orientarea spre competență versus orientarea spre performanță</a:t>
            </a:r>
            <a:endParaRPr sz="2600" b="1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950"/>
              <a:buFont typeface="Noto Sans Symbols"/>
              <a:buNone/>
            </a:pPr>
            <a:endParaRPr sz="10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274320" marR="0" lvl="0" indent="-27432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280"/>
              <a:buFont typeface="Noto Sans Symbols"/>
              <a:buChar char="⚫"/>
            </a:pPr>
            <a:r>
              <a:rPr lang="ro-RO" sz="24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Elevii cu orientare spre competență: concentrați asupra sarcinii, asupra strategiilor și procesului de învățare, fiind provocați de sarcinile dificile </a:t>
            </a:r>
            <a:r>
              <a:rPr lang="ro-RO" sz="1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(Valanne Henderson &amp; Carol Dweck 1990).</a:t>
            </a:r>
            <a:r>
              <a:rPr lang="ro-RO" sz="24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endParaRPr sz="24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950"/>
              <a:buFont typeface="Noto Sans Symbols"/>
              <a:buNone/>
            </a:pPr>
            <a:endParaRPr sz="10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274320" marR="0" lvl="0" indent="-27432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280"/>
              <a:buFont typeface="Noto Sans Symbols"/>
              <a:buChar char="⚫"/>
            </a:pPr>
            <a:r>
              <a:rPr lang="ro-RO" sz="24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Cei cu orientare spre performanță se concentrează asupra rezultatelor.</a:t>
            </a:r>
            <a:endParaRPr sz="24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170" name="Google Shape;17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71450" y="585788"/>
            <a:ext cx="9486900" cy="1776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 txBox="1">
            <a:spLocks noGrp="1"/>
          </p:cNvSpPr>
          <p:nvPr>
            <p:ph type="body" idx="1"/>
          </p:nvPr>
        </p:nvSpPr>
        <p:spPr>
          <a:xfrm>
            <a:off x="593725" y="2209800"/>
            <a:ext cx="8229600" cy="438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rPr lang="ro-RO" sz="2400" b="1">
                <a:solidFill>
                  <a:srgbClr val="21B2C9"/>
                </a:solidFill>
              </a:rPr>
              <a:t>4</a:t>
            </a:r>
            <a:r>
              <a:rPr lang="ro-RO" b="1">
                <a:solidFill>
                  <a:srgbClr val="21B2C9"/>
                </a:solidFill>
              </a:rPr>
              <a:t>. </a:t>
            </a:r>
            <a:r>
              <a:rPr lang="ro-RO" b="1">
                <a:solidFill>
                  <a:srgbClr val="004E6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Autoeficacitatea -</a:t>
            </a:r>
            <a:r>
              <a:rPr lang="ro-RO">
                <a:solidFill>
                  <a:srgbClr val="004E6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convingerea unei persoane în capacitățile sale de a-și mobiliza resursele</a:t>
            </a:r>
            <a:r>
              <a:rPr lang="ro-RO">
                <a:solidFill>
                  <a:srgbClr val="004E6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o-RO">
                <a:solidFill>
                  <a:srgbClr val="004E6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cognitive și motivaționale necesare pentru îndeplinirea cu succes a anumitor sarcini</a:t>
            </a:r>
            <a:r>
              <a:rPr lang="ro-RO" b="1">
                <a:solidFill>
                  <a:srgbClr val="004E6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o-RO">
                <a:solidFill>
                  <a:srgbClr val="004E6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(Bandura, 1989).</a:t>
            </a:r>
            <a:endParaRPr>
              <a:solidFill>
                <a:srgbClr val="004E6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endParaRPr>
              <a:solidFill>
                <a:srgbClr val="004E6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-156845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ro-RO">
                <a:solidFill>
                  <a:srgbClr val="004E6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Autoeficactatea și dobândirea de competențe cresc odată cu stabilirea de scopuri specifice, proximale și stimulante (Bandura, 1997; Schunk, 2011). </a:t>
            </a:r>
            <a:endParaRPr>
              <a:solidFill>
                <a:srgbClr val="004E6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</a:pPr>
            <a:endParaRPr sz="2400"/>
          </a:p>
        </p:txBody>
      </p:sp>
      <p:pic>
        <p:nvPicPr>
          <p:cNvPr id="176" name="Google Shape;17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4925" y="685800"/>
            <a:ext cx="9486900" cy="177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xfrm>
            <a:off x="22225" y="914400"/>
            <a:ext cx="8991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4500"/>
              <a:buFont typeface="Calibri"/>
              <a:buNone/>
            </a:pPr>
            <a:r>
              <a:rPr lang="ro-RO" sz="4500">
                <a:solidFill>
                  <a:srgbClr val="04617B"/>
                </a:solidFill>
              </a:rPr>
              <a:t>Procese implicate în motivația pentru învățare </a:t>
            </a:r>
            <a:endParaRPr sz="4500"/>
          </a:p>
        </p:txBody>
      </p:sp>
      <p:sp>
        <p:nvSpPr>
          <p:cNvPr id="182" name="Google Shape;182;p9"/>
          <p:cNvSpPr txBox="1">
            <a:spLocks noGrp="1"/>
          </p:cNvSpPr>
          <p:nvPr>
            <p:ph type="body" idx="1"/>
          </p:nvPr>
        </p:nvSpPr>
        <p:spPr>
          <a:xfrm>
            <a:off x="304800" y="1909763"/>
            <a:ext cx="8534400" cy="492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FF99"/>
              </a:buClr>
              <a:buSzPts val="2240"/>
              <a:buNone/>
            </a:pPr>
            <a:r>
              <a:rPr lang="ro-RO" sz="2800" b="1">
                <a:solidFill>
                  <a:srgbClr val="21B2C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ro-RO" sz="2400" b="1">
                <a:solidFill>
                  <a:srgbClr val="21B2C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ro-RO" sz="2400" b="1">
                <a:solidFill>
                  <a:srgbClr val="004E6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Scopurile în învățare</a:t>
            </a:r>
            <a:endParaRPr sz="2400" b="1">
              <a:solidFill>
                <a:srgbClr val="004E6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ts val="1600"/>
              <a:buNone/>
            </a:pPr>
            <a:r>
              <a:rPr lang="ro-RO" sz="2000">
                <a:solidFill>
                  <a:srgbClr val="004E6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Scopul se referă la un proces de orientare conștientă a comportamentului spre atingerea unui obiectiv.</a:t>
            </a:r>
            <a:endParaRPr sz="2000">
              <a:solidFill>
                <a:srgbClr val="004E6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0080" lvl="1" indent="-247014" algn="just" rtl="0">
              <a:lnSpc>
                <a:spcPct val="170000"/>
              </a:lnSpc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1920"/>
              <a:buFont typeface="Noto Sans Symbols"/>
              <a:buChar char="❖"/>
            </a:pPr>
            <a:r>
              <a:rPr lang="ro-RO" b="1">
                <a:solidFill>
                  <a:srgbClr val="004E6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Scopuri de performanță vs. scopuri de învățare </a:t>
            </a:r>
            <a:endParaRPr b="1">
              <a:solidFill>
                <a:srgbClr val="004E6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0080" lvl="1" indent="-247015" algn="just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Noto Sans Symbols"/>
              <a:buChar char="⚫"/>
            </a:pPr>
            <a:r>
              <a:rPr lang="ro-RO" sz="2000">
                <a:solidFill>
                  <a:srgbClr val="004E6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elevii cu scopuri de performanță: motivați de obținerea notelor bune (motivație extrinsecă)</a:t>
            </a:r>
            <a:endParaRPr sz="2000">
              <a:solidFill>
                <a:srgbClr val="004E6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0080" lvl="1" indent="-247015" algn="just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ts val="1600"/>
              <a:buChar char="⚫"/>
            </a:pPr>
            <a:r>
              <a:rPr lang="ro-RO" sz="2000">
                <a:solidFill>
                  <a:srgbClr val="004E6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elevii cu scopuri de învățare: motivați sa învețe cu adevărat ceva (dezvoltare personală – motivație intrinsecă). </a:t>
            </a:r>
            <a:endParaRPr sz="2000">
              <a:solidFill>
                <a:srgbClr val="004E6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40080" lvl="1" indent="-247015" algn="r" rtl="0">
              <a:lnSpc>
                <a:spcPct val="170000"/>
              </a:lnSpc>
              <a:spcBef>
                <a:spcPts val="400"/>
              </a:spcBef>
              <a:spcAft>
                <a:spcPts val="0"/>
              </a:spcAft>
              <a:buClr>
                <a:srgbClr val="00B0F0"/>
              </a:buClr>
              <a:buSzPts val="1600"/>
              <a:buNone/>
            </a:pPr>
            <a:r>
              <a:rPr lang="ro-RO" sz="2000">
                <a:solidFill>
                  <a:srgbClr val="004E6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(Dweck &amp; Elliott,1983)</a:t>
            </a:r>
            <a:endParaRPr sz="2000">
              <a:solidFill>
                <a:srgbClr val="004E6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520"/>
              </a:spcBef>
              <a:spcAft>
                <a:spcPts val="0"/>
              </a:spcAft>
              <a:buSzPts val="2470"/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 txBox="1">
            <a:spLocks noGrp="1"/>
          </p:cNvSpPr>
          <p:nvPr>
            <p:ph type="title"/>
          </p:nvPr>
        </p:nvSpPr>
        <p:spPr>
          <a:xfrm>
            <a:off x="152400" y="990600"/>
            <a:ext cx="883920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4500"/>
              <a:buFont typeface="Calibri"/>
              <a:buNone/>
            </a:pPr>
            <a:r>
              <a:rPr lang="ro-RO" sz="4500">
                <a:solidFill>
                  <a:srgbClr val="04617B"/>
                </a:solidFill>
              </a:rPr>
              <a:t>Procese implicate în motivația pentru învățare </a:t>
            </a:r>
            <a:endParaRPr sz="4500"/>
          </a:p>
        </p:txBody>
      </p:sp>
      <p:sp>
        <p:nvSpPr>
          <p:cNvPr id="188" name="Google Shape;188;p10"/>
          <p:cNvSpPr txBox="1">
            <a:spLocks noGrp="1"/>
          </p:cNvSpPr>
          <p:nvPr>
            <p:ph type="body" idx="1"/>
          </p:nvPr>
        </p:nvSpPr>
        <p:spPr>
          <a:xfrm>
            <a:off x="381000" y="2286000"/>
            <a:ext cx="8229600" cy="438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Noto Sans Symbols"/>
              <a:buNone/>
            </a:pPr>
            <a:r>
              <a:rPr lang="ro-RO" sz="2600" b="1" i="0" u="none" strike="noStrike" cap="none">
                <a:solidFill>
                  <a:srgbClr val="00B0F0"/>
                </a:solidFill>
                <a:latin typeface="Constantia"/>
                <a:ea typeface="Constantia"/>
                <a:cs typeface="Constantia"/>
                <a:sym typeface="Constantia"/>
              </a:rPr>
              <a:t>6. </a:t>
            </a:r>
            <a:r>
              <a:rPr lang="ro-RO" sz="2600" b="1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Expectanțele elevilor față de reușită</a:t>
            </a: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: cât de mult vor învăța elevii depinde de cât de mult anticipează ca vor obține </a:t>
            </a:r>
            <a:r>
              <a:rPr lang="ro-RO" sz="17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(Cavazos &amp; Cavazos, 2010). 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Noto Sans Symbols"/>
              <a:buNone/>
            </a:pPr>
            <a:endParaRPr sz="13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Noto Sans Symbols"/>
              <a:buNone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Expectanțele sunt realizate în funcție de: 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274320" marR="0" lvl="0" indent="-274320" algn="just" rtl="0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Noto Sans Symbols"/>
              <a:buChar char="⚫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cât de buni sunt într-o activitate specifică 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274320" marR="0" lvl="0" indent="-274320" algn="just" rtl="0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Noto Sans Symbols"/>
              <a:buChar char="⚫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cât de buni sunt în comparație cu alții 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274320" marR="0" lvl="0" indent="-274320" algn="just" rtl="0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Noto Sans Symbols"/>
              <a:buChar char="⚫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cât de buni sunt în comparație cu propria performanță în alte activități </a:t>
            </a:r>
            <a:r>
              <a:rPr lang="ro-RO" sz="17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(Eccles, 1987, 1993) </a:t>
            </a:r>
            <a:endParaRPr sz="17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Noto Sans Symbols"/>
              <a:buNone/>
            </a:pPr>
            <a:endParaRPr sz="13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Noto Sans Symbols"/>
              <a:buNone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Expectantele profesorilor influențează, de asemenea motivația și achizițiile elevilor. 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 txBox="1">
            <a:spLocks noGrp="1"/>
          </p:cNvSpPr>
          <p:nvPr>
            <p:ph type="title"/>
          </p:nvPr>
        </p:nvSpPr>
        <p:spPr>
          <a:xfrm>
            <a:off x="533400" y="457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ro-RO"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Factori care determină motivația</a:t>
            </a:r>
            <a:endParaRPr sz="500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 txBox="1">
            <a:spLocks noGrp="1"/>
          </p:cNvSpPr>
          <p:nvPr>
            <p:ph type="body" idx="1"/>
          </p:nvPr>
        </p:nvSpPr>
        <p:spPr>
          <a:xfrm>
            <a:off x="457200" y="2133600"/>
            <a:ext cx="8229600" cy="438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None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Un complex de factori: 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None/>
            </a:pP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274320" marR="0" lvl="0" indent="-27432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✔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 factori sociali și culturali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274320" marR="0" lvl="0" indent="-27432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✔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factori contextuali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274320" marR="0" lvl="0" indent="-27432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✔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convingerile si valorile personale 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 txBox="1">
            <a:spLocks noGrp="1"/>
          </p:cNvSpPr>
          <p:nvPr>
            <p:ph type="title"/>
          </p:nvPr>
        </p:nvSpPr>
        <p:spPr>
          <a:xfrm>
            <a:off x="533400" y="1143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Calibri"/>
              <a:buNone/>
            </a:pPr>
            <a:r>
              <a:rPr lang="ro-RO" sz="4500"/>
              <a:t>Factori sociali și culturali</a:t>
            </a:r>
            <a:endParaRPr sz="4500"/>
          </a:p>
        </p:txBody>
      </p:sp>
      <p:sp>
        <p:nvSpPr>
          <p:cNvPr id="200" name="Google Shape;200;p12"/>
          <p:cNvSpPr txBox="1">
            <a:spLocks noGrp="1"/>
          </p:cNvSpPr>
          <p:nvPr>
            <p:ph type="body" idx="1"/>
          </p:nvPr>
        </p:nvSpPr>
        <p:spPr>
          <a:xfrm>
            <a:off x="304800" y="2895600"/>
            <a:ext cx="8229600" cy="438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marR="0" lvl="0" indent="-27432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⮚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 valoarea acordată învățării de tip școlar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274320" marR="0" lvl="0" indent="-27432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⮚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 tipurile de interacțiune încurajate în activitatea de învățare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274320" marR="0" lvl="0" indent="-27432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⮚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 concepțiile despre competență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274320" marR="0" lvl="0" indent="-27432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⮚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 experiențele de învățare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 txBox="1">
            <a:spLocks noGrp="1"/>
          </p:cNvSpPr>
          <p:nvPr>
            <p:ph type="title"/>
          </p:nvPr>
        </p:nvSpPr>
        <p:spPr>
          <a:xfrm>
            <a:off x="609600" y="914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Calibri"/>
              <a:buNone/>
            </a:pPr>
            <a:r>
              <a:rPr lang="ro-RO" sz="4500"/>
              <a:t>Factori contextuali</a:t>
            </a:r>
            <a:endParaRPr sz="4500"/>
          </a:p>
        </p:txBody>
      </p:sp>
      <p:sp>
        <p:nvSpPr>
          <p:cNvPr id="206" name="Google Shape;206;p13"/>
          <p:cNvSpPr txBox="1">
            <a:spLocks noGrp="1"/>
          </p:cNvSpPr>
          <p:nvPr>
            <p:ph type="body" idx="1"/>
          </p:nvPr>
        </p:nvSpPr>
        <p:spPr>
          <a:xfrm>
            <a:off x="533400" y="2895600"/>
            <a:ext cx="8229600" cy="438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marR="0" lvl="0" indent="-27432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⮚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 tipul sarcinilor de învățare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274320" marR="0" lvl="0" indent="-27432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⮚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 relația de autoritate în clasă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274320" marR="0" lvl="0" indent="-27432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⮚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 utilizarea formală și informală a recompenselor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274320" marR="0" lvl="0" indent="-27432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⮚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 modalitatea de evaluare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274320" marR="0" lvl="0" indent="-27432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⮚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 timpul acordat unei sarcini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274320" marR="0" lvl="0" indent="-27432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⮚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 modalitatea de grupare a elevilor 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 txBox="1">
            <a:spLocks noGrp="1"/>
          </p:cNvSpPr>
          <p:nvPr>
            <p:ph type="title"/>
          </p:nvPr>
        </p:nvSpPr>
        <p:spPr>
          <a:xfrm>
            <a:off x="609600" y="1143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ro-RO"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Convingerile și valorile personale</a:t>
            </a:r>
            <a:endParaRPr sz="500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 txBox="1">
            <a:spLocks noGrp="1"/>
          </p:cNvSpPr>
          <p:nvPr>
            <p:ph type="body" idx="1"/>
          </p:nvPr>
        </p:nvSpPr>
        <p:spPr>
          <a:xfrm>
            <a:off x="533400" y="2895600"/>
            <a:ext cx="8229600" cy="438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marR="0" lvl="0" indent="-2743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⮚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 expectanțe legate de autoeficacitatea în sarcină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274320" marR="0" lvl="0" indent="-27432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⮚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 teoriile proprii despre inteligență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274320" marR="0" lvl="0" indent="-27432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⮚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 tipul atribuirilor pe care le fac elevii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274320" marR="0" lvl="0" indent="-27432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⮚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 locusul de control pentru învățare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marL="274320" marR="0" lvl="0" indent="-27432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⮚"/>
            </a:pPr>
            <a:r>
              <a:rPr lang="ro-RO" sz="2600" b="0" i="0" u="none" strike="noStrike" cap="none">
                <a:solidFill>
                  <a:srgbClr val="004E6C"/>
                </a:solidFill>
                <a:latin typeface="Constantia"/>
                <a:ea typeface="Constantia"/>
                <a:cs typeface="Constantia"/>
                <a:sym typeface="Constantia"/>
              </a:rPr>
              <a:t> valoarea acordată sarcinii</a:t>
            </a:r>
            <a:endParaRPr sz="2600" b="0" i="0" u="none" strike="noStrike" cap="none">
              <a:solidFill>
                <a:srgbClr val="004E6C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ro-RO"/>
              <a:t>Formularea obiectivelor SMART</a:t>
            </a:r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body" idx="1"/>
          </p:nvPr>
        </p:nvSpPr>
        <p:spPr>
          <a:xfrm>
            <a:off x="457200" y="2362200"/>
            <a:ext cx="8229600" cy="438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ro-RO" b="1">
                <a:solidFill>
                  <a:srgbClr val="004E6D"/>
                </a:solidFill>
              </a:rPr>
              <a:t>S</a:t>
            </a:r>
            <a:r>
              <a:rPr lang="ro-RO">
                <a:solidFill>
                  <a:srgbClr val="004E6D"/>
                </a:solidFill>
              </a:rPr>
              <a:t> – specific; </a:t>
            </a:r>
            <a:endParaRPr>
              <a:solidFill>
                <a:srgbClr val="004E6D"/>
              </a:solidFill>
            </a:endParaRPr>
          </a:p>
          <a:p>
            <a:pPr marL="0" lvl="0" indent="0" algn="l" rtl="0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ro-RO" b="1">
                <a:solidFill>
                  <a:srgbClr val="004E6D"/>
                </a:solidFill>
              </a:rPr>
              <a:t>M</a:t>
            </a:r>
            <a:r>
              <a:rPr lang="ro-RO">
                <a:solidFill>
                  <a:srgbClr val="004E6D"/>
                </a:solidFill>
              </a:rPr>
              <a:t> – măsurabil; </a:t>
            </a:r>
            <a:endParaRPr>
              <a:solidFill>
                <a:srgbClr val="004E6D"/>
              </a:solidFill>
            </a:endParaRPr>
          </a:p>
          <a:p>
            <a:pPr marL="0" lvl="0" indent="0" algn="l" rtl="0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ro-RO" b="1">
                <a:solidFill>
                  <a:srgbClr val="004E6D"/>
                </a:solidFill>
              </a:rPr>
              <a:t>A</a:t>
            </a:r>
            <a:r>
              <a:rPr lang="ro-RO">
                <a:solidFill>
                  <a:srgbClr val="004E6D"/>
                </a:solidFill>
              </a:rPr>
              <a:t> – (de) atins/abordabil; </a:t>
            </a:r>
            <a:endParaRPr>
              <a:solidFill>
                <a:srgbClr val="004E6D"/>
              </a:solidFill>
            </a:endParaRPr>
          </a:p>
          <a:p>
            <a:pPr marL="0" lvl="0" indent="0" algn="l" rtl="0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ro-RO" b="1">
                <a:solidFill>
                  <a:srgbClr val="004E6D"/>
                </a:solidFill>
              </a:rPr>
              <a:t>R</a:t>
            </a:r>
            <a:r>
              <a:rPr lang="ro-RO">
                <a:solidFill>
                  <a:srgbClr val="004E6D"/>
                </a:solidFill>
              </a:rPr>
              <a:t> – relevant; </a:t>
            </a:r>
            <a:endParaRPr>
              <a:solidFill>
                <a:srgbClr val="004E6D"/>
              </a:solidFill>
            </a:endParaRPr>
          </a:p>
          <a:p>
            <a:pPr marL="0" lvl="0" indent="0" algn="l" rtl="0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ro-RO" b="1">
                <a:solidFill>
                  <a:srgbClr val="004E6D"/>
                </a:solidFill>
              </a:rPr>
              <a:t>T</a:t>
            </a:r>
            <a:r>
              <a:rPr lang="ro-RO">
                <a:solidFill>
                  <a:srgbClr val="004E6D"/>
                </a:solidFill>
              </a:rPr>
              <a:t> – încadrat în timp</a:t>
            </a:r>
            <a:endParaRPr>
              <a:solidFill>
                <a:srgbClr val="004E6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04CC3ACF4D0747AA1FE12D19DCF021" ma:contentTypeVersion="3" ma:contentTypeDescription="Create a new document." ma:contentTypeScope="" ma:versionID="13940d62259c4656a5388feadf40f966">
  <xsd:schema xmlns:xsd="http://www.w3.org/2001/XMLSchema" xmlns:xs="http://www.w3.org/2001/XMLSchema" xmlns:p="http://schemas.microsoft.com/office/2006/metadata/properties" xmlns:ns2="fa0e77c9-1a0d-4ee8-b1f5-4ac48c790630" targetNamespace="http://schemas.microsoft.com/office/2006/metadata/properties" ma:root="true" ma:fieldsID="cbe209dc082bf0fc5ac081fd016787e0" ns2:_="">
    <xsd:import namespace="fa0e77c9-1a0d-4ee8-b1f5-4ac48c7906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0e77c9-1a0d-4ee8-b1f5-4ac48c7906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C541F4E-6DB1-4FED-8AAA-C705BF1A5F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0e77c9-1a0d-4ee8-b1f5-4ac48c7906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6AEA13C-1FAF-459F-B21B-E1A0519D135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185E231-57D8-405A-AA65-D734D6416F9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17</Slides>
  <Notes>17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Flow</vt:lpstr>
      <vt:lpstr>Flow</vt:lpstr>
      <vt:lpstr>Motivația </vt:lpstr>
      <vt:lpstr>Ce este motivația? </vt:lpstr>
      <vt:lpstr>SELF-DETERMINATION THEORY (DECI &amp; RYAN, 2000)</vt:lpstr>
      <vt:lpstr>Motivația școlară </vt:lpstr>
      <vt:lpstr>Învățare vs. motivație </vt:lpstr>
      <vt:lpstr>SELF-DETERMINATION THEORY  (DECI &amp;RYAN, 2000)</vt:lpstr>
      <vt:lpstr>Motivația -teoria autodeterminarii</vt:lpstr>
      <vt:lpstr>Procese implicate în motivația pentru învățare </vt:lpstr>
      <vt:lpstr>PowerPoint Presentation</vt:lpstr>
      <vt:lpstr>PowerPoint Presentation</vt:lpstr>
      <vt:lpstr>Procese implicate în motivația pentru învățare </vt:lpstr>
      <vt:lpstr>Procese implicate în motivația pentru învățare </vt:lpstr>
      <vt:lpstr>Factori care determină motivația</vt:lpstr>
      <vt:lpstr>Factori sociali și culturali</vt:lpstr>
      <vt:lpstr>Factori contextuali</vt:lpstr>
      <vt:lpstr>Convingerile și valorile personale</vt:lpstr>
      <vt:lpstr>Formularea obiectivelor SMART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2013-12-02T06:38:01Z</dcterms:created>
  <dcterms:modified xsi:type="dcterms:W3CDTF">2025-12-22T16:48:07Z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E53165E0DC834A9AB675D267F49BF19E_12</vt:lpwstr>
  </property>
  <property fmtid="{D5CDD505-2E9C-101B-9397-08002B2CF9AE}" pid="3" name="KSOProductBuildVer">
    <vt:lpwstr>1033-12.2.0.13266</vt:lpwstr>
  </property>
  <property fmtid="{D5CDD505-2E9C-101B-9397-08002B2CF9AE}" pid="4" name="ContentTypeId">
    <vt:lpwstr>0x0101008904CC3ACF4D0747AA1FE12D19DCF021</vt:lpwstr>
  </property>
</Properties>
</file>