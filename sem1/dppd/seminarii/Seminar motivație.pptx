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60" r:id="rId8"/>
    <p:sldId id="261" r:id="rId9"/>
    <p:sldId id="262" r:id="rId10"/>
    <p:sldId id="263" r:id="rId11"/>
    <p:sldId id="266" r:id="rId12"/>
    <p:sldId id="264" r:id="rId13"/>
    <p:sldId id="267" r:id="rId14"/>
  </p:sldIdLst>
  <p:sldSz cx="18288000" cy="10287000"/>
  <p:notesSz cx="6858000" cy="9144000"/>
  <p:embeddedFontLst>
    <p:embeddedFont>
      <p:font typeface="Carelia" panose="020B0604020202020204" charset="0"/>
      <p:regular r:id="rId15"/>
    </p:embeddedFont>
    <p:embeddedFont>
      <p:font typeface="Dosis" panose="020B0604020202020204" charset="0"/>
      <p:regular r:id="rId16"/>
      <p:bold r:id="rId17"/>
    </p:embeddedFont>
    <p:embeddedFont>
      <p:font typeface="Dosis Bold" panose="020B060402020202020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034ACB-C43F-6B6C-6495-41E5B48D98D7}" v="1" dt="2026-01-21T09:56:32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US COTOROBAI" userId="S::marius.cotorobai@stud.ubbcluj.ro::b5f2f589-6c9e-489c-9fa8-958eb61f7ccd" providerId="AD" clId="Web-{89034ACB-C43F-6B6C-6495-41E5B48D98D7}"/>
    <pc:docChg chg="delSld">
      <pc:chgData name="MARIUS COTOROBAI" userId="S::marius.cotorobai@stud.ubbcluj.ro::b5f2f589-6c9e-489c-9fa8-958eb61f7ccd" providerId="AD" clId="Web-{89034ACB-C43F-6B6C-6495-41E5B48D98D7}" dt="2026-01-21T09:56:32.671" v="0"/>
      <pc:docMkLst>
        <pc:docMk/>
      </pc:docMkLst>
      <pc:sldChg chg="del">
        <pc:chgData name="MARIUS COTOROBAI" userId="S::marius.cotorobai@stud.ubbcluj.ro::b5f2f589-6c9e-489c-9fa8-958eb61f7ccd" providerId="AD" clId="Web-{89034ACB-C43F-6B6C-6495-41E5B48D98D7}" dt="2026-01-21T09:56:32.671" v="0"/>
        <pc:sldMkLst>
          <pc:docMk/>
          <pc:sldMk cId="0" sldId="259"/>
        </pc:sldMkLst>
      </pc:sldChg>
    </pc:docChg>
  </pc:docChgLst>
  <pc:docChgLst>
    <pc:chgData name="IOANA NEMEȘ" userId="S::ioana.nemes@stud.ubbcluj.ro::1d5551e3-3bfb-49e6-8769-c03ffbb41d11" providerId="AD" clId="Web-{CB13521F-6FA8-606A-BFFF-3DF937F11F7B}"/>
    <pc:docChg chg="modSld">
      <pc:chgData name="IOANA NEMEȘ" userId="S::ioana.nemes@stud.ubbcluj.ro::1d5551e3-3bfb-49e6-8769-c03ffbb41d11" providerId="AD" clId="Web-{CB13521F-6FA8-606A-BFFF-3DF937F11F7B}" dt="2026-01-06T20:13:07.168" v="13" actId="20577"/>
      <pc:docMkLst>
        <pc:docMk/>
      </pc:docMkLst>
      <pc:sldChg chg="modSp">
        <pc:chgData name="IOANA NEMEȘ" userId="S::ioana.nemes@stud.ubbcluj.ro::1d5551e3-3bfb-49e6-8769-c03ffbb41d11" providerId="AD" clId="Web-{CB13521F-6FA8-606A-BFFF-3DF937F11F7B}" dt="2026-01-06T20:11:30.320" v="4" actId="20577"/>
        <pc:sldMkLst>
          <pc:docMk/>
          <pc:sldMk cId="0" sldId="258"/>
        </pc:sldMkLst>
        <pc:spChg chg="mod">
          <ac:chgData name="IOANA NEMEȘ" userId="S::ioana.nemes@stud.ubbcluj.ro::1d5551e3-3bfb-49e6-8769-c03ffbb41d11" providerId="AD" clId="Web-{CB13521F-6FA8-606A-BFFF-3DF937F11F7B}" dt="2026-01-06T20:11:30.320" v="4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IOANA NEMEȘ" userId="S::ioana.nemes@stud.ubbcluj.ro::1d5551e3-3bfb-49e6-8769-c03ffbb41d11" providerId="AD" clId="Web-{CB13521F-6FA8-606A-BFFF-3DF937F11F7B}" dt="2026-01-06T20:11:22.788" v="2" actId="20577"/>
          <ac:spMkLst>
            <pc:docMk/>
            <pc:sldMk cId="0" sldId="258"/>
            <ac:spMk id="11" creationId="{00000000-0000-0000-0000-000000000000}"/>
          </ac:spMkLst>
        </pc:spChg>
      </pc:sldChg>
      <pc:sldChg chg="modSp">
        <pc:chgData name="IOANA NEMEȘ" userId="S::ioana.nemes@stud.ubbcluj.ro::1d5551e3-3bfb-49e6-8769-c03ffbb41d11" providerId="AD" clId="Web-{CB13521F-6FA8-606A-BFFF-3DF937F11F7B}" dt="2026-01-06T20:12:01.243" v="7" actId="20577"/>
        <pc:sldMkLst>
          <pc:docMk/>
          <pc:sldMk cId="0" sldId="259"/>
        </pc:sldMkLst>
        <pc:spChg chg="mod">
          <ac:chgData name="IOANA NEMEȘ" userId="S::ioana.nemes@stud.ubbcluj.ro::1d5551e3-3bfb-49e6-8769-c03ffbb41d11" providerId="AD" clId="Web-{CB13521F-6FA8-606A-BFFF-3DF937F11F7B}" dt="2026-01-06T20:12:01.243" v="7" actId="20577"/>
          <ac:spMkLst>
            <pc:docMk/>
            <pc:sldMk cId="0" sldId="259"/>
            <ac:spMk id="11" creationId="{00000000-0000-0000-0000-000000000000}"/>
          </ac:spMkLst>
        </pc:spChg>
      </pc:sldChg>
      <pc:sldChg chg="modSp">
        <pc:chgData name="IOANA NEMEȘ" userId="S::ioana.nemes@stud.ubbcluj.ro::1d5551e3-3bfb-49e6-8769-c03ffbb41d11" providerId="AD" clId="Web-{CB13521F-6FA8-606A-BFFF-3DF937F11F7B}" dt="2026-01-06T20:12:33.057" v="11" actId="20577"/>
        <pc:sldMkLst>
          <pc:docMk/>
          <pc:sldMk cId="0" sldId="260"/>
        </pc:sldMkLst>
        <pc:spChg chg="mod">
          <ac:chgData name="IOANA NEMEȘ" userId="S::ioana.nemes@stud.ubbcluj.ro::1d5551e3-3bfb-49e6-8769-c03ffbb41d11" providerId="AD" clId="Web-{CB13521F-6FA8-606A-BFFF-3DF937F11F7B}" dt="2026-01-06T20:12:33.057" v="11" actId="20577"/>
          <ac:spMkLst>
            <pc:docMk/>
            <pc:sldMk cId="0" sldId="260"/>
            <ac:spMk id="9" creationId="{00000000-0000-0000-0000-000000000000}"/>
          </ac:spMkLst>
        </pc:spChg>
      </pc:sldChg>
      <pc:sldChg chg="modSp">
        <pc:chgData name="IOANA NEMEȘ" userId="S::ioana.nemes@stud.ubbcluj.ro::1d5551e3-3bfb-49e6-8769-c03ffbb41d11" providerId="AD" clId="Web-{CB13521F-6FA8-606A-BFFF-3DF937F11F7B}" dt="2026-01-06T20:13:07.168" v="13" actId="20577"/>
        <pc:sldMkLst>
          <pc:docMk/>
          <pc:sldMk cId="480379234" sldId="266"/>
        </pc:sldMkLst>
        <pc:spChg chg="mod">
          <ac:chgData name="IOANA NEMEȘ" userId="S::ioana.nemes@stud.ubbcluj.ro::1d5551e3-3bfb-49e6-8769-c03ffbb41d11" providerId="AD" clId="Web-{CB13521F-6FA8-606A-BFFF-3DF937F11F7B}" dt="2026-01-06T20:13:07.168" v="13" actId="20577"/>
          <ac:spMkLst>
            <pc:docMk/>
            <pc:sldMk cId="480379234" sldId="266"/>
            <ac:spMk id="9" creationId="{AA08757E-2BD5-75B8-ECC5-12622D7F646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12" Type="http://schemas.openxmlformats.org/officeDocument/2006/relationships/image" Target="../media/image2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20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13.sv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11" Type="http://schemas.openxmlformats.org/officeDocument/2006/relationships/hyperlink" Target="https://forms.office.com/e/tf9VqfvyQi" TargetMode="External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34.sv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63033" y="6195861"/>
            <a:ext cx="6914093" cy="5028432"/>
          </a:xfrm>
          <a:custGeom>
            <a:avLst/>
            <a:gdLst/>
            <a:ahLst/>
            <a:cxnLst/>
            <a:rect l="l" t="t" r="r" b="b"/>
            <a:pathLst>
              <a:path w="6914093" h="5028432">
                <a:moveTo>
                  <a:pt x="0" y="0"/>
                </a:moveTo>
                <a:lnTo>
                  <a:pt x="6914093" y="0"/>
                </a:lnTo>
                <a:lnTo>
                  <a:pt x="6914093" y="5028431"/>
                </a:lnTo>
                <a:lnTo>
                  <a:pt x="0" y="502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61979" y="4153649"/>
            <a:ext cx="11835175" cy="1979702"/>
          </a:xfrm>
          <a:custGeom>
            <a:avLst/>
            <a:gdLst/>
            <a:ahLst/>
            <a:cxnLst/>
            <a:rect l="l" t="t" r="r" b="b"/>
            <a:pathLst>
              <a:path w="11835175" h="1979702">
                <a:moveTo>
                  <a:pt x="0" y="0"/>
                </a:moveTo>
                <a:lnTo>
                  <a:pt x="11835175" y="0"/>
                </a:lnTo>
                <a:lnTo>
                  <a:pt x="11835175" y="1979702"/>
                </a:lnTo>
                <a:lnTo>
                  <a:pt x="0" y="1979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191843" y="3798411"/>
            <a:ext cx="1221254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Seminar Psihologia Educației</a:t>
            </a:r>
          </a:p>
        </p:txBody>
      </p:sp>
      <p:sp>
        <p:nvSpPr>
          <p:cNvPr id="6" name="Freeform 6"/>
          <p:cNvSpPr/>
          <p:nvPr/>
        </p:nvSpPr>
        <p:spPr>
          <a:xfrm>
            <a:off x="12456379" y="5404911"/>
            <a:ext cx="8246933" cy="6247677"/>
          </a:xfrm>
          <a:custGeom>
            <a:avLst/>
            <a:gdLst/>
            <a:ahLst/>
            <a:cxnLst/>
            <a:rect l="l" t="t" r="r" b="b"/>
            <a:pathLst>
              <a:path w="8246933" h="6247677">
                <a:moveTo>
                  <a:pt x="0" y="0"/>
                </a:moveTo>
                <a:lnTo>
                  <a:pt x="8246933" y="0"/>
                </a:lnTo>
                <a:lnTo>
                  <a:pt x="8246933" y="6247677"/>
                </a:lnTo>
                <a:lnTo>
                  <a:pt x="0" y="6247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08980" y="-1652824"/>
            <a:ext cx="8905028" cy="5575060"/>
          </a:xfrm>
          <a:custGeom>
            <a:avLst/>
            <a:gdLst/>
            <a:ahLst/>
            <a:cxnLst/>
            <a:rect l="l" t="t" r="r" b="b"/>
            <a:pathLst>
              <a:path w="8905028" h="5575060">
                <a:moveTo>
                  <a:pt x="0" y="0"/>
                </a:moveTo>
                <a:lnTo>
                  <a:pt x="8905029" y="0"/>
                </a:lnTo>
                <a:lnTo>
                  <a:pt x="8905029" y="5575060"/>
                </a:lnTo>
                <a:lnTo>
                  <a:pt x="0" y="5575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495846">
            <a:off x="-3929800" y="-2685694"/>
            <a:ext cx="5243739" cy="7338566"/>
          </a:xfrm>
          <a:custGeom>
            <a:avLst/>
            <a:gdLst/>
            <a:ahLst/>
            <a:cxnLst/>
            <a:rect l="l" t="t" r="r" b="b"/>
            <a:pathLst>
              <a:path w="5243739" h="7338566">
                <a:moveTo>
                  <a:pt x="0" y="0"/>
                </a:moveTo>
                <a:lnTo>
                  <a:pt x="5243739" y="0"/>
                </a:lnTo>
                <a:lnTo>
                  <a:pt x="5243739" y="7338565"/>
                </a:lnTo>
                <a:lnTo>
                  <a:pt x="0" y="7338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23248" y="8452549"/>
            <a:ext cx="6639489" cy="126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Drd</a:t>
            </a: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. </a:t>
            </a:r>
            <a:r>
              <a:rPr lang="en-US" sz="3594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Miheș</a:t>
            </a: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Mihai</a:t>
            </a:r>
          </a:p>
          <a:p>
            <a:pPr algn="ctr">
              <a:lnSpc>
                <a:spcPts val="5032"/>
              </a:lnSpc>
            </a:pPr>
            <a:r>
              <a:rPr lang="en-US" sz="3594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mihaimihes@psychology.ro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73108" y="5019675"/>
            <a:ext cx="1085001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Motivația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4484" y="3045203"/>
            <a:ext cx="4568927" cy="4927274"/>
          </a:xfrm>
          <a:custGeom>
            <a:avLst/>
            <a:gdLst/>
            <a:ahLst/>
            <a:cxnLst/>
            <a:rect l="l" t="t" r="r" b="b"/>
            <a:pathLst>
              <a:path w="4568927" h="4927274">
                <a:moveTo>
                  <a:pt x="0" y="0"/>
                </a:moveTo>
                <a:lnTo>
                  <a:pt x="4568928" y="0"/>
                </a:lnTo>
                <a:lnTo>
                  <a:pt x="4568928" y="4927274"/>
                </a:lnTo>
                <a:lnTo>
                  <a:pt x="0" y="49272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27173" y="5216745"/>
            <a:ext cx="3423551" cy="946145"/>
          </a:xfrm>
          <a:custGeom>
            <a:avLst/>
            <a:gdLst/>
            <a:ahLst/>
            <a:cxnLst/>
            <a:rect l="l" t="t" r="r" b="b"/>
            <a:pathLst>
              <a:path w="3423551" h="946145">
                <a:moveTo>
                  <a:pt x="0" y="0"/>
                </a:moveTo>
                <a:lnTo>
                  <a:pt x="3423550" y="0"/>
                </a:lnTo>
                <a:lnTo>
                  <a:pt x="3423550" y="946145"/>
                </a:lnTo>
                <a:lnTo>
                  <a:pt x="0" y="9461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857461" y="3045203"/>
            <a:ext cx="4568927" cy="4927274"/>
          </a:xfrm>
          <a:custGeom>
            <a:avLst/>
            <a:gdLst/>
            <a:ahLst/>
            <a:cxnLst/>
            <a:rect l="l" t="t" r="r" b="b"/>
            <a:pathLst>
              <a:path w="4568927" h="4927274">
                <a:moveTo>
                  <a:pt x="0" y="0"/>
                </a:moveTo>
                <a:lnTo>
                  <a:pt x="4568927" y="0"/>
                </a:lnTo>
                <a:lnTo>
                  <a:pt x="4568927" y="4927274"/>
                </a:lnTo>
                <a:lnTo>
                  <a:pt x="0" y="49272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087570" y="5079803"/>
            <a:ext cx="4112860" cy="1136645"/>
          </a:xfrm>
          <a:custGeom>
            <a:avLst/>
            <a:gdLst/>
            <a:ahLst/>
            <a:cxnLst/>
            <a:rect l="l" t="t" r="r" b="b"/>
            <a:pathLst>
              <a:path w="4112860" h="1136645">
                <a:moveTo>
                  <a:pt x="0" y="0"/>
                </a:moveTo>
                <a:lnTo>
                  <a:pt x="4112860" y="0"/>
                </a:lnTo>
                <a:lnTo>
                  <a:pt x="4112860" y="1136645"/>
                </a:lnTo>
                <a:lnTo>
                  <a:pt x="0" y="1136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264588" y="3045203"/>
            <a:ext cx="4568927" cy="4927274"/>
          </a:xfrm>
          <a:custGeom>
            <a:avLst/>
            <a:gdLst/>
            <a:ahLst/>
            <a:cxnLst/>
            <a:rect l="l" t="t" r="r" b="b"/>
            <a:pathLst>
              <a:path w="4568927" h="4927274">
                <a:moveTo>
                  <a:pt x="0" y="0"/>
                </a:moveTo>
                <a:lnTo>
                  <a:pt x="4568928" y="0"/>
                </a:lnTo>
                <a:lnTo>
                  <a:pt x="4568928" y="4927274"/>
                </a:lnTo>
                <a:lnTo>
                  <a:pt x="0" y="49272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335958" y="5216745"/>
            <a:ext cx="4497557" cy="1242961"/>
          </a:xfrm>
          <a:custGeom>
            <a:avLst/>
            <a:gdLst/>
            <a:ahLst/>
            <a:cxnLst/>
            <a:rect l="l" t="t" r="r" b="b"/>
            <a:pathLst>
              <a:path w="4497557" h="1242961">
                <a:moveTo>
                  <a:pt x="0" y="0"/>
                </a:moveTo>
                <a:lnTo>
                  <a:pt x="4497558" y="0"/>
                </a:lnTo>
                <a:lnTo>
                  <a:pt x="4497558" y="1242961"/>
                </a:lnTo>
                <a:lnTo>
                  <a:pt x="0" y="12429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63001" y="7012197"/>
            <a:ext cx="5939287" cy="4114800"/>
          </a:xfrm>
          <a:custGeom>
            <a:avLst/>
            <a:gdLst/>
            <a:ahLst/>
            <a:cxnLst/>
            <a:rect l="l" t="t" r="r" b="b"/>
            <a:pathLst>
              <a:path w="5939287" h="4114800">
                <a:moveTo>
                  <a:pt x="0" y="0"/>
                </a:moveTo>
                <a:lnTo>
                  <a:pt x="5939287" y="0"/>
                </a:lnTo>
                <a:lnTo>
                  <a:pt x="59392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857461" y="3559392"/>
            <a:ext cx="4544191" cy="4244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Reprezintă</a:t>
            </a: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b="1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dorințele</a:t>
            </a: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sau</a:t>
            </a: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b="1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nevoile</a:t>
            </a:r>
            <a:r>
              <a:rPr lang="en-US" sz="3999" b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care </a:t>
            </a:r>
            <a:r>
              <a:rPr lang="en-US" sz="3999" b="1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direcționează</a:t>
            </a:r>
            <a:r>
              <a:rPr lang="en-US" sz="3999" b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b="1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comportamentul</a:t>
            </a:r>
            <a:r>
              <a:rPr lang="en-US" sz="3999" b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pentru</a:t>
            </a: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atingerea</a:t>
            </a: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unui</a:t>
            </a: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scop.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45987" y="4050701"/>
            <a:ext cx="4406129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Motivele</a:t>
            </a:r>
            <a:r>
              <a:rPr lang="en-US" sz="4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– </a:t>
            </a:r>
            <a:r>
              <a:rPr lang="en-US" sz="4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factorii</a:t>
            </a:r>
            <a:r>
              <a:rPr lang="en-US" sz="4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care, </a:t>
            </a:r>
            <a:r>
              <a:rPr lang="en-US" sz="4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4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4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condiții</a:t>
            </a:r>
            <a:r>
              <a:rPr lang="en-US" sz="4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externe date, </a:t>
            </a:r>
            <a:r>
              <a:rPr lang="en-US" sz="4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declanșează</a:t>
            </a:r>
            <a:r>
              <a:rPr lang="en-US" sz="4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4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susțin</a:t>
            </a:r>
            <a:r>
              <a:rPr lang="en-US" sz="4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4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4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4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orientează</a:t>
            </a:r>
            <a:r>
              <a:rPr lang="en-US" sz="4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400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activitatea</a:t>
            </a:r>
            <a:endParaRPr lang="en-US" sz="4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792643" y="1202028"/>
            <a:ext cx="6702715" cy="12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11"/>
              </a:lnSpc>
              <a:spcBef>
                <a:spcPct val="0"/>
              </a:spcBef>
            </a:pPr>
            <a:r>
              <a:rPr lang="en-US" sz="715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Motivația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7173" y="4881772"/>
            <a:ext cx="3625820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De </a:t>
            </a:r>
            <a:r>
              <a:rPr lang="en-US" sz="3999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</a:t>
            </a: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ați</a:t>
            </a: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ales </a:t>
            </a:r>
            <a:r>
              <a:rPr lang="en-US" sz="3999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această</a:t>
            </a: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facultate</a:t>
            </a: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50723" y="3226180"/>
            <a:ext cx="4568927" cy="4927274"/>
          </a:xfrm>
          <a:custGeom>
            <a:avLst/>
            <a:gdLst/>
            <a:ahLst/>
            <a:cxnLst/>
            <a:rect l="l" t="t" r="r" b="b"/>
            <a:pathLst>
              <a:path w="4568927" h="4927274">
                <a:moveTo>
                  <a:pt x="0" y="0"/>
                </a:moveTo>
                <a:lnTo>
                  <a:pt x="4568928" y="0"/>
                </a:lnTo>
                <a:lnTo>
                  <a:pt x="4568928" y="4927275"/>
                </a:lnTo>
                <a:lnTo>
                  <a:pt x="0" y="4927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023412" y="5352298"/>
            <a:ext cx="3423551" cy="946145"/>
          </a:xfrm>
          <a:custGeom>
            <a:avLst/>
            <a:gdLst/>
            <a:ahLst/>
            <a:cxnLst/>
            <a:rect l="l" t="t" r="r" b="b"/>
            <a:pathLst>
              <a:path w="3423551" h="946145">
                <a:moveTo>
                  <a:pt x="0" y="0"/>
                </a:moveTo>
                <a:lnTo>
                  <a:pt x="3423550" y="0"/>
                </a:lnTo>
                <a:lnTo>
                  <a:pt x="3423550" y="946145"/>
                </a:lnTo>
                <a:lnTo>
                  <a:pt x="0" y="9461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891306" y="216226"/>
            <a:ext cx="4568927" cy="4927274"/>
          </a:xfrm>
          <a:custGeom>
            <a:avLst/>
            <a:gdLst/>
            <a:ahLst/>
            <a:cxnLst/>
            <a:rect l="l" t="t" r="r" b="b"/>
            <a:pathLst>
              <a:path w="4568927" h="4927274">
                <a:moveTo>
                  <a:pt x="0" y="0"/>
                </a:moveTo>
                <a:lnTo>
                  <a:pt x="4568928" y="0"/>
                </a:lnTo>
                <a:lnTo>
                  <a:pt x="4568928" y="4927274"/>
                </a:lnTo>
                <a:lnTo>
                  <a:pt x="0" y="49272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347374" y="1908558"/>
            <a:ext cx="4112860" cy="1136645"/>
          </a:xfrm>
          <a:custGeom>
            <a:avLst/>
            <a:gdLst/>
            <a:ahLst/>
            <a:cxnLst/>
            <a:rect l="l" t="t" r="r" b="b"/>
            <a:pathLst>
              <a:path w="4112860" h="1136645">
                <a:moveTo>
                  <a:pt x="0" y="0"/>
                </a:moveTo>
                <a:lnTo>
                  <a:pt x="4112860" y="0"/>
                </a:lnTo>
                <a:lnTo>
                  <a:pt x="4112860" y="1136645"/>
                </a:lnTo>
                <a:lnTo>
                  <a:pt x="0" y="1136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91306" y="5216745"/>
            <a:ext cx="4568927" cy="4927274"/>
          </a:xfrm>
          <a:custGeom>
            <a:avLst/>
            <a:gdLst/>
            <a:ahLst/>
            <a:cxnLst/>
            <a:rect l="l" t="t" r="r" b="b"/>
            <a:pathLst>
              <a:path w="4568927" h="4927274">
                <a:moveTo>
                  <a:pt x="0" y="0"/>
                </a:moveTo>
                <a:lnTo>
                  <a:pt x="4568928" y="0"/>
                </a:lnTo>
                <a:lnTo>
                  <a:pt x="4568928" y="4927274"/>
                </a:lnTo>
                <a:lnTo>
                  <a:pt x="0" y="49272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914623" y="7350996"/>
            <a:ext cx="4497557" cy="1242961"/>
          </a:xfrm>
          <a:custGeom>
            <a:avLst/>
            <a:gdLst/>
            <a:ahLst/>
            <a:cxnLst/>
            <a:rect l="l" t="t" r="r" b="b"/>
            <a:pathLst>
              <a:path w="4497557" h="1242961">
                <a:moveTo>
                  <a:pt x="0" y="0"/>
                </a:moveTo>
                <a:lnTo>
                  <a:pt x="4497558" y="0"/>
                </a:lnTo>
                <a:lnTo>
                  <a:pt x="4497558" y="1242962"/>
                </a:lnTo>
                <a:lnTo>
                  <a:pt x="0" y="12429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863001" y="7012197"/>
            <a:ext cx="5939287" cy="4114800"/>
          </a:xfrm>
          <a:custGeom>
            <a:avLst/>
            <a:gdLst/>
            <a:ahLst/>
            <a:cxnLst/>
            <a:rect l="l" t="t" r="r" b="b"/>
            <a:pathLst>
              <a:path w="5939287" h="4114800">
                <a:moveTo>
                  <a:pt x="0" y="0"/>
                </a:moveTo>
                <a:lnTo>
                  <a:pt x="5939287" y="0"/>
                </a:lnTo>
                <a:lnTo>
                  <a:pt x="593928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131708" y="2130803"/>
            <a:ext cx="4544191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50" err="1">
                <a:solidFill>
                  <a:srgbClr val="000000"/>
                </a:solidFill>
                <a:latin typeface="Dosis Bold"/>
                <a:ea typeface="Dosis"/>
                <a:cs typeface="Dosis"/>
                <a:sym typeface="Dosis"/>
              </a:rPr>
              <a:t>funcția</a:t>
            </a:r>
            <a:r>
              <a:rPr lang="en-US" sz="3950">
                <a:solidFill>
                  <a:srgbClr val="000000"/>
                </a:solidFill>
                <a:latin typeface="Dosis Bold"/>
                <a:ea typeface="Dosis"/>
                <a:cs typeface="Dosis"/>
                <a:sym typeface="Dosis"/>
              </a:rPr>
              <a:t> de </a:t>
            </a:r>
            <a:r>
              <a:rPr lang="en-US" sz="3950" err="1">
                <a:solidFill>
                  <a:srgbClr val="000000"/>
                </a:solidFill>
                <a:latin typeface="Dosis Bold"/>
                <a:ea typeface="Dosis"/>
                <a:cs typeface="Dosis"/>
                <a:sym typeface="Dosis"/>
              </a:rPr>
              <a:t>activare</a:t>
            </a:r>
            <a:r>
              <a:rPr lang="en-US" sz="3950">
                <a:solidFill>
                  <a:srgbClr val="000000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endParaRPr lang="en-US" sz="3950">
              <a:solidFill>
                <a:srgbClr val="000000"/>
              </a:solidFill>
              <a:latin typeface="Dosis Bold"/>
              <a:ea typeface="Dosis"/>
              <a:cs typeface="Dosi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960337" y="6980447"/>
            <a:ext cx="4406129" cy="280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funcția</a:t>
            </a:r>
            <a:r>
              <a:rPr lang="en-US" sz="400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de </a:t>
            </a:r>
            <a:r>
              <a:rPr lang="en-US" sz="400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direcționare</a:t>
            </a:r>
            <a:r>
              <a:rPr lang="en-US" sz="400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a </a:t>
            </a:r>
            <a:r>
              <a:rPr lang="en-US" sz="400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conduitei</a:t>
            </a:r>
            <a:endParaRPr lang="en-US" sz="4000">
              <a:solidFill>
                <a:srgbClr val="01070A"/>
              </a:solidFill>
              <a:latin typeface="Dosis Bold"/>
              <a:ea typeface="Dosis"/>
              <a:cs typeface="Dosis"/>
              <a:sym typeface="Dosis"/>
            </a:endParaRPr>
          </a:p>
          <a:p>
            <a:pPr algn="ctr">
              <a:lnSpc>
                <a:spcPts val="5600"/>
              </a:lnSpc>
            </a:pPr>
            <a:endParaRPr lang="en-US" sz="4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0" y="969947"/>
            <a:ext cx="9813826" cy="12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11"/>
              </a:lnSpc>
              <a:spcBef>
                <a:spcPct val="0"/>
              </a:spcBef>
            </a:pPr>
            <a:r>
              <a:rPr lang="en-US" sz="715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Funcțiile motivelor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21142" y="4616667"/>
            <a:ext cx="3625820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endParaRPr/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Funcțiile </a:t>
            </a:r>
          </a:p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motivelor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10019651" y="2679863"/>
            <a:ext cx="2871656" cy="3009955"/>
          </a:xfrm>
          <a:prstGeom prst="line">
            <a:avLst/>
          </a:prstGeom>
          <a:ln w="152400" cap="flat">
            <a:solidFill>
              <a:srgbClr val="106585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" name="AutoShape 15"/>
          <p:cNvSpPr/>
          <p:nvPr/>
        </p:nvSpPr>
        <p:spPr>
          <a:xfrm>
            <a:off x="10019651" y="5689817"/>
            <a:ext cx="2798055" cy="1555533"/>
          </a:xfrm>
          <a:prstGeom prst="line">
            <a:avLst/>
          </a:prstGeom>
          <a:ln w="152400" cap="flat">
            <a:solidFill>
              <a:srgbClr val="106585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04885" y="-667606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793130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84052" y="143384"/>
            <a:ext cx="8573922" cy="11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Tipuri de motivație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566460" y="7271551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9"/>
                </a:lnTo>
                <a:lnTo>
                  <a:pt x="3190320" y="3316969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90045" y="1460395"/>
            <a:ext cx="12170676" cy="9271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5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50" b="1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Motivele</a:t>
            </a:r>
            <a:r>
              <a:rPr lang="en-US" sz="3950" b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 </a:t>
            </a:r>
            <a:r>
              <a:rPr lang="en-US" sz="3950" b="1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extrinseci</a:t>
            </a:r>
            <a:r>
              <a:rPr lang="en-US" sz="395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sunt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exterioare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acțiunii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în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cauză</a:t>
            </a:r>
            <a:endParaRPr lang="en-US" sz="3950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marL="862965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Desfășurarea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acțiunii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este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susținută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de o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recompensă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exterioară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acesteia</a:t>
            </a:r>
            <a:endParaRPr lang="en-US" sz="3950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algn="l">
              <a:lnSpc>
                <a:spcPts val="5599"/>
              </a:lnSpc>
            </a:pPr>
            <a:endParaRPr lang="en-US" sz="3950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algn="l">
              <a:lnSpc>
                <a:spcPts val="5599"/>
              </a:lnSpc>
            </a:pPr>
            <a:r>
              <a:rPr lang="en-US" sz="3950" b="1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Motivele</a:t>
            </a:r>
            <a:r>
              <a:rPr lang="en-US" sz="3950" b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 </a:t>
            </a:r>
            <a:r>
              <a:rPr lang="en-US" sz="3950" b="1" err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intrinseci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nu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depind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de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vreo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recompensă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din afara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activității</a:t>
            </a:r>
            <a:endParaRPr lang="en-US" sz="3950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marL="862965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Recompensa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stă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în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terminarea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cu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succes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a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acțiunii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sau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chiar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în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activitatea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în</a:t>
            </a: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sine</a:t>
            </a:r>
            <a:endParaRPr lang="en-US" sz="3950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algn="l">
              <a:lnSpc>
                <a:spcPts val="5599"/>
              </a:lnSpc>
            </a:pPr>
            <a:endParaRPr lang="en-US" sz="3950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algn="l">
              <a:lnSpc>
                <a:spcPts val="5599"/>
              </a:lnSpc>
            </a:pP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Dați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exemple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de motive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extrinseci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și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intrinseci</a:t>
            </a:r>
            <a:endParaRPr lang="en-US" sz="3950" u="sng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algn="l">
              <a:lnSpc>
                <a:spcPts val="5599"/>
              </a:lnSpc>
            </a:pP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Dați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un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exemplu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de o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situație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în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care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ați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fost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motivat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extrinsec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și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una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în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care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ați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fost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motivat</a:t>
            </a:r>
            <a:r>
              <a:rPr lang="en-US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en-US" sz="3950" u="sng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intrinsec</a:t>
            </a:r>
            <a:endParaRPr lang="en-US" sz="3950" u="sng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algn="l">
              <a:lnSpc>
                <a:spcPts val="5599"/>
              </a:lnSpc>
            </a:pPr>
            <a:endParaRPr lang="en-US" sz="3999" u="sng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179235" y="2324100"/>
            <a:ext cx="11929526" cy="6650711"/>
          </a:xfrm>
          <a:custGeom>
            <a:avLst/>
            <a:gdLst/>
            <a:ahLst/>
            <a:cxnLst/>
            <a:rect l="l" t="t" r="r" b="b"/>
            <a:pathLst>
              <a:path w="11929526" h="6650711">
                <a:moveTo>
                  <a:pt x="0" y="0"/>
                </a:moveTo>
                <a:lnTo>
                  <a:pt x="11929526" y="0"/>
                </a:lnTo>
                <a:lnTo>
                  <a:pt x="11929526" y="6650711"/>
                </a:lnTo>
                <a:lnTo>
                  <a:pt x="0" y="6650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79826" y="561340"/>
            <a:ext cx="11842657" cy="143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3"/>
              </a:lnSpc>
            </a:pPr>
            <a:r>
              <a:rPr lang="en-US" sz="8495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Piramida</a:t>
            </a:r>
            <a:r>
              <a:rPr lang="en-US" sz="8495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8495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lui</a:t>
            </a:r>
            <a:r>
              <a:rPr lang="en-US" sz="8495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Maslow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114115" y="2247900"/>
            <a:ext cx="10059770" cy="7230460"/>
          </a:xfrm>
          <a:custGeom>
            <a:avLst/>
            <a:gdLst/>
            <a:ahLst/>
            <a:cxnLst/>
            <a:rect l="l" t="t" r="r" b="b"/>
            <a:pathLst>
              <a:path w="10059770" h="7230460">
                <a:moveTo>
                  <a:pt x="0" y="0"/>
                </a:moveTo>
                <a:lnTo>
                  <a:pt x="10059770" y="0"/>
                </a:lnTo>
                <a:lnTo>
                  <a:pt x="10059770" y="7230460"/>
                </a:lnTo>
                <a:lnTo>
                  <a:pt x="0" y="7230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22669" y="571500"/>
            <a:ext cx="11842657" cy="143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3"/>
              </a:lnSpc>
            </a:pPr>
            <a:r>
              <a:rPr lang="en-US" sz="8495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Piramida</a:t>
            </a:r>
            <a:r>
              <a:rPr lang="en-US" sz="8495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8495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lui</a:t>
            </a:r>
            <a:r>
              <a:rPr lang="en-US" sz="8495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Maslow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664316" y="2387934"/>
            <a:ext cx="11719174" cy="6870366"/>
          </a:xfrm>
          <a:custGeom>
            <a:avLst/>
            <a:gdLst/>
            <a:ahLst/>
            <a:cxnLst/>
            <a:rect l="l" t="t" r="r" b="b"/>
            <a:pathLst>
              <a:path w="11719174" h="6870366">
                <a:moveTo>
                  <a:pt x="0" y="0"/>
                </a:moveTo>
                <a:lnTo>
                  <a:pt x="11719173" y="0"/>
                </a:lnTo>
                <a:lnTo>
                  <a:pt x="11719173" y="6870366"/>
                </a:lnTo>
                <a:lnTo>
                  <a:pt x="0" y="68703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36822" y="550511"/>
            <a:ext cx="11842657" cy="1434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3"/>
              </a:lnSpc>
            </a:pPr>
            <a:r>
              <a:rPr lang="en-US" sz="8495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Optimul motivațional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A0C54-9BC2-724A-D6FC-4E8B5C85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778D59-C015-F491-EA70-0D1442D967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CEEAAEB-7804-5F30-F57A-B6580EF22C35}"/>
              </a:ext>
            </a:extLst>
          </p:cNvPr>
          <p:cNvGrpSpPr/>
          <p:nvPr/>
        </p:nvGrpSpPr>
        <p:grpSpPr>
          <a:xfrm>
            <a:off x="2804885" y="-667606"/>
            <a:ext cx="12340996" cy="12247451"/>
            <a:chOff x="0" y="0"/>
            <a:chExt cx="3250304" cy="322566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537F16F-9A94-011B-F879-035DD7823F75}"/>
                </a:ext>
              </a:extLst>
            </p:cNvPr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3EC4EEC-18FC-22AD-59FF-B1F5D409B5D8}"/>
                </a:ext>
              </a:extLst>
            </p:cNvPr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EE528440-F769-8C42-5D1A-7DC2435A42AA}"/>
              </a:ext>
            </a:extLst>
          </p:cNvPr>
          <p:cNvSpPr/>
          <p:nvPr/>
        </p:nvSpPr>
        <p:spPr>
          <a:xfrm flipH="1">
            <a:off x="14793130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E5D4FC8-144E-8E07-E2DA-98740ACCA1F9}"/>
              </a:ext>
            </a:extLst>
          </p:cNvPr>
          <p:cNvSpPr txBox="1"/>
          <p:nvPr/>
        </p:nvSpPr>
        <p:spPr>
          <a:xfrm>
            <a:off x="3227279" y="143384"/>
            <a:ext cx="11022121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ro-RO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Teoria auto determinării</a:t>
            </a:r>
            <a:endParaRPr lang="en-US" sz="6974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159302B-DDE2-DFF7-42E7-FA25CE91437E}"/>
              </a:ext>
            </a:extLst>
          </p:cNvPr>
          <p:cNvSpPr/>
          <p:nvPr/>
        </p:nvSpPr>
        <p:spPr>
          <a:xfrm flipH="1">
            <a:off x="-566460" y="7271551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9"/>
                </a:lnTo>
                <a:lnTo>
                  <a:pt x="3190320" y="3316969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A08757E-2BD5-75B8-ECC5-12622D7F6467}"/>
              </a:ext>
            </a:extLst>
          </p:cNvPr>
          <p:cNvSpPr txBox="1"/>
          <p:nvPr/>
        </p:nvSpPr>
        <p:spPr>
          <a:xfrm>
            <a:off x="2975205" y="2324100"/>
            <a:ext cx="12170676" cy="7117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en-US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</a:t>
            </a:r>
            <a:r>
              <a:rPr lang="ro-RO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automotivare</a:t>
            </a:r>
            <a:r>
              <a:rPr lang="ro-RO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și autodeterminare</a:t>
            </a:r>
            <a:endParaRPr lang="ro-RO" sz="3950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ro-RO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Autonomie </a:t>
            </a:r>
            <a:r>
              <a:rPr lang="ro-RO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Vs</a:t>
            </a:r>
            <a:r>
              <a:rPr lang="ro-RO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 presiune externă</a:t>
            </a:r>
            <a:endParaRPr lang="ro-RO" sz="3950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endParaRPr lang="ro-RO" sz="3950" u="sng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ro-RO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Dimensiuni principale:</a:t>
            </a:r>
            <a:endParaRPr lang="ro-RO" sz="3950" u="sng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marL="742950" indent="-742950" algn="l">
              <a:lnSpc>
                <a:spcPts val="5599"/>
              </a:lnSpc>
              <a:buFont typeface="+mj-lt"/>
              <a:buAutoNum type="arabicParenR"/>
            </a:pPr>
            <a:r>
              <a:rPr lang="ro-RO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Autonomie</a:t>
            </a:r>
            <a:endParaRPr lang="ro-RO" sz="3950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marL="742950" indent="-742950" algn="l">
              <a:lnSpc>
                <a:spcPts val="5599"/>
              </a:lnSpc>
              <a:buFont typeface="+mj-lt"/>
              <a:buAutoNum type="arabicParenR"/>
            </a:pPr>
            <a:r>
              <a:rPr lang="ro-RO" sz="3950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Competență</a:t>
            </a:r>
            <a:endParaRPr lang="ro-RO" sz="3950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marL="742950" indent="-742950" algn="l">
              <a:lnSpc>
                <a:spcPts val="5599"/>
              </a:lnSpc>
              <a:buFont typeface="+mj-lt"/>
              <a:buAutoNum type="arabicParenR"/>
            </a:pPr>
            <a:r>
              <a:rPr lang="ro-RO" sz="3950" err="1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Relațioanare</a:t>
            </a:r>
            <a:endParaRPr lang="ro-RO" sz="3950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marL="742950" indent="-742950" algn="l">
              <a:lnSpc>
                <a:spcPts val="5599"/>
              </a:lnSpc>
              <a:buFont typeface="+mj-lt"/>
              <a:buAutoNum type="arabicParenR"/>
            </a:pPr>
            <a:endParaRPr lang="ro-RO" sz="3950" u="sng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ro-RO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Nevoia pentru autonomie</a:t>
            </a:r>
            <a:endParaRPr lang="ro-RO" sz="3950" u="sng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  <a:p>
            <a:pPr marL="571500" indent="-571500" algn="l">
              <a:lnSpc>
                <a:spcPts val="5599"/>
              </a:lnSpc>
              <a:buFont typeface="Arial" panose="020B0604020202020204" pitchFamily="34" charset="0"/>
              <a:buChar char="•"/>
            </a:pPr>
            <a:r>
              <a:rPr lang="ro-RO" sz="3950" u="sng">
                <a:solidFill>
                  <a:srgbClr val="01070A"/>
                </a:solidFill>
                <a:latin typeface="Dosis Bold"/>
                <a:ea typeface="Dosis"/>
                <a:cs typeface="Dosis"/>
                <a:sym typeface="Dosis"/>
              </a:rPr>
              <a:t>Motivația autonomă</a:t>
            </a:r>
            <a:endParaRPr lang="ro-RO" sz="3950" u="sng">
              <a:solidFill>
                <a:srgbClr val="01070A"/>
              </a:solidFill>
              <a:latin typeface="Dosis Bold"/>
              <a:ea typeface="Dosis"/>
              <a:cs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480379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037625" y="1469321"/>
            <a:ext cx="14540553" cy="8411271"/>
            <a:chOff x="0" y="0"/>
            <a:chExt cx="3829611" cy="2215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29611" cy="2215314"/>
            </a:xfrm>
            <a:custGeom>
              <a:avLst/>
              <a:gdLst/>
              <a:ahLst/>
              <a:cxnLst/>
              <a:rect l="l" t="t" r="r" b="b"/>
              <a:pathLst>
                <a:path w="3829611" h="2215314">
                  <a:moveTo>
                    <a:pt x="5857" y="0"/>
                  </a:moveTo>
                  <a:lnTo>
                    <a:pt x="3823754" y="0"/>
                  </a:lnTo>
                  <a:cubicBezTo>
                    <a:pt x="3825307" y="0"/>
                    <a:pt x="3826797" y="617"/>
                    <a:pt x="3827895" y="1715"/>
                  </a:cubicBezTo>
                  <a:cubicBezTo>
                    <a:pt x="3828994" y="2814"/>
                    <a:pt x="3829611" y="4303"/>
                    <a:pt x="3829611" y="5857"/>
                  </a:cubicBezTo>
                  <a:lnTo>
                    <a:pt x="3829611" y="2209457"/>
                  </a:lnTo>
                  <a:cubicBezTo>
                    <a:pt x="3829611" y="2212692"/>
                    <a:pt x="3826988" y="2215314"/>
                    <a:pt x="3823754" y="2215314"/>
                  </a:cubicBezTo>
                  <a:lnTo>
                    <a:pt x="5857" y="2215314"/>
                  </a:lnTo>
                  <a:cubicBezTo>
                    <a:pt x="2622" y="2215314"/>
                    <a:pt x="0" y="2212692"/>
                    <a:pt x="0" y="2209457"/>
                  </a:cubicBezTo>
                  <a:lnTo>
                    <a:pt x="0" y="5857"/>
                  </a:lnTo>
                  <a:cubicBezTo>
                    <a:pt x="0" y="2622"/>
                    <a:pt x="2622" y="0"/>
                    <a:pt x="58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29611" cy="2262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89721" y="7402642"/>
            <a:ext cx="1855658" cy="185565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746354" y="7773815"/>
            <a:ext cx="1142391" cy="1113312"/>
          </a:xfrm>
          <a:custGeom>
            <a:avLst/>
            <a:gdLst/>
            <a:ahLst/>
            <a:cxnLst/>
            <a:rect l="l" t="t" r="r" b="b"/>
            <a:pathLst>
              <a:path w="1142391" h="1113312">
                <a:moveTo>
                  <a:pt x="0" y="0"/>
                </a:moveTo>
                <a:lnTo>
                  <a:pt x="1142392" y="0"/>
                </a:lnTo>
                <a:lnTo>
                  <a:pt x="1142392" y="1113312"/>
                </a:lnTo>
                <a:lnTo>
                  <a:pt x="0" y="11133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575510" y="7402642"/>
            <a:ext cx="1855658" cy="185565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61506" y="7402642"/>
            <a:ext cx="1855658" cy="185565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50638" y="7402642"/>
            <a:ext cx="1855658" cy="185565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978404" y="7701379"/>
            <a:ext cx="1177785" cy="1346740"/>
          </a:xfrm>
          <a:custGeom>
            <a:avLst/>
            <a:gdLst/>
            <a:ahLst/>
            <a:cxnLst/>
            <a:rect l="l" t="t" r="r" b="b"/>
            <a:pathLst>
              <a:path w="1177785" h="1346740">
                <a:moveTo>
                  <a:pt x="0" y="0"/>
                </a:moveTo>
                <a:lnTo>
                  <a:pt x="1177786" y="0"/>
                </a:lnTo>
                <a:lnTo>
                  <a:pt x="1177786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253399" y="7758824"/>
            <a:ext cx="871871" cy="1128304"/>
          </a:xfrm>
          <a:custGeom>
            <a:avLst/>
            <a:gdLst/>
            <a:ahLst/>
            <a:cxnLst/>
            <a:rect l="l" t="t" r="r" b="b"/>
            <a:pathLst>
              <a:path w="871871" h="1128304">
                <a:moveTo>
                  <a:pt x="0" y="0"/>
                </a:moveTo>
                <a:lnTo>
                  <a:pt x="871871" y="0"/>
                </a:lnTo>
                <a:lnTo>
                  <a:pt x="871871" y="1128303"/>
                </a:lnTo>
                <a:lnTo>
                  <a:pt x="0" y="11283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188788" y="7657101"/>
            <a:ext cx="996588" cy="1346740"/>
          </a:xfrm>
          <a:custGeom>
            <a:avLst/>
            <a:gdLst/>
            <a:ahLst/>
            <a:cxnLst/>
            <a:rect l="l" t="t" r="r" b="b"/>
            <a:pathLst>
              <a:path w="996588" h="1346740">
                <a:moveTo>
                  <a:pt x="0" y="0"/>
                </a:moveTo>
                <a:lnTo>
                  <a:pt x="996588" y="0"/>
                </a:lnTo>
                <a:lnTo>
                  <a:pt x="996588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762897" y="1527166"/>
            <a:ext cx="8762207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Activitate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799124" y="2829941"/>
            <a:ext cx="13017553" cy="4408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ro-RO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 grupe de 3 persoane alegeți o aplicație și prezentați cum sunt incorporate cele 3 dimensiuni ale teoriei auto-determinări.</a:t>
            </a:r>
            <a:br>
              <a:rPr lang="ro-RO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500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Prezentați cum ați utiliza cele 3 dimensiuni pentru propria aplicație.</a:t>
            </a:r>
            <a:endParaRPr lang="en-US" sz="500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26D01392-9DC2-B36F-66B5-AA200B20D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9734" y="9501188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Activitate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 2 de seminar –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Completați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1"/>
              </a:rPr>
              <a:t>formularul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2378-1E2E-B0D3-7BEC-5AF6ABF5A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CCA01F-CFE1-EE9F-7E28-057BF52B7F3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26" name="Imagine 25">
            <a:extLst>
              <a:ext uri="{FF2B5EF4-FFF2-40B4-BE49-F238E27FC236}">
                <a16:creationId xmlns:a16="http://schemas.microsoft.com/office/drawing/2014/main" id="{C28A8D1A-19DD-44E3-1F3C-21390B744A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257300"/>
            <a:ext cx="8191500" cy="819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59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te a new document." ma:contentTypeScope="" ma:versionID="37c534766e0945d81383089c26a8d6cf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86664ca69a0e95804161efb34fc7a474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1D1112-731F-4C7F-B267-7DF13EC6C5E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D8FF391-4074-4269-A2D7-7CE2BBA3AA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92F668-B74A-4AE4-9EB9-292F3CFADD4B}">
  <ds:schemaRefs>
    <ds:schemaRef ds:uri="fa0e77c9-1a0d-4ee8-b1f5-4ac48c79063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seminar 8</dc:title>
  <dc:creator>Mihai</dc:creator>
  <cp:revision>1</cp:revision>
  <dcterms:created xsi:type="dcterms:W3CDTF">2006-08-16T00:00:00Z</dcterms:created>
  <dcterms:modified xsi:type="dcterms:W3CDTF">2026-01-21T09:56:37Z</dcterms:modified>
  <dc:identifier>DAGUZ8Ojf6s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