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4"/>
  </p:sldMasterIdLst>
  <p:sldIdLst>
    <p:sldId id="269" r:id="rId5"/>
    <p:sldId id="257" r:id="rId6"/>
    <p:sldId id="258" r:id="rId7"/>
    <p:sldId id="259" r:id="rId8"/>
    <p:sldId id="260" r:id="rId9"/>
    <p:sldId id="261" r:id="rId10"/>
    <p:sldId id="262" r:id="rId11"/>
    <p:sldId id="264" r:id="rId12"/>
    <p:sldId id="266" r:id="rId13"/>
    <p:sldId id="270" r:id="rId14"/>
    <p:sldId id="271" r:id="rId15"/>
    <p:sldId id="274" r:id="rId16"/>
    <p:sldId id="272" r:id="rId17"/>
    <p:sldId id="273" r:id="rId18"/>
  </p:sldIdLst>
  <p:sldSz cx="18288000" cy="10287000"/>
  <p:notesSz cx="6858000" cy="9144000"/>
  <p:embeddedFontLst>
    <p:embeddedFont>
      <p:font typeface="Carelia" panose="020B0604020202020204" charset="0"/>
      <p:regular r:id="rId19"/>
    </p:embeddedFont>
    <p:embeddedFont>
      <p:font typeface="Dosis" pitchFamily="2" charset="0"/>
      <p:regular r:id="rId20"/>
      <p:bold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160"/>
        <p:guide pos="288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21" Type="http://schemas.openxmlformats.org/officeDocument/2006/relationships/font" Target="fonts/font3.fntdata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font" Target="fonts/font2.fntdata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font" Target="fonts/font1.fntdata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LEXANDRA-ELENA VRĂNCEANU" userId="S::alexandra.vranceanu@stud.ubbcluj.ro::e2885e1c-c80b-4929-81c8-2642547e8606" providerId="AD" clId="Web-{99610B1E-D699-9DA8-39B4-9008FC16DD3A}"/>
    <pc:docChg chg="modSld">
      <pc:chgData name="ALEXANDRA-ELENA VRĂNCEANU" userId="S::alexandra.vranceanu@stud.ubbcluj.ro::e2885e1c-c80b-4929-81c8-2642547e8606" providerId="AD" clId="Web-{99610B1E-D699-9DA8-39B4-9008FC16DD3A}" dt="2026-01-09T11:38:29.885" v="0" actId="1076"/>
      <pc:docMkLst>
        <pc:docMk/>
      </pc:docMkLst>
      <pc:sldChg chg="modSp">
        <pc:chgData name="ALEXANDRA-ELENA VRĂNCEANU" userId="S::alexandra.vranceanu@stud.ubbcluj.ro::e2885e1c-c80b-4929-81c8-2642547e8606" providerId="AD" clId="Web-{99610B1E-D699-9DA8-39B4-9008FC16DD3A}" dt="2026-01-09T11:38:29.885" v="0" actId="1076"/>
        <pc:sldMkLst>
          <pc:docMk/>
          <pc:sldMk cId="0" sldId="260"/>
        </pc:sldMkLst>
        <pc:spChg chg="mod">
          <ac:chgData name="ALEXANDRA-ELENA VRĂNCEANU" userId="S::alexandra.vranceanu@stud.ubbcluj.ro::e2885e1c-c80b-4929-81c8-2642547e8606" providerId="AD" clId="Web-{99610B1E-D699-9DA8-39B4-9008FC16DD3A}" dt="2026-01-09T11:38:29.885" v="0" actId="1076"/>
          <ac:spMkLst>
            <pc:docMk/>
            <pc:sldMk cId="0" sldId="260"/>
            <ac:spMk id="8" creationId="{00000000-0000-0000-0000-000000000000}"/>
          </ac:spMkLst>
        </pc:spChg>
      </pc:sldChg>
    </pc:docChg>
  </pc:docChgLst>
  <pc:docChgLst>
    <pc:chgData name="RAREȘ-ȘTEFAN IONESCU" userId="S::rares.stefan.ionescu@stud.ubbcluj.ro::bb68de35-889d-4dcb-a5af-57fbef570216" providerId="AD" clId="Web-{B59FD364-27F5-48E5-A04F-781CB0CFE695}"/>
    <pc:docChg chg="modSld">
      <pc:chgData name="RAREȘ-ȘTEFAN IONESCU" userId="S::rares.stefan.ionescu@stud.ubbcluj.ro::bb68de35-889d-4dcb-a5af-57fbef570216" providerId="AD" clId="Web-{B59FD364-27F5-48E5-A04F-781CB0CFE695}" dt="2026-01-09T11:45:49.993" v="3" actId="1076"/>
      <pc:docMkLst>
        <pc:docMk/>
      </pc:docMkLst>
      <pc:sldChg chg="modSp">
        <pc:chgData name="RAREȘ-ȘTEFAN IONESCU" userId="S::rares.stefan.ionescu@stud.ubbcluj.ro::bb68de35-889d-4dcb-a5af-57fbef570216" providerId="AD" clId="Web-{B59FD364-27F5-48E5-A04F-781CB0CFE695}" dt="2026-01-09T11:45:49.993" v="3" actId="1076"/>
        <pc:sldMkLst>
          <pc:docMk/>
          <pc:sldMk cId="0" sldId="260"/>
        </pc:sldMkLst>
        <pc:spChg chg="mod">
          <ac:chgData name="RAREȘ-ȘTEFAN IONESCU" userId="S::rares.stefan.ionescu@stud.ubbcluj.ro::bb68de35-889d-4dcb-a5af-57fbef570216" providerId="AD" clId="Web-{B59FD364-27F5-48E5-A04F-781CB0CFE695}" dt="2026-01-09T11:45:49.993" v="3" actId="1076"/>
          <ac:spMkLst>
            <pc:docMk/>
            <pc:sldMk cId="0" sldId="260"/>
            <ac:spMk id="8" creationId="{00000000-0000-0000-0000-000000000000}"/>
          </ac:spMkLst>
        </pc:spChg>
      </pc:sldChg>
    </pc:docChg>
  </pc:docChgLst>
  <pc:docChgLst>
    <pc:chgData name="RAREȘ-PETRIȘOR-FLORIN GRUIA" userId="S::rares.gruia@stud.ubbcluj.ro::b81ad2da-724f-4cc0-92b4-d1a7b2ec1ea9" providerId="AD" clId="Web-{AA4F94EC-5654-4621-9BEF-5FA1CEF11CC8}"/>
    <pc:docChg chg="modSld">
      <pc:chgData name="RAREȘ-PETRIȘOR-FLORIN GRUIA" userId="S::rares.gruia@stud.ubbcluj.ro::b81ad2da-724f-4cc0-92b4-d1a7b2ec1ea9" providerId="AD" clId="Web-{AA4F94EC-5654-4621-9BEF-5FA1CEF11CC8}" dt="2026-01-09T11:51:20.364" v="1" actId="1076"/>
      <pc:docMkLst>
        <pc:docMk/>
      </pc:docMkLst>
      <pc:sldChg chg="modSp">
        <pc:chgData name="RAREȘ-PETRIȘOR-FLORIN GRUIA" userId="S::rares.gruia@stud.ubbcluj.ro::b81ad2da-724f-4cc0-92b4-d1a7b2ec1ea9" providerId="AD" clId="Web-{AA4F94EC-5654-4621-9BEF-5FA1CEF11CC8}" dt="2026-01-09T11:48:23.013" v="0" actId="1076"/>
        <pc:sldMkLst>
          <pc:docMk/>
          <pc:sldMk cId="0" sldId="260"/>
        </pc:sldMkLst>
        <pc:spChg chg="mod">
          <ac:chgData name="RAREȘ-PETRIȘOR-FLORIN GRUIA" userId="S::rares.gruia@stud.ubbcluj.ro::b81ad2da-724f-4cc0-92b4-d1a7b2ec1ea9" providerId="AD" clId="Web-{AA4F94EC-5654-4621-9BEF-5FA1CEF11CC8}" dt="2026-01-09T11:48:23.013" v="0" actId="1076"/>
          <ac:spMkLst>
            <pc:docMk/>
            <pc:sldMk cId="0" sldId="260"/>
            <ac:spMk id="8" creationId="{00000000-0000-0000-0000-000000000000}"/>
          </ac:spMkLst>
        </pc:spChg>
      </pc:sldChg>
      <pc:sldChg chg="modSp">
        <pc:chgData name="RAREȘ-PETRIȘOR-FLORIN GRUIA" userId="S::rares.gruia@stud.ubbcluj.ro::b81ad2da-724f-4cc0-92b4-d1a7b2ec1ea9" providerId="AD" clId="Web-{AA4F94EC-5654-4621-9BEF-5FA1CEF11CC8}" dt="2026-01-09T11:51:20.364" v="1" actId="1076"/>
        <pc:sldMkLst>
          <pc:docMk/>
          <pc:sldMk cId="0" sldId="266"/>
        </pc:sldMkLst>
        <pc:spChg chg="mod">
          <ac:chgData name="RAREȘ-PETRIȘOR-FLORIN GRUIA" userId="S::rares.gruia@stud.ubbcluj.ro::b81ad2da-724f-4cc0-92b4-d1a7b2ec1ea9" providerId="AD" clId="Web-{AA4F94EC-5654-4621-9BEF-5FA1CEF11CC8}" dt="2026-01-09T11:51:20.364" v="1" actId="1076"/>
          <ac:spMkLst>
            <pc:docMk/>
            <pc:sldMk cId="0" sldId="266"/>
            <ac:spMk id="14" creationId="{00000000-0000-0000-0000-000000000000}"/>
          </ac:spMkLst>
        </pc:spChg>
      </pc:sldChg>
    </pc:docChg>
  </pc:docChgLst>
  <pc:docChgLst>
    <pc:chgData name="IULIA-GEORGIANA BUHAI" userId="S::iulia.buhai@stud.ubbcluj.ro::a385fc0b-d227-4538-bb6c-7f78887acaeb" providerId="AD" clId="Web-{076772AF-ECA5-996B-D06C-E42BE967A2B8}"/>
    <pc:docChg chg="modSld">
      <pc:chgData name="IULIA-GEORGIANA BUHAI" userId="S::iulia.buhai@stud.ubbcluj.ro::a385fc0b-d227-4538-bb6c-7f78887acaeb" providerId="AD" clId="Web-{076772AF-ECA5-996B-D06C-E42BE967A2B8}" dt="2026-01-09T11:46:08.027" v="1" actId="1076"/>
      <pc:docMkLst>
        <pc:docMk/>
      </pc:docMkLst>
      <pc:sldChg chg="modSp">
        <pc:chgData name="IULIA-GEORGIANA BUHAI" userId="S::iulia.buhai@stud.ubbcluj.ro::a385fc0b-d227-4538-bb6c-7f78887acaeb" providerId="AD" clId="Web-{076772AF-ECA5-996B-D06C-E42BE967A2B8}" dt="2026-01-09T11:46:08.027" v="1" actId="1076"/>
        <pc:sldMkLst>
          <pc:docMk/>
          <pc:sldMk cId="0" sldId="260"/>
        </pc:sldMkLst>
        <pc:spChg chg="mod">
          <ac:chgData name="IULIA-GEORGIANA BUHAI" userId="S::iulia.buhai@stud.ubbcluj.ro::a385fc0b-d227-4538-bb6c-7f78887acaeb" providerId="AD" clId="Web-{076772AF-ECA5-996B-D06C-E42BE967A2B8}" dt="2026-01-09T11:46:08.027" v="1" actId="1076"/>
          <ac:spMkLst>
            <pc:docMk/>
            <pc:sldMk cId="0" sldId="260"/>
            <ac:spMk id="8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svg"/><Relationship Id="rId4" Type="http://schemas.openxmlformats.org/officeDocument/2006/relationships/image" Target="../media/image3.svg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svg"/><Relationship Id="rId5" Type="http://schemas.openxmlformats.org/officeDocument/2006/relationships/image" Target="../media/image14.png"/><Relationship Id="rId4" Type="http://schemas.openxmlformats.org/officeDocument/2006/relationships/image" Target="../media/image13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17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svg"/><Relationship Id="rId5" Type="http://schemas.openxmlformats.org/officeDocument/2006/relationships/image" Target="../media/image14.png"/><Relationship Id="rId4" Type="http://schemas.openxmlformats.org/officeDocument/2006/relationships/image" Target="../media/image13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svg"/><Relationship Id="rId5" Type="http://schemas.openxmlformats.org/officeDocument/2006/relationships/image" Target="../media/image20.png"/><Relationship Id="rId4" Type="http://schemas.openxmlformats.org/officeDocument/2006/relationships/image" Target="../media/image19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0.svg"/><Relationship Id="rId5" Type="http://schemas.openxmlformats.org/officeDocument/2006/relationships/image" Target="../media/image29.png"/><Relationship Id="rId4" Type="http://schemas.openxmlformats.org/officeDocument/2006/relationships/image" Target="../media/image28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2.svg"/><Relationship Id="rId5" Type="http://schemas.openxmlformats.org/officeDocument/2006/relationships/image" Target="../media/image31.png"/><Relationship Id="rId4" Type="http://schemas.openxmlformats.org/officeDocument/2006/relationships/image" Target="../media/image3.sv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svg"/><Relationship Id="rId5" Type="http://schemas.openxmlformats.org/officeDocument/2006/relationships/image" Target="../media/image20.png"/><Relationship Id="rId4" Type="http://schemas.openxmlformats.org/officeDocument/2006/relationships/image" Target="../media/image19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6.emf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emf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33D20B-BAEA-527A-E53A-2F2980267F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99A3796A-CF2A-D771-8116-DF0EC646DFBC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5555" b="-5555"/>
            </a:stretch>
          </a:blipFill>
        </p:spPr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54EBF943-78AB-97DC-A426-A313B0CFB72B}"/>
              </a:ext>
            </a:extLst>
          </p:cNvPr>
          <p:cNvSpPr/>
          <p:nvPr/>
        </p:nvSpPr>
        <p:spPr>
          <a:xfrm>
            <a:off x="-2663033" y="6195861"/>
            <a:ext cx="6914093" cy="5028432"/>
          </a:xfrm>
          <a:custGeom>
            <a:avLst/>
            <a:gdLst/>
            <a:ahLst/>
            <a:cxnLst/>
            <a:rect l="l" t="t" r="r" b="b"/>
            <a:pathLst>
              <a:path w="6914093" h="5028432">
                <a:moveTo>
                  <a:pt x="0" y="0"/>
                </a:moveTo>
                <a:lnTo>
                  <a:pt x="6914093" y="0"/>
                </a:lnTo>
                <a:lnTo>
                  <a:pt x="6914093" y="5028431"/>
                </a:lnTo>
                <a:lnTo>
                  <a:pt x="0" y="502843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DBB6B178-3A3E-10D3-E122-667865CC6021}"/>
              </a:ext>
            </a:extLst>
          </p:cNvPr>
          <p:cNvSpPr/>
          <p:nvPr/>
        </p:nvSpPr>
        <p:spPr>
          <a:xfrm>
            <a:off x="3661979" y="4153649"/>
            <a:ext cx="11835175" cy="1979702"/>
          </a:xfrm>
          <a:custGeom>
            <a:avLst/>
            <a:gdLst/>
            <a:ahLst/>
            <a:cxnLst/>
            <a:rect l="l" t="t" r="r" b="b"/>
            <a:pathLst>
              <a:path w="11835175" h="1979702">
                <a:moveTo>
                  <a:pt x="0" y="0"/>
                </a:moveTo>
                <a:lnTo>
                  <a:pt x="11835175" y="0"/>
                </a:lnTo>
                <a:lnTo>
                  <a:pt x="11835175" y="1979702"/>
                </a:lnTo>
                <a:lnTo>
                  <a:pt x="0" y="197970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CCD3B255-6B20-90A7-A81E-89B911EABCD4}"/>
              </a:ext>
            </a:extLst>
          </p:cNvPr>
          <p:cNvSpPr txBox="1"/>
          <p:nvPr/>
        </p:nvSpPr>
        <p:spPr>
          <a:xfrm>
            <a:off x="3191843" y="3798411"/>
            <a:ext cx="12212547" cy="1038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400"/>
              </a:lnSpc>
            </a:pPr>
            <a:r>
              <a:rPr lang="en-US" sz="6000">
                <a:solidFill>
                  <a:srgbClr val="01070A"/>
                </a:solidFill>
                <a:latin typeface="Carelia"/>
                <a:ea typeface="Carelia"/>
                <a:cs typeface="Carelia"/>
                <a:sym typeface="Carelia"/>
              </a:rPr>
              <a:t>Seminar </a:t>
            </a:r>
            <a:r>
              <a:rPr lang="en-US" sz="6000" err="1">
                <a:solidFill>
                  <a:srgbClr val="01070A"/>
                </a:solidFill>
                <a:latin typeface="Carelia"/>
                <a:ea typeface="Carelia"/>
                <a:cs typeface="Carelia"/>
                <a:sym typeface="Carelia"/>
              </a:rPr>
              <a:t>Psihologia</a:t>
            </a:r>
            <a:r>
              <a:rPr lang="en-US" sz="6000">
                <a:solidFill>
                  <a:srgbClr val="01070A"/>
                </a:solidFill>
                <a:latin typeface="Carelia"/>
                <a:ea typeface="Carelia"/>
                <a:cs typeface="Carelia"/>
                <a:sym typeface="Carelia"/>
              </a:rPr>
              <a:t> </a:t>
            </a:r>
            <a:r>
              <a:rPr lang="en-US" sz="6000" err="1">
                <a:solidFill>
                  <a:srgbClr val="01070A"/>
                </a:solidFill>
                <a:latin typeface="Carelia"/>
                <a:ea typeface="Carelia"/>
                <a:cs typeface="Carelia"/>
                <a:sym typeface="Carelia"/>
              </a:rPr>
              <a:t>Educației</a:t>
            </a:r>
            <a:endParaRPr lang="en-US" sz="6000">
              <a:solidFill>
                <a:srgbClr val="01070A"/>
              </a:solidFill>
              <a:latin typeface="Carelia"/>
              <a:ea typeface="Carelia"/>
              <a:cs typeface="Carelia"/>
              <a:sym typeface="Carelia"/>
            </a:endParaRPr>
          </a:p>
        </p:txBody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010A7311-9BAA-F2A7-26DB-300D44B3EEA4}"/>
              </a:ext>
            </a:extLst>
          </p:cNvPr>
          <p:cNvSpPr/>
          <p:nvPr/>
        </p:nvSpPr>
        <p:spPr>
          <a:xfrm>
            <a:off x="12456379" y="5404911"/>
            <a:ext cx="8246933" cy="6247677"/>
          </a:xfrm>
          <a:custGeom>
            <a:avLst/>
            <a:gdLst/>
            <a:ahLst/>
            <a:cxnLst/>
            <a:rect l="l" t="t" r="r" b="b"/>
            <a:pathLst>
              <a:path w="8246933" h="6247677">
                <a:moveTo>
                  <a:pt x="0" y="0"/>
                </a:moveTo>
                <a:lnTo>
                  <a:pt x="8246933" y="0"/>
                </a:lnTo>
                <a:lnTo>
                  <a:pt x="8246933" y="6247677"/>
                </a:lnTo>
                <a:lnTo>
                  <a:pt x="0" y="6247677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A783AD29-B7CC-4510-D1DB-1180209E086D}"/>
              </a:ext>
            </a:extLst>
          </p:cNvPr>
          <p:cNvSpPr/>
          <p:nvPr/>
        </p:nvSpPr>
        <p:spPr>
          <a:xfrm>
            <a:off x="15308980" y="-1652824"/>
            <a:ext cx="8905028" cy="5575060"/>
          </a:xfrm>
          <a:custGeom>
            <a:avLst/>
            <a:gdLst/>
            <a:ahLst/>
            <a:cxnLst/>
            <a:rect l="l" t="t" r="r" b="b"/>
            <a:pathLst>
              <a:path w="8905028" h="5575060">
                <a:moveTo>
                  <a:pt x="0" y="0"/>
                </a:moveTo>
                <a:lnTo>
                  <a:pt x="8905029" y="0"/>
                </a:lnTo>
                <a:lnTo>
                  <a:pt x="8905029" y="5575060"/>
                </a:lnTo>
                <a:lnTo>
                  <a:pt x="0" y="557506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DF083B03-0E07-F2B1-0B16-CBA8FE4732B2}"/>
              </a:ext>
            </a:extLst>
          </p:cNvPr>
          <p:cNvSpPr/>
          <p:nvPr/>
        </p:nvSpPr>
        <p:spPr>
          <a:xfrm rot="-3495846">
            <a:off x="-3929800" y="-2685694"/>
            <a:ext cx="5243739" cy="7338566"/>
          </a:xfrm>
          <a:custGeom>
            <a:avLst/>
            <a:gdLst/>
            <a:ahLst/>
            <a:cxnLst/>
            <a:rect l="l" t="t" r="r" b="b"/>
            <a:pathLst>
              <a:path w="5243739" h="7338566">
                <a:moveTo>
                  <a:pt x="0" y="0"/>
                </a:moveTo>
                <a:lnTo>
                  <a:pt x="5243739" y="0"/>
                </a:lnTo>
                <a:lnTo>
                  <a:pt x="5243739" y="7338565"/>
                </a:lnTo>
                <a:lnTo>
                  <a:pt x="0" y="7338565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262ABD51-6A3D-3C4D-5C4A-2CF204C034E8}"/>
              </a:ext>
            </a:extLst>
          </p:cNvPr>
          <p:cNvSpPr txBox="1"/>
          <p:nvPr/>
        </p:nvSpPr>
        <p:spPr>
          <a:xfrm>
            <a:off x="5523248" y="8452549"/>
            <a:ext cx="6639489" cy="12612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32"/>
              </a:lnSpc>
            </a:pPr>
            <a:r>
              <a:rPr lang="en-US" sz="3594" err="1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Drd</a:t>
            </a:r>
            <a:r>
              <a:rPr lang="en-US" sz="3594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. </a:t>
            </a:r>
            <a:r>
              <a:rPr lang="en-US" sz="3594" err="1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Miheș</a:t>
            </a:r>
            <a:r>
              <a:rPr lang="en-US" sz="3594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 Mihai</a:t>
            </a:r>
          </a:p>
          <a:p>
            <a:pPr algn="ctr">
              <a:lnSpc>
                <a:spcPts val="5032"/>
              </a:lnSpc>
            </a:pPr>
            <a:r>
              <a:rPr lang="en-US" sz="3594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mihaimihes@psychology.ro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3CCBFE61-0537-7FD1-7D19-0A8D0B3DEAD0}"/>
              </a:ext>
            </a:extLst>
          </p:cNvPr>
          <p:cNvSpPr txBox="1"/>
          <p:nvPr/>
        </p:nvSpPr>
        <p:spPr>
          <a:xfrm>
            <a:off x="3873108" y="5157636"/>
            <a:ext cx="10850017" cy="21544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400"/>
              </a:lnSpc>
            </a:pPr>
            <a:r>
              <a:rPr lang="en-US" sz="6000" err="1">
                <a:solidFill>
                  <a:srgbClr val="01070A"/>
                </a:solidFill>
                <a:latin typeface="Carelia"/>
                <a:ea typeface="Carelia"/>
                <a:cs typeface="Carelia"/>
                <a:sym typeface="Carelia"/>
              </a:rPr>
              <a:t>Inteligența</a:t>
            </a:r>
            <a:r>
              <a:rPr lang="ro-RO" sz="6000">
                <a:solidFill>
                  <a:srgbClr val="01070A"/>
                </a:solidFill>
                <a:latin typeface="Carelia"/>
                <a:ea typeface="Carelia"/>
                <a:cs typeface="Carelia"/>
                <a:sym typeface="Carelia"/>
              </a:rPr>
              <a:t> și Funcțiile Executive</a:t>
            </a:r>
            <a:endParaRPr lang="en-US" sz="6000">
              <a:solidFill>
                <a:srgbClr val="01070A"/>
              </a:solidFill>
              <a:latin typeface="Carelia"/>
              <a:ea typeface="Carelia"/>
              <a:cs typeface="Carelia"/>
              <a:sym typeface="Carelia"/>
            </a:endParaRPr>
          </a:p>
        </p:txBody>
      </p:sp>
    </p:spTree>
    <p:extLst>
      <p:ext uri="{BB962C8B-B14F-4D97-AF65-F5344CB8AC3E}">
        <p14:creationId xmlns:p14="http://schemas.microsoft.com/office/powerpoint/2010/main" val="7025828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5555" b="-5555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2764825" y="1664070"/>
            <a:ext cx="14655789" cy="7836171"/>
            <a:chOff x="0" y="0"/>
            <a:chExt cx="3859961" cy="206384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3859961" cy="2063847"/>
            </a:xfrm>
            <a:custGeom>
              <a:avLst/>
              <a:gdLst/>
              <a:ahLst/>
              <a:cxnLst/>
              <a:rect l="l" t="t" r="r" b="b"/>
              <a:pathLst>
                <a:path w="3859961" h="2063847">
                  <a:moveTo>
                    <a:pt x="0" y="0"/>
                  </a:moveTo>
                  <a:lnTo>
                    <a:pt x="3859961" y="0"/>
                  </a:lnTo>
                  <a:lnTo>
                    <a:pt x="3859961" y="2063847"/>
                  </a:lnTo>
                  <a:lnTo>
                    <a:pt x="0" y="2063847"/>
                  </a:lnTo>
                  <a:close/>
                </a:path>
              </a:pathLst>
            </a:custGeom>
            <a:solidFill>
              <a:srgbClr val="000000">
                <a:alpha val="31765"/>
              </a:srgbClr>
            </a:solidFill>
            <a:ln w="38100" cap="sq">
              <a:solidFill>
                <a:srgbClr val="000000">
                  <a:alpha val="31765"/>
                </a:srgbClr>
              </a:solidFill>
              <a:prstDash val="solid"/>
              <a:miter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3859961" cy="211147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10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2020485" y="1449282"/>
            <a:ext cx="14761929" cy="8050959"/>
            <a:chOff x="0" y="0"/>
            <a:chExt cx="3887915" cy="2120417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3887915" cy="2120417"/>
            </a:xfrm>
            <a:custGeom>
              <a:avLst/>
              <a:gdLst/>
              <a:ahLst/>
              <a:cxnLst/>
              <a:rect l="l" t="t" r="r" b="b"/>
              <a:pathLst>
                <a:path w="3887915" h="2120417">
                  <a:moveTo>
                    <a:pt x="5769" y="0"/>
                  </a:moveTo>
                  <a:lnTo>
                    <a:pt x="3882146" y="0"/>
                  </a:lnTo>
                  <a:cubicBezTo>
                    <a:pt x="3885333" y="0"/>
                    <a:pt x="3887915" y="2583"/>
                    <a:pt x="3887915" y="5769"/>
                  </a:cubicBezTo>
                  <a:lnTo>
                    <a:pt x="3887915" y="2114648"/>
                  </a:lnTo>
                  <a:cubicBezTo>
                    <a:pt x="3887915" y="2116178"/>
                    <a:pt x="3887308" y="2117646"/>
                    <a:pt x="3886226" y="2118727"/>
                  </a:cubicBezTo>
                  <a:cubicBezTo>
                    <a:pt x="3885144" y="2119809"/>
                    <a:pt x="3883677" y="2120417"/>
                    <a:pt x="3882146" y="2120417"/>
                  </a:cubicBezTo>
                  <a:lnTo>
                    <a:pt x="5769" y="2120417"/>
                  </a:lnTo>
                  <a:cubicBezTo>
                    <a:pt x="2583" y="2120417"/>
                    <a:pt x="0" y="2117834"/>
                    <a:pt x="0" y="2114648"/>
                  </a:cubicBezTo>
                  <a:lnTo>
                    <a:pt x="0" y="5769"/>
                  </a:lnTo>
                  <a:cubicBezTo>
                    <a:pt x="0" y="2583"/>
                    <a:pt x="2583" y="0"/>
                    <a:pt x="5769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0" y="-47625"/>
              <a:ext cx="3887915" cy="216804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10"/>
                </a:lnSpc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>
            <a:off x="7567784" y="975862"/>
            <a:ext cx="3667332" cy="946839"/>
          </a:xfrm>
          <a:custGeom>
            <a:avLst/>
            <a:gdLst/>
            <a:ahLst/>
            <a:cxnLst/>
            <a:rect l="l" t="t" r="r" b="b"/>
            <a:pathLst>
              <a:path w="3667332" h="946839">
                <a:moveTo>
                  <a:pt x="0" y="0"/>
                </a:moveTo>
                <a:lnTo>
                  <a:pt x="3667332" y="0"/>
                </a:lnTo>
                <a:lnTo>
                  <a:pt x="3667332" y="946839"/>
                </a:lnTo>
                <a:lnTo>
                  <a:pt x="0" y="94683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14827102" y="8539282"/>
            <a:ext cx="6921795" cy="4114800"/>
          </a:xfrm>
          <a:custGeom>
            <a:avLst/>
            <a:gdLst/>
            <a:ahLst/>
            <a:cxnLst/>
            <a:rect l="l" t="t" r="r" b="b"/>
            <a:pathLst>
              <a:path w="6921795" h="4114800">
                <a:moveTo>
                  <a:pt x="0" y="0"/>
                </a:moveTo>
                <a:lnTo>
                  <a:pt x="6921796" y="0"/>
                </a:lnTo>
                <a:lnTo>
                  <a:pt x="6921796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2973183" y="2552835"/>
            <a:ext cx="12856533" cy="6058641"/>
          </a:xfrm>
          <a:custGeom>
            <a:avLst/>
            <a:gdLst/>
            <a:ahLst/>
            <a:cxnLst/>
            <a:rect l="l" t="t" r="r" b="b"/>
            <a:pathLst>
              <a:path w="12856533" h="6058641">
                <a:moveTo>
                  <a:pt x="0" y="0"/>
                </a:moveTo>
                <a:lnTo>
                  <a:pt x="12856533" y="0"/>
                </a:lnTo>
                <a:lnTo>
                  <a:pt x="12856533" y="6058641"/>
                </a:lnTo>
                <a:lnTo>
                  <a:pt x="0" y="605864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5555" b="-5555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2764825" y="1664070"/>
            <a:ext cx="14655789" cy="7836171"/>
            <a:chOff x="0" y="0"/>
            <a:chExt cx="3859961" cy="206384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3859961" cy="2063847"/>
            </a:xfrm>
            <a:custGeom>
              <a:avLst/>
              <a:gdLst/>
              <a:ahLst/>
              <a:cxnLst/>
              <a:rect l="l" t="t" r="r" b="b"/>
              <a:pathLst>
                <a:path w="3859961" h="2063847">
                  <a:moveTo>
                    <a:pt x="0" y="0"/>
                  </a:moveTo>
                  <a:lnTo>
                    <a:pt x="3859961" y="0"/>
                  </a:lnTo>
                  <a:lnTo>
                    <a:pt x="3859961" y="2063847"/>
                  </a:lnTo>
                  <a:lnTo>
                    <a:pt x="0" y="2063847"/>
                  </a:lnTo>
                  <a:close/>
                </a:path>
              </a:pathLst>
            </a:custGeom>
            <a:solidFill>
              <a:srgbClr val="000000">
                <a:alpha val="31765"/>
              </a:srgbClr>
            </a:solidFill>
            <a:ln w="38100" cap="sq">
              <a:solidFill>
                <a:srgbClr val="000000">
                  <a:alpha val="31765"/>
                </a:srgbClr>
              </a:solidFill>
              <a:prstDash val="solid"/>
              <a:miter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3859961" cy="211147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10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028700" y="291619"/>
            <a:ext cx="15753714" cy="9208622"/>
            <a:chOff x="0" y="0"/>
            <a:chExt cx="4149126" cy="2425316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4149127" cy="2425316"/>
            </a:xfrm>
            <a:custGeom>
              <a:avLst/>
              <a:gdLst/>
              <a:ahLst/>
              <a:cxnLst/>
              <a:rect l="l" t="t" r="r" b="b"/>
              <a:pathLst>
                <a:path w="4149127" h="2425316">
                  <a:moveTo>
                    <a:pt x="5406" y="0"/>
                  </a:moveTo>
                  <a:lnTo>
                    <a:pt x="4143721" y="0"/>
                  </a:lnTo>
                  <a:cubicBezTo>
                    <a:pt x="4145154" y="0"/>
                    <a:pt x="4146529" y="570"/>
                    <a:pt x="4147543" y="1583"/>
                  </a:cubicBezTo>
                  <a:cubicBezTo>
                    <a:pt x="4148557" y="2597"/>
                    <a:pt x="4149127" y="3972"/>
                    <a:pt x="4149127" y="5406"/>
                  </a:cubicBezTo>
                  <a:lnTo>
                    <a:pt x="4149127" y="2419910"/>
                  </a:lnTo>
                  <a:cubicBezTo>
                    <a:pt x="4149127" y="2422896"/>
                    <a:pt x="4146706" y="2425316"/>
                    <a:pt x="4143721" y="2425316"/>
                  </a:cubicBezTo>
                  <a:lnTo>
                    <a:pt x="5406" y="2425316"/>
                  </a:lnTo>
                  <a:cubicBezTo>
                    <a:pt x="3972" y="2425316"/>
                    <a:pt x="2597" y="2424746"/>
                    <a:pt x="1583" y="2423733"/>
                  </a:cubicBezTo>
                  <a:cubicBezTo>
                    <a:pt x="570" y="2422719"/>
                    <a:pt x="0" y="2421344"/>
                    <a:pt x="0" y="2419910"/>
                  </a:cubicBezTo>
                  <a:lnTo>
                    <a:pt x="0" y="5406"/>
                  </a:lnTo>
                  <a:cubicBezTo>
                    <a:pt x="0" y="3972"/>
                    <a:pt x="570" y="2597"/>
                    <a:pt x="1583" y="1583"/>
                  </a:cubicBezTo>
                  <a:cubicBezTo>
                    <a:pt x="2597" y="570"/>
                    <a:pt x="3972" y="0"/>
                    <a:pt x="5406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0" y="-47625"/>
              <a:ext cx="4149126" cy="247294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10"/>
                </a:lnSpc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>
            <a:off x="7071891" y="81861"/>
            <a:ext cx="3667332" cy="946839"/>
          </a:xfrm>
          <a:custGeom>
            <a:avLst/>
            <a:gdLst/>
            <a:ahLst/>
            <a:cxnLst/>
            <a:rect l="l" t="t" r="r" b="b"/>
            <a:pathLst>
              <a:path w="3667332" h="946839">
                <a:moveTo>
                  <a:pt x="0" y="0"/>
                </a:moveTo>
                <a:lnTo>
                  <a:pt x="3667332" y="0"/>
                </a:lnTo>
                <a:lnTo>
                  <a:pt x="3667332" y="946839"/>
                </a:lnTo>
                <a:lnTo>
                  <a:pt x="0" y="94683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14827102" y="8539282"/>
            <a:ext cx="6921795" cy="4114800"/>
          </a:xfrm>
          <a:custGeom>
            <a:avLst/>
            <a:gdLst/>
            <a:ahLst/>
            <a:cxnLst/>
            <a:rect l="l" t="t" r="r" b="b"/>
            <a:pathLst>
              <a:path w="6921795" h="4114800">
                <a:moveTo>
                  <a:pt x="0" y="0"/>
                </a:moveTo>
                <a:lnTo>
                  <a:pt x="6921796" y="0"/>
                </a:lnTo>
                <a:lnTo>
                  <a:pt x="6921796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3992451" y="1028700"/>
            <a:ext cx="10303099" cy="8229600"/>
          </a:xfrm>
          <a:custGeom>
            <a:avLst/>
            <a:gdLst/>
            <a:ahLst/>
            <a:cxnLst/>
            <a:rect l="l" t="t" r="r" b="b"/>
            <a:pathLst>
              <a:path w="10303099" h="8229600">
                <a:moveTo>
                  <a:pt x="0" y="0"/>
                </a:moveTo>
                <a:lnTo>
                  <a:pt x="10303098" y="0"/>
                </a:lnTo>
                <a:lnTo>
                  <a:pt x="10303098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5555" b="-5555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133019" y="3045203"/>
            <a:ext cx="5147591" cy="5551324"/>
          </a:xfrm>
          <a:custGeom>
            <a:avLst/>
            <a:gdLst/>
            <a:ahLst/>
            <a:cxnLst/>
            <a:rect l="l" t="t" r="r" b="b"/>
            <a:pathLst>
              <a:path w="5147591" h="5551324">
                <a:moveTo>
                  <a:pt x="0" y="0"/>
                </a:moveTo>
                <a:lnTo>
                  <a:pt x="5147591" y="0"/>
                </a:lnTo>
                <a:lnTo>
                  <a:pt x="5147591" y="5551323"/>
                </a:lnTo>
                <a:lnTo>
                  <a:pt x="0" y="555132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6881819" y="3045203"/>
            <a:ext cx="5147591" cy="5551324"/>
          </a:xfrm>
          <a:custGeom>
            <a:avLst/>
            <a:gdLst/>
            <a:ahLst/>
            <a:cxnLst/>
            <a:rect l="l" t="t" r="r" b="b"/>
            <a:pathLst>
              <a:path w="5147591" h="5551324">
                <a:moveTo>
                  <a:pt x="0" y="0"/>
                </a:moveTo>
                <a:lnTo>
                  <a:pt x="5147591" y="0"/>
                </a:lnTo>
                <a:lnTo>
                  <a:pt x="5147591" y="5551323"/>
                </a:lnTo>
                <a:lnTo>
                  <a:pt x="0" y="555132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2477740" y="3045203"/>
            <a:ext cx="5147591" cy="5551324"/>
          </a:xfrm>
          <a:custGeom>
            <a:avLst/>
            <a:gdLst/>
            <a:ahLst/>
            <a:cxnLst/>
            <a:rect l="l" t="t" r="r" b="b"/>
            <a:pathLst>
              <a:path w="5147591" h="5551324">
                <a:moveTo>
                  <a:pt x="0" y="0"/>
                </a:moveTo>
                <a:lnTo>
                  <a:pt x="5147591" y="0"/>
                </a:lnTo>
                <a:lnTo>
                  <a:pt x="5147591" y="5551323"/>
                </a:lnTo>
                <a:lnTo>
                  <a:pt x="0" y="555132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4908011" y="7972477"/>
            <a:ext cx="5939287" cy="4114800"/>
          </a:xfrm>
          <a:custGeom>
            <a:avLst/>
            <a:gdLst/>
            <a:ahLst/>
            <a:cxnLst/>
            <a:rect l="l" t="t" r="r" b="b"/>
            <a:pathLst>
              <a:path w="5939287" h="4114800">
                <a:moveTo>
                  <a:pt x="0" y="0"/>
                </a:moveTo>
                <a:lnTo>
                  <a:pt x="5939286" y="0"/>
                </a:lnTo>
                <a:lnTo>
                  <a:pt x="5939286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7266323" y="4676573"/>
            <a:ext cx="4424608" cy="33581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32"/>
              </a:lnSpc>
            </a:pPr>
            <a:r>
              <a:rPr lang="en-US" sz="3165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Abordări generale asupra inteligenței: </a:t>
            </a:r>
          </a:p>
          <a:p>
            <a:pPr marL="683519" lvl="1" indent="-341760" algn="ctr">
              <a:lnSpc>
                <a:spcPts val="4432"/>
              </a:lnSpc>
              <a:buFont typeface="Arial"/>
              <a:buChar char="•"/>
            </a:pPr>
            <a:r>
              <a:rPr lang="en-US" sz="3165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O trăsătură unică</a:t>
            </a:r>
          </a:p>
          <a:p>
            <a:pPr marL="683519" lvl="1" indent="-341760" algn="ctr">
              <a:lnSpc>
                <a:spcPts val="4432"/>
              </a:lnSpc>
              <a:buFont typeface="Arial"/>
              <a:buChar char="•"/>
            </a:pPr>
            <a:r>
              <a:rPr lang="en-US" sz="3165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Set de abilități de bază</a:t>
            </a:r>
          </a:p>
          <a:p>
            <a:pPr marL="683519" lvl="1" indent="-341760" algn="ctr">
              <a:lnSpc>
                <a:spcPts val="4432"/>
              </a:lnSpc>
              <a:buFont typeface="Arial"/>
              <a:buChar char="•"/>
            </a:pPr>
            <a:r>
              <a:rPr lang="en-US" sz="3165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Set de procese de bază</a:t>
            </a:r>
          </a:p>
          <a:p>
            <a:pPr algn="ctr">
              <a:lnSpc>
                <a:spcPts val="4432"/>
              </a:lnSpc>
            </a:pPr>
            <a:endParaRPr lang="en-US" sz="3165">
              <a:solidFill>
                <a:srgbClr val="01070A"/>
              </a:solidFill>
              <a:latin typeface="Dosis"/>
              <a:ea typeface="Dosis"/>
              <a:cs typeface="Dosis"/>
              <a:sym typeface="Dosis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1840185" y="101978"/>
            <a:ext cx="14902495" cy="1038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8400"/>
              </a:lnSpc>
              <a:spcBef>
                <a:spcPct val="0"/>
              </a:spcBef>
            </a:pPr>
            <a:r>
              <a:rPr lang="en-US" sz="6000">
                <a:solidFill>
                  <a:srgbClr val="01070A"/>
                </a:solidFill>
                <a:latin typeface="Carelia"/>
                <a:ea typeface="Carelia"/>
                <a:cs typeface="Carelia"/>
                <a:sym typeface="Carelia"/>
              </a:rPr>
              <a:t>Ce este Inteligența?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321778" y="4695623"/>
            <a:ext cx="4770073" cy="26484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47"/>
              </a:lnSpc>
            </a:pPr>
            <a:r>
              <a:rPr lang="en-US" sz="3033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Nu </a:t>
            </a:r>
            <a:r>
              <a:rPr lang="en-US" sz="3033" err="1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avem</a:t>
            </a:r>
            <a:r>
              <a:rPr lang="en-US" sz="3033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 o </a:t>
            </a:r>
            <a:r>
              <a:rPr lang="en-US" sz="3033" err="1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definiție</a:t>
            </a:r>
            <a:r>
              <a:rPr lang="en-US" sz="3033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 </a:t>
            </a:r>
            <a:r>
              <a:rPr lang="en-US" sz="3033" err="1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clară</a:t>
            </a:r>
            <a:r>
              <a:rPr lang="en-US" sz="3033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 a </a:t>
            </a:r>
            <a:r>
              <a:rPr lang="en-US" sz="3033" err="1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inteligenței</a:t>
            </a:r>
            <a:r>
              <a:rPr lang="en-US" sz="3033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, ci </a:t>
            </a:r>
            <a:r>
              <a:rPr lang="en-US" sz="3033" err="1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mai</a:t>
            </a:r>
            <a:r>
              <a:rPr lang="en-US" sz="3033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 </a:t>
            </a:r>
            <a:r>
              <a:rPr lang="en-US" sz="3033" err="1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multe</a:t>
            </a:r>
            <a:r>
              <a:rPr lang="en-US" sz="3033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 </a:t>
            </a:r>
            <a:r>
              <a:rPr lang="en-US" sz="3033" err="1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modele</a:t>
            </a:r>
            <a:r>
              <a:rPr lang="en-US" sz="3033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 care </a:t>
            </a:r>
            <a:r>
              <a:rPr lang="en-US" sz="3033" err="1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încearcă</a:t>
            </a:r>
            <a:r>
              <a:rPr lang="en-US" sz="3033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 </a:t>
            </a:r>
            <a:r>
              <a:rPr lang="en-US" sz="3033" err="1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să</a:t>
            </a:r>
            <a:r>
              <a:rPr lang="en-US" sz="3033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 </a:t>
            </a:r>
            <a:r>
              <a:rPr lang="en-US" sz="3033" err="1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explice</a:t>
            </a:r>
            <a:r>
              <a:rPr lang="en-US" sz="3033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 </a:t>
            </a:r>
            <a:r>
              <a:rPr lang="en-US" sz="3033" err="1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complexitatea</a:t>
            </a:r>
            <a:r>
              <a:rPr lang="en-US" sz="3033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 </a:t>
            </a:r>
            <a:r>
              <a:rPr lang="en-US" sz="3033" err="1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constructului</a:t>
            </a:r>
            <a:endParaRPr lang="en-US" sz="3033">
              <a:solidFill>
                <a:srgbClr val="01070A"/>
              </a:solidFill>
              <a:latin typeface="Dosis"/>
              <a:ea typeface="Dosis"/>
              <a:cs typeface="Dosis"/>
              <a:sym typeface="Dosis"/>
            </a:endParaRPr>
          </a:p>
          <a:p>
            <a:pPr algn="ctr">
              <a:lnSpc>
                <a:spcPts val="4247"/>
              </a:lnSpc>
            </a:pPr>
            <a:endParaRPr lang="en-US" sz="3033">
              <a:solidFill>
                <a:srgbClr val="01070A"/>
              </a:solidFill>
              <a:latin typeface="Dosis"/>
              <a:ea typeface="Dosis"/>
              <a:cs typeface="Dosis"/>
              <a:sym typeface="Dosis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12839231" y="4342382"/>
            <a:ext cx="4424608" cy="39200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32"/>
              </a:lnSpc>
            </a:pPr>
            <a:r>
              <a:rPr lang="ro-RO" sz="3165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C</a:t>
            </a:r>
            <a:r>
              <a:rPr lang="en-US" sz="3165" err="1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apacitate</a:t>
            </a:r>
            <a:r>
              <a:rPr lang="en-US" sz="3165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 </a:t>
            </a:r>
            <a:r>
              <a:rPr lang="en-US" sz="3165" err="1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generală</a:t>
            </a:r>
            <a:r>
              <a:rPr lang="en-US" sz="3165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 de </a:t>
            </a:r>
            <a:r>
              <a:rPr lang="en-US" sz="3165" err="1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înțelegere</a:t>
            </a:r>
            <a:r>
              <a:rPr lang="en-US" sz="3165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 </a:t>
            </a:r>
            <a:r>
              <a:rPr lang="en-US" sz="3165" err="1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și</a:t>
            </a:r>
            <a:r>
              <a:rPr lang="en-US" sz="3165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 </a:t>
            </a:r>
            <a:r>
              <a:rPr lang="en-US" sz="3165" err="1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raționament</a:t>
            </a:r>
            <a:r>
              <a:rPr lang="en-US" sz="3165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, care se </a:t>
            </a:r>
            <a:r>
              <a:rPr lang="en-US" sz="3165" err="1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manifestă</a:t>
            </a:r>
            <a:r>
              <a:rPr lang="en-US" sz="3165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 </a:t>
            </a:r>
            <a:r>
              <a:rPr lang="en-US" sz="3165" err="1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în</a:t>
            </a:r>
            <a:r>
              <a:rPr lang="en-US" sz="3165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 sine sub </a:t>
            </a:r>
            <a:r>
              <a:rPr lang="en-US" sz="3165" err="1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diferite</a:t>
            </a:r>
            <a:r>
              <a:rPr lang="en-US" sz="3165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 </a:t>
            </a:r>
            <a:r>
              <a:rPr lang="en-US" sz="3165" err="1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forme</a:t>
            </a:r>
            <a:r>
              <a:rPr lang="en-US" sz="3165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 (</a:t>
            </a:r>
            <a:r>
              <a:rPr lang="en-US" sz="3165" err="1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capacitatea</a:t>
            </a:r>
            <a:r>
              <a:rPr lang="en-US" sz="3165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 de </a:t>
            </a:r>
            <a:r>
              <a:rPr lang="en-US" sz="3165" err="1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memorare</a:t>
            </a:r>
            <a:r>
              <a:rPr lang="en-US" sz="3165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, </a:t>
            </a:r>
            <a:r>
              <a:rPr lang="en-US" sz="3165" err="1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deprinderi</a:t>
            </a:r>
            <a:r>
              <a:rPr lang="en-US" sz="3165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 </a:t>
            </a:r>
            <a:r>
              <a:rPr lang="en-US" sz="3165" err="1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aritmetice</a:t>
            </a:r>
            <a:r>
              <a:rPr lang="en-US" sz="3165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, </a:t>
            </a:r>
            <a:r>
              <a:rPr lang="en-US" sz="3165" err="1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cunoașterea</a:t>
            </a:r>
            <a:r>
              <a:rPr lang="en-US" sz="3165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 </a:t>
            </a:r>
            <a:r>
              <a:rPr lang="en-US" sz="3165" err="1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vocabularului</a:t>
            </a:r>
            <a:r>
              <a:rPr lang="en-US" sz="3165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) 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2839232" y="5754189"/>
            <a:ext cx="4424608" cy="5482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32"/>
              </a:lnSpc>
            </a:pPr>
            <a:r>
              <a:rPr lang="en-US" sz="3165" err="1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Standford</a:t>
            </a:r>
            <a:r>
              <a:rPr lang="en-US" sz="3165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 - Binet</a:t>
            </a:r>
          </a:p>
        </p:txBody>
      </p:sp>
    </p:spTree>
  </p:cSld>
  <p:clrMapOvr>
    <a:masterClrMapping/>
  </p:clrMapOvr>
  <p:transition spd="med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  <p:bldP spid="11" grpId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5555" b="-5555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0" y="0"/>
            <a:ext cx="18288000" cy="10287000"/>
            <a:chOff x="0" y="0"/>
            <a:chExt cx="4816593" cy="270933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816592" cy="2709333"/>
            </a:xfrm>
            <a:custGeom>
              <a:avLst/>
              <a:gdLst/>
              <a:ahLst/>
              <a:cxnLst/>
              <a:rect l="l" t="t" r="r" b="b"/>
              <a:pathLst>
                <a:path w="4816592" h="2709333">
                  <a:moveTo>
                    <a:pt x="0" y="0"/>
                  </a:moveTo>
                  <a:lnTo>
                    <a:pt x="4816592" y="0"/>
                  </a:lnTo>
                  <a:lnTo>
                    <a:pt x="4816592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657225" cap="sq">
              <a:solidFill>
                <a:srgbClr val="1E3F48"/>
              </a:solidFill>
              <a:prstDash val="solid"/>
              <a:miter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4816593" cy="27569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10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1696258" y="2123983"/>
            <a:ext cx="6356958" cy="6356958"/>
          </a:xfrm>
          <a:custGeom>
            <a:avLst/>
            <a:gdLst/>
            <a:ahLst/>
            <a:cxnLst/>
            <a:rect l="l" t="t" r="r" b="b"/>
            <a:pathLst>
              <a:path w="6356958" h="6356958">
                <a:moveTo>
                  <a:pt x="0" y="0"/>
                </a:moveTo>
                <a:lnTo>
                  <a:pt x="6356958" y="0"/>
                </a:lnTo>
                <a:lnTo>
                  <a:pt x="6356958" y="6356958"/>
                </a:lnTo>
                <a:lnTo>
                  <a:pt x="0" y="635695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2667000" y="2198988"/>
            <a:ext cx="11658600" cy="6721349"/>
          </a:xfrm>
          <a:custGeom>
            <a:avLst/>
            <a:gdLst/>
            <a:ahLst/>
            <a:cxnLst/>
            <a:rect l="l" t="t" r="r" b="b"/>
            <a:pathLst>
              <a:path w="9057342" h="4643612">
                <a:moveTo>
                  <a:pt x="0" y="0"/>
                </a:moveTo>
                <a:lnTo>
                  <a:pt x="9057342" y="0"/>
                </a:lnTo>
                <a:lnTo>
                  <a:pt x="9057342" y="4643612"/>
                </a:lnTo>
                <a:lnTo>
                  <a:pt x="0" y="464361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12315513" y="-320333"/>
            <a:ext cx="6356958" cy="6868838"/>
          </a:xfrm>
          <a:custGeom>
            <a:avLst/>
            <a:gdLst/>
            <a:ahLst/>
            <a:cxnLst/>
            <a:rect l="l" t="t" r="r" b="b"/>
            <a:pathLst>
              <a:path w="4091170" h="5300301">
                <a:moveTo>
                  <a:pt x="0" y="0"/>
                </a:moveTo>
                <a:lnTo>
                  <a:pt x="4091170" y="0"/>
                </a:lnTo>
                <a:lnTo>
                  <a:pt x="4091170" y="5300302"/>
                </a:lnTo>
                <a:lnTo>
                  <a:pt x="0" y="530030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3936822" y="550511"/>
            <a:ext cx="10707215" cy="14343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893"/>
              </a:lnSpc>
            </a:pPr>
            <a:r>
              <a:rPr lang="en-US" sz="8495">
                <a:solidFill>
                  <a:srgbClr val="01070A"/>
                </a:solidFill>
                <a:latin typeface="Carelia"/>
                <a:ea typeface="Carelia"/>
                <a:cs typeface="Carelia"/>
                <a:sym typeface="Carelia"/>
              </a:rPr>
              <a:t>Stanford-Binet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xit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4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0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2" presetClass="exit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8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5555" b="-5555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0" y="0"/>
            <a:ext cx="18288000" cy="10287000"/>
            <a:chOff x="0" y="0"/>
            <a:chExt cx="4816593" cy="270933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816592" cy="2709333"/>
            </a:xfrm>
            <a:custGeom>
              <a:avLst/>
              <a:gdLst/>
              <a:ahLst/>
              <a:cxnLst/>
              <a:rect l="l" t="t" r="r" b="b"/>
              <a:pathLst>
                <a:path w="4816592" h="2709333">
                  <a:moveTo>
                    <a:pt x="0" y="0"/>
                  </a:moveTo>
                  <a:lnTo>
                    <a:pt x="4816592" y="0"/>
                  </a:lnTo>
                  <a:lnTo>
                    <a:pt x="4816592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657225" cap="sq">
              <a:solidFill>
                <a:srgbClr val="1E3F48"/>
              </a:solidFill>
              <a:prstDash val="solid"/>
              <a:miter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4816593" cy="27569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10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1484708" y="2704881"/>
            <a:ext cx="5326692" cy="6148933"/>
          </a:xfrm>
          <a:custGeom>
            <a:avLst/>
            <a:gdLst/>
            <a:ahLst/>
            <a:cxnLst/>
            <a:rect l="l" t="t" r="r" b="b"/>
            <a:pathLst>
              <a:path w="5326692" h="6148933">
                <a:moveTo>
                  <a:pt x="0" y="0"/>
                </a:moveTo>
                <a:lnTo>
                  <a:pt x="5326692" y="0"/>
                </a:lnTo>
                <a:lnTo>
                  <a:pt x="5326692" y="6148933"/>
                </a:lnTo>
                <a:lnTo>
                  <a:pt x="0" y="614893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9144000" y="2757740"/>
            <a:ext cx="7289926" cy="6043216"/>
          </a:xfrm>
          <a:custGeom>
            <a:avLst/>
            <a:gdLst/>
            <a:ahLst/>
            <a:cxnLst/>
            <a:rect l="l" t="t" r="r" b="b"/>
            <a:pathLst>
              <a:path w="7289926" h="6043216">
                <a:moveTo>
                  <a:pt x="0" y="0"/>
                </a:moveTo>
                <a:lnTo>
                  <a:pt x="7289926" y="0"/>
                </a:lnTo>
                <a:lnTo>
                  <a:pt x="7289926" y="6043216"/>
                </a:lnTo>
                <a:lnTo>
                  <a:pt x="0" y="604321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462369" y="550511"/>
            <a:ext cx="17656121" cy="14343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893"/>
              </a:lnSpc>
            </a:pPr>
            <a:r>
              <a:rPr lang="en-US" sz="8495">
                <a:solidFill>
                  <a:srgbClr val="01070A"/>
                </a:solidFill>
                <a:latin typeface="Carelia"/>
                <a:ea typeface="Carelia"/>
                <a:cs typeface="Carelia"/>
                <a:sym typeface="Carelia"/>
              </a:rPr>
              <a:t>Scala de inteligență Wechsler 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2362200" y="2165651"/>
            <a:ext cx="13165844" cy="164301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432"/>
              </a:lnSpc>
            </a:pPr>
            <a:r>
              <a:rPr lang="en-US" sz="3165" err="1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Inteligența</a:t>
            </a:r>
            <a:r>
              <a:rPr lang="en-US" sz="3165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 </a:t>
            </a:r>
            <a:r>
              <a:rPr lang="en-US" sz="3165" err="1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este</a:t>
            </a:r>
            <a:r>
              <a:rPr lang="en-US" sz="3165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 un </a:t>
            </a:r>
            <a:r>
              <a:rPr lang="en-US" sz="3165" err="1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agregat</a:t>
            </a:r>
            <a:r>
              <a:rPr lang="en-US" sz="3165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 </a:t>
            </a:r>
            <a:r>
              <a:rPr lang="en-US" sz="3165" err="1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sau</a:t>
            </a:r>
            <a:r>
              <a:rPr lang="en-US" sz="3165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 o capacitate </a:t>
            </a:r>
            <a:r>
              <a:rPr lang="en-US" sz="3165" err="1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globală</a:t>
            </a:r>
            <a:r>
              <a:rPr lang="en-US" sz="3165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 a </a:t>
            </a:r>
            <a:r>
              <a:rPr lang="en-US" sz="3165" err="1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individului</a:t>
            </a:r>
            <a:r>
              <a:rPr lang="en-US" sz="3165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 de a </a:t>
            </a:r>
            <a:r>
              <a:rPr lang="en-US" sz="3165" err="1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acționa</a:t>
            </a:r>
            <a:r>
              <a:rPr lang="en-US" sz="3165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 </a:t>
            </a:r>
            <a:r>
              <a:rPr lang="en-US" sz="3165" err="1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intenționat</a:t>
            </a:r>
            <a:r>
              <a:rPr lang="en-US" sz="3165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, de a </a:t>
            </a:r>
            <a:r>
              <a:rPr lang="en-US" sz="3165" err="1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gândi</a:t>
            </a:r>
            <a:r>
              <a:rPr lang="en-US" sz="3165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 </a:t>
            </a:r>
            <a:r>
              <a:rPr lang="en-US" sz="3165" err="1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rațional</a:t>
            </a:r>
            <a:r>
              <a:rPr lang="en-US" sz="3165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 </a:t>
            </a:r>
            <a:r>
              <a:rPr lang="en-US" sz="3165" err="1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și</a:t>
            </a:r>
            <a:r>
              <a:rPr lang="en-US" sz="3165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 de a face </a:t>
            </a:r>
            <a:r>
              <a:rPr lang="en-US" sz="3165" err="1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față</a:t>
            </a:r>
            <a:r>
              <a:rPr lang="en-US" sz="3165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 cu </a:t>
            </a:r>
            <a:r>
              <a:rPr lang="en-US" sz="3165" err="1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eficiență</a:t>
            </a:r>
            <a:r>
              <a:rPr lang="en-US" sz="3165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 </a:t>
            </a:r>
            <a:r>
              <a:rPr lang="en-US" sz="3165" err="1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mediului</a:t>
            </a:r>
            <a:r>
              <a:rPr lang="en-US" sz="3165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 </a:t>
            </a:r>
            <a:r>
              <a:rPr lang="en-US" sz="3165" err="1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său</a:t>
            </a:r>
            <a:r>
              <a:rPr lang="en-US" sz="3165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” (Wechsler, 1958)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xit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5555" b="-5555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818968" y="1878811"/>
            <a:ext cx="14650064" cy="7379489"/>
            <a:chOff x="0" y="0"/>
            <a:chExt cx="4491524" cy="2262458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491524" cy="2262458"/>
            </a:xfrm>
            <a:custGeom>
              <a:avLst/>
              <a:gdLst/>
              <a:ahLst/>
              <a:cxnLst/>
              <a:rect l="l" t="t" r="r" b="b"/>
              <a:pathLst>
                <a:path w="4491524" h="2262458">
                  <a:moveTo>
                    <a:pt x="5813" y="0"/>
                  </a:moveTo>
                  <a:lnTo>
                    <a:pt x="4485710" y="0"/>
                  </a:lnTo>
                  <a:cubicBezTo>
                    <a:pt x="4487252" y="0"/>
                    <a:pt x="4488731" y="612"/>
                    <a:pt x="4489821" y="1703"/>
                  </a:cubicBezTo>
                  <a:cubicBezTo>
                    <a:pt x="4490911" y="2793"/>
                    <a:pt x="4491524" y="4271"/>
                    <a:pt x="4491524" y="5813"/>
                  </a:cubicBezTo>
                  <a:lnTo>
                    <a:pt x="4491524" y="2256645"/>
                  </a:lnTo>
                  <a:cubicBezTo>
                    <a:pt x="4491524" y="2258187"/>
                    <a:pt x="4490911" y="2259665"/>
                    <a:pt x="4489821" y="2260755"/>
                  </a:cubicBezTo>
                  <a:cubicBezTo>
                    <a:pt x="4488731" y="2261845"/>
                    <a:pt x="4487252" y="2262458"/>
                    <a:pt x="4485710" y="2262458"/>
                  </a:cubicBezTo>
                  <a:lnTo>
                    <a:pt x="5813" y="2262458"/>
                  </a:lnTo>
                  <a:cubicBezTo>
                    <a:pt x="4271" y="2262458"/>
                    <a:pt x="2793" y="2261845"/>
                    <a:pt x="1703" y="2260755"/>
                  </a:cubicBezTo>
                  <a:cubicBezTo>
                    <a:pt x="612" y="2259665"/>
                    <a:pt x="0" y="2258187"/>
                    <a:pt x="0" y="2256645"/>
                  </a:cubicBezTo>
                  <a:lnTo>
                    <a:pt x="0" y="5813"/>
                  </a:lnTo>
                  <a:cubicBezTo>
                    <a:pt x="0" y="4271"/>
                    <a:pt x="612" y="2793"/>
                    <a:pt x="1703" y="1703"/>
                  </a:cubicBezTo>
                  <a:cubicBezTo>
                    <a:pt x="2793" y="612"/>
                    <a:pt x="4271" y="0"/>
                    <a:pt x="5813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4491524" cy="23100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10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26923" y="7094549"/>
            <a:ext cx="3584090" cy="3192451"/>
          </a:xfrm>
          <a:custGeom>
            <a:avLst/>
            <a:gdLst/>
            <a:ahLst/>
            <a:cxnLst/>
            <a:rect l="l" t="t" r="r" b="b"/>
            <a:pathLst>
              <a:path w="3584090" h="3192451">
                <a:moveTo>
                  <a:pt x="0" y="0"/>
                </a:moveTo>
                <a:lnTo>
                  <a:pt x="3584090" y="0"/>
                </a:lnTo>
                <a:lnTo>
                  <a:pt x="3584090" y="3192451"/>
                </a:lnTo>
                <a:lnTo>
                  <a:pt x="0" y="319245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rot="1437982">
            <a:off x="14323702" y="511342"/>
            <a:ext cx="3160431" cy="3028267"/>
          </a:xfrm>
          <a:custGeom>
            <a:avLst/>
            <a:gdLst/>
            <a:ahLst/>
            <a:cxnLst/>
            <a:rect l="l" t="t" r="r" b="b"/>
            <a:pathLst>
              <a:path w="3160431" h="3028267">
                <a:moveTo>
                  <a:pt x="0" y="0"/>
                </a:moveTo>
                <a:lnTo>
                  <a:pt x="3160431" y="0"/>
                </a:lnTo>
                <a:lnTo>
                  <a:pt x="3160431" y="3028267"/>
                </a:lnTo>
                <a:lnTo>
                  <a:pt x="0" y="302826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2922223" y="1920700"/>
            <a:ext cx="12443555" cy="18731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7531"/>
              </a:lnSpc>
              <a:spcBef>
                <a:spcPct val="0"/>
              </a:spcBef>
            </a:pPr>
            <a:r>
              <a:rPr lang="en-US" sz="5379">
                <a:solidFill>
                  <a:srgbClr val="01070A"/>
                </a:solidFill>
                <a:latin typeface="Carelia"/>
                <a:ea typeface="Carelia"/>
                <a:cs typeface="Carelia"/>
                <a:sym typeface="Carelia"/>
              </a:rPr>
              <a:t>Abordarea din perspectiva procesării informației</a:t>
            </a:r>
          </a:p>
        </p:txBody>
      </p:sp>
      <p:sp>
        <p:nvSpPr>
          <p:cNvPr id="9" name="AutoShape 9"/>
          <p:cNvSpPr/>
          <p:nvPr/>
        </p:nvSpPr>
        <p:spPr>
          <a:xfrm>
            <a:off x="9124950" y="4050950"/>
            <a:ext cx="0" cy="4554245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0" name="TextBox 10"/>
          <p:cNvSpPr txBox="1"/>
          <p:nvPr/>
        </p:nvSpPr>
        <p:spPr>
          <a:xfrm>
            <a:off x="2922223" y="4578761"/>
            <a:ext cx="5615422" cy="27803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20"/>
              </a:lnSpc>
            </a:pPr>
            <a:r>
              <a:rPr lang="en-US" sz="3943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Înțelegerea inteligenței sub forma proceselor cognitive care operează în condițiile unei activități intelectuale 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279347" y="4396875"/>
            <a:ext cx="5086430" cy="35177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79"/>
              </a:lnSpc>
            </a:pPr>
            <a:r>
              <a:rPr lang="en-US" sz="3985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Diferențele între oameni sunt date de procesele specifice pe care indivizii le pun în joc și de viteza și precizia acestor procese. 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5555" b="-5555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2804885" y="-667606"/>
            <a:ext cx="12340996" cy="12247451"/>
            <a:chOff x="0" y="0"/>
            <a:chExt cx="3250304" cy="3225666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3250304" cy="3225666"/>
            </a:xfrm>
            <a:custGeom>
              <a:avLst/>
              <a:gdLst/>
              <a:ahLst/>
              <a:cxnLst/>
              <a:rect l="l" t="t" r="r" b="b"/>
              <a:pathLst>
                <a:path w="3250304" h="3225666">
                  <a:moveTo>
                    <a:pt x="0" y="0"/>
                  </a:moveTo>
                  <a:lnTo>
                    <a:pt x="3250304" y="0"/>
                  </a:lnTo>
                  <a:lnTo>
                    <a:pt x="3250304" y="3225666"/>
                  </a:lnTo>
                  <a:lnTo>
                    <a:pt x="0" y="3225666"/>
                  </a:ln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3250304" cy="327329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10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 flipH="1">
            <a:off x="14634168" y="7532431"/>
            <a:ext cx="5565196" cy="4047415"/>
          </a:xfrm>
          <a:custGeom>
            <a:avLst/>
            <a:gdLst/>
            <a:ahLst/>
            <a:cxnLst/>
            <a:rect l="l" t="t" r="r" b="b"/>
            <a:pathLst>
              <a:path w="5565196" h="4047415">
                <a:moveTo>
                  <a:pt x="5565195" y="0"/>
                </a:moveTo>
                <a:lnTo>
                  <a:pt x="0" y="0"/>
                </a:lnTo>
                <a:lnTo>
                  <a:pt x="0" y="4047415"/>
                </a:lnTo>
                <a:lnTo>
                  <a:pt x="5565195" y="4047415"/>
                </a:lnTo>
                <a:lnTo>
                  <a:pt x="5565195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4084052" y="143384"/>
            <a:ext cx="8573922" cy="11934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9764"/>
              </a:lnSpc>
              <a:spcBef>
                <a:spcPct val="0"/>
              </a:spcBef>
            </a:pPr>
            <a:r>
              <a:rPr lang="en-US" sz="6974" err="1">
                <a:solidFill>
                  <a:srgbClr val="01070A"/>
                </a:solidFill>
                <a:latin typeface="Carelia"/>
                <a:ea typeface="Carelia"/>
                <a:cs typeface="Carelia"/>
                <a:sym typeface="Carelia"/>
              </a:rPr>
              <a:t>Exemple</a:t>
            </a:r>
            <a:endParaRPr lang="en-US" sz="6974">
              <a:solidFill>
                <a:srgbClr val="01070A"/>
              </a:solidFill>
              <a:latin typeface="Carelia"/>
              <a:ea typeface="Carelia"/>
              <a:cs typeface="Carelia"/>
              <a:sym typeface="Carelia"/>
            </a:endParaRPr>
          </a:p>
        </p:txBody>
      </p:sp>
      <p:sp>
        <p:nvSpPr>
          <p:cNvPr id="8" name="Freeform 8"/>
          <p:cNvSpPr/>
          <p:nvPr/>
        </p:nvSpPr>
        <p:spPr>
          <a:xfrm flipH="1">
            <a:off x="-143781" y="7180716"/>
            <a:ext cx="3190321" cy="3316969"/>
          </a:xfrm>
          <a:custGeom>
            <a:avLst/>
            <a:gdLst/>
            <a:ahLst/>
            <a:cxnLst/>
            <a:rect l="l" t="t" r="r" b="b"/>
            <a:pathLst>
              <a:path w="3190321" h="3316969">
                <a:moveTo>
                  <a:pt x="3190320" y="0"/>
                </a:moveTo>
                <a:lnTo>
                  <a:pt x="0" y="0"/>
                </a:lnTo>
                <a:lnTo>
                  <a:pt x="0" y="3316968"/>
                </a:lnTo>
                <a:lnTo>
                  <a:pt x="3190320" y="3316968"/>
                </a:lnTo>
                <a:lnTo>
                  <a:pt x="319032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2938397" y="2037553"/>
            <a:ext cx="12073972" cy="51431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87"/>
              </a:lnSpc>
            </a:pPr>
            <a:r>
              <a:rPr lang="en-US" sz="3633" err="1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Componente</a:t>
            </a:r>
            <a:r>
              <a:rPr lang="en-US" sz="3633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 </a:t>
            </a:r>
            <a:r>
              <a:rPr lang="en-US" sz="3633" err="1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interconectate</a:t>
            </a:r>
            <a:r>
              <a:rPr lang="en-US" sz="3633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, </a:t>
            </a:r>
            <a:r>
              <a:rPr lang="en-US" sz="3633" err="1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fiecare</a:t>
            </a:r>
            <a:r>
              <a:rPr lang="en-US" sz="3633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 sunt </a:t>
            </a:r>
            <a:r>
              <a:rPr lang="en-US" sz="3633" err="1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utilizate</a:t>
            </a:r>
            <a:r>
              <a:rPr lang="en-US" sz="3633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 </a:t>
            </a:r>
            <a:r>
              <a:rPr lang="en-US" sz="3633" err="1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în</a:t>
            </a:r>
            <a:r>
              <a:rPr lang="en-US" sz="3633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 </a:t>
            </a:r>
            <a:r>
              <a:rPr lang="en-US" sz="3633" err="1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procesul</a:t>
            </a:r>
            <a:r>
              <a:rPr lang="en-US" sz="3633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 de </a:t>
            </a:r>
            <a:r>
              <a:rPr lang="en-US" sz="3633" err="1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rezolvare</a:t>
            </a:r>
            <a:r>
              <a:rPr lang="en-US" sz="3633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 de </a:t>
            </a:r>
            <a:r>
              <a:rPr lang="en-US" sz="3633" err="1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probleme</a:t>
            </a:r>
            <a:r>
              <a:rPr lang="en-US" sz="3633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 </a:t>
            </a:r>
            <a:r>
              <a:rPr lang="en-US" sz="3633" err="1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și</a:t>
            </a:r>
            <a:r>
              <a:rPr lang="en-US" sz="3633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 </a:t>
            </a:r>
            <a:r>
              <a:rPr lang="en-US" sz="3633" err="1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niciuna</a:t>
            </a:r>
            <a:r>
              <a:rPr lang="en-US" sz="3633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 nu </a:t>
            </a:r>
            <a:r>
              <a:rPr lang="en-US" sz="3633" err="1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poate</a:t>
            </a:r>
            <a:r>
              <a:rPr lang="en-US" sz="3633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 opera </a:t>
            </a:r>
            <a:r>
              <a:rPr lang="en-US" sz="3633" err="1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în</a:t>
            </a:r>
            <a:r>
              <a:rPr lang="en-US" sz="3633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 mod independent </a:t>
            </a:r>
          </a:p>
          <a:p>
            <a:pPr algn="l">
              <a:lnSpc>
                <a:spcPts val="5087"/>
              </a:lnSpc>
            </a:pPr>
            <a:endParaRPr lang="en-US" sz="3633">
              <a:solidFill>
                <a:srgbClr val="01070A"/>
              </a:solidFill>
              <a:latin typeface="Dosis"/>
              <a:ea typeface="Dosis"/>
              <a:cs typeface="Dosis"/>
              <a:sym typeface="Dosis"/>
            </a:endParaRPr>
          </a:p>
          <a:p>
            <a:pPr algn="l">
              <a:lnSpc>
                <a:spcPts val="5087"/>
              </a:lnSpc>
            </a:pPr>
            <a:r>
              <a:rPr lang="en-US" sz="3633" err="1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Probleme</a:t>
            </a:r>
            <a:r>
              <a:rPr lang="en-US" sz="3633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 de </a:t>
            </a:r>
            <a:r>
              <a:rPr lang="en-US" sz="3633" err="1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analogie</a:t>
            </a:r>
            <a:r>
              <a:rPr lang="en-US" sz="3633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:</a:t>
            </a:r>
          </a:p>
          <a:p>
            <a:pPr algn="l">
              <a:lnSpc>
                <a:spcPts val="5087"/>
              </a:lnSpc>
            </a:pPr>
            <a:endParaRPr lang="en-US" sz="3633">
              <a:solidFill>
                <a:srgbClr val="01070A"/>
              </a:solidFill>
              <a:latin typeface="Dosis"/>
              <a:ea typeface="Dosis"/>
              <a:cs typeface="Dosis"/>
              <a:sym typeface="Dosis"/>
            </a:endParaRPr>
          </a:p>
          <a:p>
            <a:pPr algn="l">
              <a:lnSpc>
                <a:spcPts val="5087"/>
              </a:lnSpc>
            </a:pPr>
            <a:r>
              <a:rPr lang="en-US" sz="3633" err="1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Avocatul</a:t>
            </a:r>
            <a:r>
              <a:rPr lang="en-US" sz="3633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 </a:t>
            </a:r>
            <a:r>
              <a:rPr lang="en-US" sz="3633" err="1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este</a:t>
            </a:r>
            <a:r>
              <a:rPr lang="en-US" sz="3633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 </a:t>
            </a:r>
            <a:r>
              <a:rPr lang="en-US" sz="3633" err="1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pentru</a:t>
            </a:r>
            <a:r>
              <a:rPr lang="en-US" sz="3633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 client </a:t>
            </a:r>
            <a:r>
              <a:rPr lang="en-US" sz="3633" err="1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ce</a:t>
            </a:r>
            <a:r>
              <a:rPr lang="en-US" sz="3633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 </a:t>
            </a:r>
            <a:r>
              <a:rPr lang="en-US" sz="3633" err="1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doctorul</a:t>
            </a:r>
            <a:r>
              <a:rPr lang="en-US" sz="3633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 </a:t>
            </a:r>
            <a:r>
              <a:rPr lang="en-US" sz="3633" err="1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este</a:t>
            </a:r>
            <a:r>
              <a:rPr lang="en-US" sz="3633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 </a:t>
            </a:r>
            <a:r>
              <a:rPr lang="en-US" sz="3633" err="1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pentru</a:t>
            </a:r>
            <a:r>
              <a:rPr lang="en-US" sz="3633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 .......</a:t>
            </a:r>
          </a:p>
          <a:p>
            <a:pPr algn="l">
              <a:lnSpc>
                <a:spcPts val="5087"/>
              </a:lnSpc>
            </a:pPr>
            <a:r>
              <a:rPr lang="en-US" sz="3633" err="1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a.Medicina</a:t>
            </a:r>
            <a:r>
              <a:rPr lang="en-US" sz="3633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                b. </a:t>
            </a:r>
            <a:r>
              <a:rPr lang="en-US" sz="3633" err="1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Pacient</a:t>
            </a:r>
            <a:r>
              <a:rPr lang="en-US" sz="3633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 </a:t>
            </a:r>
          </a:p>
          <a:p>
            <a:pPr algn="l">
              <a:lnSpc>
                <a:spcPts val="5087"/>
              </a:lnSpc>
            </a:pPr>
            <a:endParaRPr lang="en-US" sz="3633">
              <a:solidFill>
                <a:srgbClr val="01070A"/>
              </a:solidFill>
              <a:latin typeface="Dosis"/>
              <a:ea typeface="Dosis"/>
              <a:cs typeface="Dosis"/>
              <a:sym typeface="Dosi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5555" b="-5555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990601" y="266700"/>
            <a:ext cx="15357574" cy="9214480"/>
            <a:chOff x="0" y="0"/>
            <a:chExt cx="3967172" cy="2293066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3967172" cy="2293066"/>
            </a:xfrm>
            <a:custGeom>
              <a:avLst/>
              <a:gdLst/>
              <a:ahLst/>
              <a:cxnLst/>
              <a:rect l="l" t="t" r="r" b="b"/>
              <a:pathLst>
                <a:path w="3967172" h="2293066">
                  <a:moveTo>
                    <a:pt x="5654" y="0"/>
                  </a:moveTo>
                  <a:lnTo>
                    <a:pt x="3961519" y="0"/>
                  </a:lnTo>
                  <a:cubicBezTo>
                    <a:pt x="3963018" y="0"/>
                    <a:pt x="3964456" y="596"/>
                    <a:pt x="3965516" y="1656"/>
                  </a:cubicBezTo>
                  <a:cubicBezTo>
                    <a:pt x="3966576" y="2716"/>
                    <a:pt x="3967172" y="4154"/>
                    <a:pt x="3967172" y="5654"/>
                  </a:cubicBezTo>
                  <a:lnTo>
                    <a:pt x="3967172" y="2287413"/>
                  </a:lnTo>
                  <a:cubicBezTo>
                    <a:pt x="3967172" y="2290535"/>
                    <a:pt x="3964641" y="2293066"/>
                    <a:pt x="3961519" y="2293066"/>
                  </a:cubicBezTo>
                  <a:lnTo>
                    <a:pt x="5654" y="2293066"/>
                  </a:lnTo>
                  <a:cubicBezTo>
                    <a:pt x="4154" y="2293066"/>
                    <a:pt x="2716" y="2292471"/>
                    <a:pt x="1656" y="2291410"/>
                  </a:cubicBezTo>
                  <a:cubicBezTo>
                    <a:pt x="596" y="2290350"/>
                    <a:pt x="0" y="2288912"/>
                    <a:pt x="0" y="2287413"/>
                  </a:cubicBezTo>
                  <a:lnTo>
                    <a:pt x="0" y="5654"/>
                  </a:lnTo>
                  <a:cubicBezTo>
                    <a:pt x="0" y="4154"/>
                    <a:pt x="596" y="2716"/>
                    <a:pt x="1656" y="1656"/>
                  </a:cubicBezTo>
                  <a:cubicBezTo>
                    <a:pt x="2716" y="596"/>
                    <a:pt x="4154" y="0"/>
                    <a:pt x="5654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3967172" cy="234069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10"/>
                </a:lnSpc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0" y="634515"/>
            <a:ext cx="18095542" cy="22108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865"/>
              </a:lnSpc>
            </a:pPr>
            <a:r>
              <a:rPr lang="en-US" sz="6332">
                <a:solidFill>
                  <a:srgbClr val="01070A"/>
                </a:solidFill>
                <a:latin typeface="Carelia"/>
                <a:ea typeface="Carelia"/>
                <a:cs typeface="Carelia"/>
                <a:sym typeface="Carelia"/>
              </a:rPr>
              <a:t>Teoria </a:t>
            </a:r>
            <a:r>
              <a:rPr lang="en-US" sz="6332" err="1">
                <a:solidFill>
                  <a:srgbClr val="01070A"/>
                </a:solidFill>
                <a:latin typeface="Carelia"/>
                <a:ea typeface="Carelia"/>
                <a:cs typeface="Carelia"/>
                <a:sym typeface="Carelia"/>
              </a:rPr>
              <a:t>inteligențelor</a:t>
            </a:r>
            <a:r>
              <a:rPr lang="en-US" sz="6332">
                <a:solidFill>
                  <a:srgbClr val="01070A"/>
                </a:solidFill>
                <a:latin typeface="Carelia"/>
                <a:ea typeface="Carelia"/>
                <a:cs typeface="Carelia"/>
                <a:sym typeface="Carelia"/>
              </a:rPr>
              <a:t> multiple </a:t>
            </a:r>
          </a:p>
          <a:p>
            <a:pPr marL="0" lvl="0" indent="0" algn="ctr">
              <a:lnSpc>
                <a:spcPts val="8865"/>
              </a:lnSpc>
              <a:spcBef>
                <a:spcPct val="0"/>
              </a:spcBef>
            </a:pPr>
            <a:r>
              <a:rPr lang="en-US" sz="6332">
                <a:solidFill>
                  <a:srgbClr val="01070A"/>
                </a:solidFill>
                <a:latin typeface="Carelia"/>
                <a:ea typeface="Carelia"/>
                <a:cs typeface="Carelia"/>
                <a:sym typeface="Carelia"/>
              </a:rPr>
              <a:t> (Gardner, 1996, 2004)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2737668" y="3652755"/>
            <a:ext cx="3324885" cy="13036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320"/>
              </a:lnSpc>
            </a:pPr>
            <a:r>
              <a:rPr lang="en-US" sz="3800" err="1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Inteligența</a:t>
            </a:r>
            <a:r>
              <a:rPr lang="en-US" sz="3800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 </a:t>
            </a:r>
            <a:r>
              <a:rPr lang="en-US" sz="3800" err="1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lingvistică</a:t>
            </a:r>
            <a:endParaRPr lang="en-US" sz="3800">
              <a:solidFill>
                <a:srgbClr val="01070A"/>
              </a:solidFill>
              <a:latin typeface="Dosis"/>
              <a:ea typeface="Dosis"/>
              <a:cs typeface="Dosis"/>
              <a:sym typeface="Dosis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7481558" y="7587095"/>
            <a:ext cx="3324885" cy="13036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320"/>
              </a:lnSpc>
            </a:pPr>
            <a:r>
              <a:rPr lang="en-US" sz="3800" err="1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Inteligența</a:t>
            </a:r>
            <a:r>
              <a:rPr lang="en-US" sz="3800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 </a:t>
            </a:r>
            <a:r>
              <a:rPr lang="en-US" sz="3800" err="1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linterpersonală</a:t>
            </a:r>
            <a:endParaRPr lang="en-US" sz="3800">
              <a:solidFill>
                <a:srgbClr val="01070A"/>
              </a:solidFill>
              <a:latin typeface="Dosis"/>
              <a:ea typeface="Dosis"/>
              <a:cs typeface="Dosis"/>
              <a:sym typeface="Dosis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2737668" y="5766035"/>
            <a:ext cx="3324885" cy="13036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320"/>
              </a:lnSpc>
            </a:pPr>
            <a:r>
              <a:rPr lang="en-US" sz="3800" err="1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Inteligența</a:t>
            </a:r>
            <a:r>
              <a:rPr lang="en-US" sz="3800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 </a:t>
            </a:r>
            <a:r>
              <a:rPr lang="en-US" sz="3800" err="1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kinestezică</a:t>
            </a:r>
            <a:endParaRPr lang="en-US" sz="3800">
              <a:solidFill>
                <a:srgbClr val="01070A"/>
              </a:solidFill>
              <a:latin typeface="Dosis"/>
              <a:ea typeface="Dosis"/>
              <a:cs typeface="Dosis"/>
              <a:sym typeface="Dosis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7385328" y="5766035"/>
            <a:ext cx="3324885" cy="13036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320"/>
              </a:lnSpc>
            </a:pPr>
            <a:r>
              <a:rPr lang="en-US" sz="3800" err="1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Inteligența</a:t>
            </a:r>
            <a:r>
              <a:rPr lang="en-US" sz="3800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 </a:t>
            </a:r>
            <a:r>
              <a:rPr lang="en-US" sz="3800" err="1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spațială</a:t>
            </a:r>
            <a:endParaRPr lang="en-US" sz="3800">
              <a:solidFill>
                <a:srgbClr val="01070A"/>
              </a:solidFill>
              <a:latin typeface="Dosis"/>
              <a:ea typeface="Dosis"/>
              <a:cs typeface="Dosis"/>
              <a:sym typeface="Dosis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7385328" y="3652755"/>
            <a:ext cx="3324885" cy="13036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320"/>
              </a:lnSpc>
            </a:pPr>
            <a:r>
              <a:rPr lang="en-US" sz="3800" err="1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Inteligența</a:t>
            </a:r>
            <a:r>
              <a:rPr lang="en-US" sz="3800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 </a:t>
            </a:r>
            <a:r>
              <a:rPr lang="en-US" sz="3800" err="1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muzicală</a:t>
            </a:r>
            <a:endParaRPr lang="en-US" sz="3800">
              <a:solidFill>
                <a:srgbClr val="01070A"/>
              </a:solidFill>
              <a:latin typeface="Dosis"/>
              <a:ea typeface="Dosis"/>
              <a:cs typeface="Dosis"/>
              <a:sym typeface="Dosis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12304137" y="5766035"/>
            <a:ext cx="3324885" cy="13036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320"/>
              </a:lnSpc>
            </a:pPr>
            <a:r>
              <a:rPr lang="en-US" sz="3800" err="1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Inteligența</a:t>
            </a:r>
            <a:r>
              <a:rPr lang="en-US" sz="3800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 </a:t>
            </a:r>
            <a:r>
              <a:rPr lang="en-US" sz="3800" err="1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intrapersonală</a:t>
            </a:r>
            <a:endParaRPr lang="en-US" sz="3800">
              <a:solidFill>
                <a:srgbClr val="01070A"/>
              </a:solidFill>
              <a:latin typeface="Dosis"/>
              <a:ea typeface="Dosis"/>
              <a:cs typeface="Dosis"/>
              <a:sym typeface="Dosis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12304137" y="3652755"/>
            <a:ext cx="3642808" cy="13036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320"/>
              </a:lnSpc>
            </a:pPr>
            <a:r>
              <a:rPr lang="en-US" sz="3800" err="1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Inteligența</a:t>
            </a:r>
            <a:r>
              <a:rPr lang="en-US" sz="3800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 </a:t>
            </a:r>
          </a:p>
          <a:p>
            <a:pPr algn="ctr">
              <a:lnSpc>
                <a:spcPts val="5320"/>
              </a:lnSpc>
            </a:pPr>
            <a:r>
              <a:rPr lang="en-US" sz="3800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logico- </a:t>
            </a:r>
            <a:r>
              <a:rPr lang="en-US" sz="3800" err="1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matematică</a:t>
            </a:r>
            <a:endParaRPr lang="en-US" sz="3800">
              <a:solidFill>
                <a:srgbClr val="01070A"/>
              </a:solidFill>
              <a:latin typeface="Dosis"/>
              <a:ea typeface="Dosis"/>
              <a:cs typeface="Dosis"/>
              <a:sym typeface="Dosis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1373709" y="2579526"/>
            <a:ext cx="14600322" cy="19704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320"/>
              </a:lnSpc>
            </a:pPr>
            <a:r>
              <a:rPr lang="en-US" sz="3800" err="1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Inteligența</a:t>
            </a:r>
            <a:r>
              <a:rPr lang="en-US" sz="3800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 ca </a:t>
            </a:r>
            <a:r>
              <a:rPr lang="en-US" sz="3800" err="1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potențial</a:t>
            </a:r>
            <a:r>
              <a:rPr lang="en-US" sz="3800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, care </a:t>
            </a:r>
            <a:r>
              <a:rPr lang="en-US" sz="3800" err="1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permite</a:t>
            </a:r>
            <a:r>
              <a:rPr lang="en-US" sz="3800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 </a:t>
            </a:r>
            <a:r>
              <a:rPr lang="en-US" sz="3800" err="1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individului</a:t>
            </a:r>
            <a:r>
              <a:rPr lang="en-US" sz="3800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 </a:t>
            </a:r>
            <a:r>
              <a:rPr lang="en-US" sz="3800" err="1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acces</a:t>
            </a:r>
            <a:r>
              <a:rPr lang="en-US" sz="3800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 la </a:t>
            </a:r>
            <a:r>
              <a:rPr lang="en-US" sz="3800" err="1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forme</a:t>
            </a:r>
            <a:r>
              <a:rPr lang="en-US" sz="3800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 de </a:t>
            </a:r>
            <a:r>
              <a:rPr lang="en-US" sz="3800" err="1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gândire</a:t>
            </a:r>
            <a:r>
              <a:rPr lang="en-US" sz="3800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 </a:t>
            </a:r>
            <a:r>
              <a:rPr lang="en-US" sz="3800" err="1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adecvate</a:t>
            </a:r>
            <a:r>
              <a:rPr lang="en-US" sz="3800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 </a:t>
            </a:r>
            <a:r>
              <a:rPr lang="en-US" sz="3800" err="1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pentru</a:t>
            </a:r>
            <a:r>
              <a:rPr lang="en-US" sz="3800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 </a:t>
            </a:r>
            <a:r>
              <a:rPr lang="en-US" sz="3800" err="1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contexte</a:t>
            </a:r>
            <a:r>
              <a:rPr lang="en-US" sz="3800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 </a:t>
            </a:r>
            <a:r>
              <a:rPr lang="en-US" sz="3800" err="1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specifice</a:t>
            </a:r>
            <a:r>
              <a:rPr lang="en-US" sz="3800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 (</a:t>
            </a:r>
            <a:r>
              <a:rPr lang="en-US" sz="3800" err="1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Kornhaber</a:t>
            </a:r>
            <a:r>
              <a:rPr lang="en-US" sz="3800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 &amp; Gardner, 1991) </a:t>
            </a:r>
          </a:p>
          <a:p>
            <a:pPr algn="ctr">
              <a:lnSpc>
                <a:spcPts val="5320"/>
              </a:lnSpc>
            </a:pPr>
            <a:endParaRPr lang="en-US" sz="3800">
              <a:solidFill>
                <a:srgbClr val="01070A"/>
              </a:solidFill>
              <a:latin typeface="Dosis"/>
              <a:ea typeface="Dosis"/>
              <a:cs typeface="Dosis"/>
              <a:sym typeface="Dosi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" dur="5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1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3)">
                                      <p:cBhvr>
                                        <p:cTn id="3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1" presetClass="entr" presetSubtype="3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3)">
                                      <p:cBhvr>
                                        <p:cTn id="3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D31698-1746-56D2-8E4E-BF6F197E0D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0A804DFC-39B6-AFDA-E7A8-3047739E7AA7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5555" b="-5555"/>
            </a:stretch>
          </a:blipFill>
        </p:spPr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D9054E84-8C38-3BAF-F3C9-8F96B15A787A}"/>
              </a:ext>
            </a:extLst>
          </p:cNvPr>
          <p:cNvSpPr/>
          <p:nvPr/>
        </p:nvSpPr>
        <p:spPr>
          <a:xfrm>
            <a:off x="1133019" y="3045203"/>
            <a:ext cx="5147591" cy="5551324"/>
          </a:xfrm>
          <a:custGeom>
            <a:avLst/>
            <a:gdLst/>
            <a:ahLst/>
            <a:cxnLst/>
            <a:rect l="l" t="t" r="r" b="b"/>
            <a:pathLst>
              <a:path w="5147591" h="5551324">
                <a:moveTo>
                  <a:pt x="0" y="0"/>
                </a:moveTo>
                <a:lnTo>
                  <a:pt x="5147591" y="0"/>
                </a:lnTo>
                <a:lnTo>
                  <a:pt x="5147591" y="5551323"/>
                </a:lnTo>
                <a:lnTo>
                  <a:pt x="0" y="555132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53B76827-FBEF-3C13-7DD3-5316B6C861B7}"/>
              </a:ext>
            </a:extLst>
          </p:cNvPr>
          <p:cNvSpPr/>
          <p:nvPr/>
        </p:nvSpPr>
        <p:spPr>
          <a:xfrm>
            <a:off x="6959361" y="3045203"/>
            <a:ext cx="5147591" cy="5551324"/>
          </a:xfrm>
          <a:custGeom>
            <a:avLst/>
            <a:gdLst/>
            <a:ahLst/>
            <a:cxnLst/>
            <a:rect l="l" t="t" r="r" b="b"/>
            <a:pathLst>
              <a:path w="5147591" h="5551324">
                <a:moveTo>
                  <a:pt x="0" y="0"/>
                </a:moveTo>
                <a:lnTo>
                  <a:pt x="5147591" y="0"/>
                </a:lnTo>
                <a:lnTo>
                  <a:pt x="5147591" y="5551323"/>
                </a:lnTo>
                <a:lnTo>
                  <a:pt x="0" y="555132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3979AA46-3598-F5A9-9CBA-A8BF44D8AA5C}"/>
              </a:ext>
            </a:extLst>
          </p:cNvPr>
          <p:cNvSpPr/>
          <p:nvPr/>
        </p:nvSpPr>
        <p:spPr>
          <a:xfrm>
            <a:off x="12477740" y="3045203"/>
            <a:ext cx="5147591" cy="5551324"/>
          </a:xfrm>
          <a:custGeom>
            <a:avLst/>
            <a:gdLst/>
            <a:ahLst/>
            <a:cxnLst/>
            <a:rect l="l" t="t" r="r" b="b"/>
            <a:pathLst>
              <a:path w="5147591" h="5551324">
                <a:moveTo>
                  <a:pt x="0" y="0"/>
                </a:moveTo>
                <a:lnTo>
                  <a:pt x="5147591" y="0"/>
                </a:lnTo>
                <a:lnTo>
                  <a:pt x="5147591" y="5551323"/>
                </a:lnTo>
                <a:lnTo>
                  <a:pt x="0" y="555132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F99B9117-714D-525C-72E9-EAB6B6E2D6C6}"/>
              </a:ext>
            </a:extLst>
          </p:cNvPr>
          <p:cNvSpPr/>
          <p:nvPr/>
        </p:nvSpPr>
        <p:spPr>
          <a:xfrm>
            <a:off x="14908011" y="7972477"/>
            <a:ext cx="5939287" cy="4114800"/>
          </a:xfrm>
          <a:custGeom>
            <a:avLst/>
            <a:gdLst/>
            <a:ahLst/>
            <a:cxnLst/>
            <a:rect l="l" t="t" r="r" b="b"/>
            <a:pathLst>
              <a:path w="5939287" h="4114800">
                <a:moveTo>
                  <a:pt x="0" y="0"/>
                </a:moveTo>
                <a:lnTo>
                  <a:pt x="5939286" y="0"/>
                </a:lnTo>
                <a:lnTo>
                  <a:pt x="5939286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9013F196-F088-676F-96DC-6173023BFA3F}"/>
              </a:ext>
            </a:extLst>
          </p:cNvPr>
          <p:cNvSpPr txBox="1"/>
          <p:nvPr/>
        </p:nvSpPr>
        <p:spPr>
          <a:xfrm>
            <a:off x="7243310" y="4902122"/>
            <a:ext cx="4424608" cy="27715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32"/>
              </a:lnSpc>
            </a:pPr>
            <a:r>
              <a:rPr lang="ro-RO" sz="3165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Componente:</a:t>
            </a:r>
            <a:br>
              <a:rPr lang="ro-RO" sz="3165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</a:br>
            <a:r>
              <a:rPr lang="ro-RO" sz="3165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Inhibiția</a:t>
            </a:r>
          </a:p>
          <a:p>
            <a:pPr algn="ctr">
              <a:lnSpc>
                <a:spcPts val="4432"/>
              </a:lnSpc>
            </a:pPr>
            <a:r>
              <a:rPr lang="ro-RO" sz="3165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Memoria de lucru</a:t>
            </a:r>
          </a:p>
          <a:p>
            <a:pPr algn="ctr">
              <a:lnSpc>
                <a:spcPts val="4432"/>
              </a:lnSpc>
            </a:pPr>
            <a:r>
              <a:rPr lang="ro-RO" sz="3165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Comutarea </a:t>
            </a:r>
            <a:r>
              <a:rPr lang="ro-RO" sz="3165" err="1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Atențională</a:t>
            </a:r>
            <a:endParaRPr lang="en-US" sz="3165">
              <a:solidFill>
                <a:srgbClr val="01070A"/>
              </a:solidFill>
              <a:latin typeface="Dosis"/>
              <a:ea typeface="Dosis"/>
              <a:cs typeface="Dosis"/>
              <a:sym typeface="Dosis"/>
            </a:endParaRPr>
          </a:p>
          <a:p>
            <a:pPr algn="ctr">
              <a:lnSpc>
                <a:spcPts val="4432"/>
              </a:lnSpc>
            </a:pPr>
            <a:endParaRPr lang="en-US" sz="3165">
              <a:solidFill>
                <a:srgbClr val="01070A"/>
              </a:solidFill>
              <a:latin typeface="Dosis"/>
              <a:ea typeface="Dosis"/>
              <a:cs typeface="Dosis"/>
              <a:sym typeface="Dosis"/>
            </a:endParaRP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CBD1AECB-3DF7-F64C-BDEA-D0F2504FAEA3}"/>
              </a:ext>
            </a:extLst>
          </p:cNvPr>
          <p:cNvSpPr txBox="1"/>
          <p:nvPr/>
        </p:nvSpPr>
        <p:spPr>
          <a:xfrm>
            <a:off x="1600200" y="835617"/>
            <a:ext cx="14902495" cy="10772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8400"/>
              </a:lnSpc>
              <a:spcBef>
                <a:spcPct val="0"/>
              </a:spcBef>
            </a:pPr>
            <a:r>
              <a:rPr lang="en-US" sz="6000">
                <a:solidFill>
                  <a:srgbClr val="01070A"/>
                </a:solidFill>
                <a:latin typeface="Carelia"/>
                <a:ea typeface="Carelia"/>
                <a:cs typeface="Carelia"/>
                <a:sym typeface="Carelia"/>
              </a:rPr>
              <a:t>Ce </a:t>
            </a:r>
            <a:r>
              <a:rPr lang="ro-RO" sz="6000">
                <a:solidFill>
                  <a:srgbClr val="01070A"/>
                </a:solidFill>
                <a:latin typeface="Carelia"/>
                <a:ea typeface="Carelia"/>
                <a:cs typeface="Carelia"/>
                <a:sym typeface="Carelia"/>
              </a:rPr>
              <a:t>sunt funcțiile executive?</a:t>
            </a:r>
            <a:endParaRPr lang="en-US" sz="6000">
              <a:solidFill>
                <a:srgbClr val="01070A"/>
              </a:solidFill>
              <a:latin typeface="Carelia"/>
              <a:ea typeface="Carelia"/>
              <a:cs typeface="Carelia"/>
              <a:sym typeface="Carelia"/>
            </a:endParaRP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4F1574F7-68A9-28DA-0B15-198B2A3D61CF}"/>
              </a:ext>
            </a:extLst>
          </p:cNvPr>
          <p:cNvSpPr txBox="1"/>
          <p:nvPr/>
        </p:nvSpPr>
        <p:spPr>
          <a:xfrm>
            <a:off x="1321778" y="4695623"/>
            <a:ext cx="4770073" cy="31845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47"/>
              </a:lnSpc>
            </a:pPr>
            <a:r>
              <a:rPr lang="ro-RO" sz="3033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Ce este un concept umbrelă?</a:t>
            </a:r>
            <a:br>
              <a:rPr lang="ro-RO" sz="3033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</a:br>
            <a:r>
              <a:rPr lang="ro-RO" sz="3033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Care sunt cele 3 componente?</a:t>
            </a:r>
          </a:p>
          <a:p>
            <a:pPr algn="ctr">
              <a:lnSpc>
                <a:spcPts val="4247"/>
              </a:lnSpc>
            </a:pPr>
            <a:r>
              <a:rPr lang="ro-RO" sz="3033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Apar de la naștere?</a:t>
            </a:r>
            <a:br>
              <a:rPr lang="ro-RO" sz="3033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</a:br>
            <a:r>
              <a:rPr lang="ro-RO" sz="3033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În ce arii sunt utilizate?</a:t>
            </a:r>
            <a:br>
              <a:rPr lang="ro-RO" sz="3033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</a:br>
            <a:r>
              <a:rPr lang="ro-RO" sz="3033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Care apare ultima?</a:t>
            </a:r>
            <a:endParaRPr lang="en-US" sz="3033">
              <a:solidFill>
                <a:srgbClr val="01070A"/>
              </a:solidFill>
              <a:latin typeface="Dosis"/>
              <a:ea typeface="Dosis"/>
              <a:cs typeface="Dosis"/>
              <a:sym typeface="Dosis"/>
            </a:endParaRPr>
          </a:p>
          <a:p>
            <a:pPr algn="ctr">
              <a:lnSpc>
                <a:spcPts val="4247"/>
              </a:lnSpc>
            </a:pPr>
            <a:endParaRPr lang="en-US" sz="3033">
              <a:solidFill>
                <a:srgbClr val="01070A"/>
              </a:solidFill>
              <a:latin typeface="Dosis"/>
              <a:ea typeface="Dosis"/>
              <a:cs typeface="Dosis"/>
              <a:sym typeface="Dosis"/>
            </a:endParaRPr>
          </a:p>
        </p:txBody>
      </p:sp>
      <p:sp>
        <p:nvSpPr>
          <p:cNvPr id="12" name="TextBox 7">
            <a:extLst>
              <a:ext uri="{FF2B5EF4-FFF2-40B4-BE49-F238E27FC236}">
                <a16:creationId xmlns:a16="http://schemas.microsoft.com/office/drawing/2014/main" id="{D72863C6-59E1-10DF-3AA2-9860E31D7F33}"/>
              </a:ext>
            </a:extLst>
          </p:cNvPr>
          <p:cNvSpPr txBox="1"/>
          <p:nvPr/>
        </p:nvSpPr>
        <p:spPr>
          <a:xfrm>
            <a:off x="12930737" y="5159297"/>
            <a:ext cx="4424608" cy="22072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32"/>
              </a:lnSpc>
            </a:pPr>
            <a:r>
              <a:rPr lang="ro-RO" sz="3165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Cum se testează?</a:t>
            </a:r>
            <a:endParaRPr lang="en-US" sz="3165">
              <a:solidFill>
                <a:srgbClr val="01070A"/>
              </a:solidFill>
              <a:latin typeface="Dosis"/>
              <a:ea typeface="Dosis"/>
              <a:cs typeface="Dosis"/>
              <a:sym typeface="Dosis"/>
            </a:endParaRPr>
          </a:p>
          <a:p>
            <a:pPr algn="ctr">
              <a:lnSpc>
                <a:spcPts val="4432"/>
              </a:lnSpc>
            </a:pPr>
            <a:r>
              <a:rPr lang="ro-RO" sz="3165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Care este relația Funcțiilor Executive cu inteligența?</a:t>
            </a:r>
          </a:p>
          <a:p>
            <a:pPr algn="ctr">
              <a:lnSpc>
                <a:spcPts val="4432"/>
              </a:lnSpc>
            </a:pPr>
            <a:endParaRPr lang="en-US" sz="3165">
              <a:solidFill>
                <a:srgbClr val="01070A"/>
              </a:solidFill>
              <a:latin typeface="Dosis"/>
              <a:ea typeface="Dosis"/>
              <a:cs typeface="Dosis"/>
              <a:sym typeface="Dosis"/>
            </a:endParaRPr>
          </a:p>
        </p:txBody>
      </p:sp>
    </p:spTree>
    <p:extLst>
      <p:ext uri="{BB962C8B-B14F-4D97-AF65-F5344CB8AC3E}">
        <p14:creationId xmlns:p14="http://schemas.microsoft.com/office/powerpoint/2010/main" val="563072882"/>
      </p:ext>
    </p:extLst>
  </p:cSld>
  <p:clrMapOvr>
    <a:masterClrMapping/>
  </p:clrMapOvr>
  <p:transition spd="med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2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2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2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9" grpId="0"/>
      <p:bldP spid="12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F0D71B-99D5-A863-EE1B-5AAC6B722C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41AC4169-6A4F-DB17-3925-6F69145D211C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5555" b="-5555"/>
            </a:stretch>
          </a:blipFill>
        </p:spPr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FD600ECF-6FF4-33AB-1FC5-5FEDBF0C2580}"/>
              </a:ext>
            </a:extLst>
          </p:cNvPr>
          <p:cNvGrpSpPr/>
          <p:nvPr/>
        </p:nvGrpSpPr>
        <p:grpSpPr>
          <a:xfrm>
            <a:off x="292860" y="307316"/>
            <a:ext cx="17767982" cy="9672368"/>
            <a:chOff x="0" y="0"/>
            <a:chExt cx="4816593" cy="2709333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4086D7D1-BA0C-F557-E3C6-C9AFEF18C743}"/>
                </a:ext>
              </a:extLst>
            </p:cNvPr>
            <p:cNvSpPr/>
            <p:nvPr/>
          </p:nvSpPr>
          <p:spPr>
            <a:xfrm>
              <a:off x="0" y="0"/>
              <a:ext cx="4816592" cy="2709333"/>
            </a:xfrm>
            <a:custGeom>
              <a:avLst/>
              <a:gdLst/>
              <a:ahLst/>
              <a:cxnLst/>
              <a:rect l="l" t="t" r="r" b="b"/>
              <a:pathLst>
                <a:path w="4816592" h="2709333">
                  <a:moveTo>
                    <a:pt x="0" y="0"/>
                  </a:moveTo>
                  <a:lnTo>
                    <a:pt x="4816592" y="0"/>
                  </a:lnTo>
                  <a:lnTo>
                    <a:pt x="4816592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657225" cap="sq">
              <a:solidFill>
                <a:srgbClr val="1E3F48"/>
              </a:solidFill>
              <a:prstDash val="solid"/>
              <a:miter/>
            </a:ln>
          </p:spPr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EBA78699-A09D-6BBA-363F-4B576B73F53B}"/>
                </a:ext>
              </a:extLst>
            </p:cNvPr>
            <p:cNvSpPr txBox="1"/>
            <p:nvPr/>
          </p:nvSpPr>
          <p:spPr>
            <a:xfrm>
              <a:off x="0" y="-47625"/>
              <a:ext cx="4816593" cy="27569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10"/>
                </a:lnSpc>
              </a:pPr>
              <a:endParaRPr/>
            </a:p>
          </p:txBody>
        </p:sp>
      </p:grpSp>
      <p:sp>
        <p:nvSpPr>
          <p:cNvPr id="8" name="TextBox 8">
            <a:extLst>
              <a:ext uri="{FF2B5EF4-FFF2-40B4-BE49-F238E27FC236}">
                <a16:creationId xmlns:a16="http://schemas.microsoft.com/office/drawing/2014/main" id="{BEB9C100-D7D8-79EF-685B-1E8555F8E674}"/>
              </a:ext>
            </a:extLst>
          </p:cNvPr>
          <p:cNvSpPr txBox="1"/>
          <p:nvPr/>
        </p:nvSpPr>
        <p:spPr>
          <a:xfrm>
            <a:off x="462369" y="550511"/>
            <a:ext cx="17656121" cy="15260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893"/>
              </a:lnSpc>
            </a:pPr>
            <a:r>
              <a:rPr lang="ro-RO" sz="8495">
                <a:solidFill>
                  <a:srgbClr val="01070A"/>
                </a:solidFill>
                <a:latin typeface="Carelia"/>
                <a:ea typeface="Carelia"/>
                <a:cs typeface="Carelia"/>
                <a:sym typeface="Carelia"/>
              </a:rPr>
              <a:t>Testul </a:t>
            </a:r>
            <a:r>
              <a:rPr lang="ro-RO" sz="8495" err="1">
                <a:solidFill>
                  <a:srgbClr val="01070A"/>
                </a:solidFill>
                <a:latin typeface="Carelia"/>
                <a:ea typeface="Carelia"/>
                <a:cs typeface="Carelia"/>
                <a:sym typeface="Carelia"/>
              </a:rPr>
              <a:t>stroop</a:t>
            </a:r>
            <a:endParaRPr lang="en-US" sz="8495">
              <a:solidFill>
                <a:srgbClr val="01070A"/>
              </a:solidFill>
              <a:latin typeface="Carelia"/>
              <a:ea typeface="Carelia"/>
              <a:cs typeface="Carelia"/>
              <a:sym typeface="Carelia"/>
            </a:endParaRPr>
          </a:p>
        </p:txBody>
      </p:sp>
      <p:pic>
        <p:nvPicPr>
          <p:cNvPr id="1026" name="Picture 2" descr="Stroop Test:How well does your brain and your eyes work together? | by  Gloria Dai | Medium">
            <a:extLst>
              <a:ext uri="{FF2B5EF4-FFF2-40B4-BE49-F238E27FC236}">
                <a16:creationId xmlns:a16="http://schemas.microsoft.com/office/drawing/2014/main" id="{D43BFF85-A39A-FFC5-9739-A617C69AB2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57600" y="2095620"/>
            <a:ext cx="10687050" cy="66118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5119522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8F0700-1197-7A3A-4187-57BB2C83D5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E75135B0-61DA-FA96-DABC-977C6FC6D644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5555" b="-5555"/>
            </a:stretch>
          </a:blipFill>
        </p:spPr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4A3D14B3-2591-75AF-690C-5257C91C9AEB}"/>
              </a:ext>
            </a:extLst>
          </p:cNvPr>
          <p:cNvGrpSpPr/>
          <p:nvPr/>
        </p:nvGrpSpPr>
        <p:grpSpPr>
          <a:xfrm>
            <a:off x="292860" y="307316"/>
            <a:ext cx="17767982" cy="9672368"/>
            <a:chOff x="0" y="0"/>
            <a:chExt cx="4816593" cy="2709333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F504D726-A575-E5DD-BC93-E4E64C1E7344}"/>
                </a:ext>
              </a:extLst>
            </p:cNvPr>
            <p:cNvSpPr/>
            <p:nvPr/>
          </p:nvSpPr>
          <p:spPr>
            <a:xfrm>
              <a:off x="0" y="0"/>
              <a:ext cx="4816592" cy="2709333"/>
            </a:xfrm>
            <a:custGeom>
              <a:avLst/>
              <a:gdLst/>
              <a:ahLst/>
              <a:cxnLst/>
              <a:rect l="l" t="t" r="r" b="b"/>
              <a:pathLst>
                <a:path w="4816592" h="2709333">
                  <a:moveTo>
                    <a:pt x="0" y="0"/>
                  </a:moveTo>
                  <a:lnTo>
                    <a:pt x="4816592" y="0"/>
                  </a:lnTo>
                  <a:lnTo>
                    <a:pt x="4816592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657225" cap="sq">
              <a:solidFill>
                <a:srgbClr val="1E3F48"/>
              </a:solidFill>
              <a:prstDash val="solid"/>
              <a:miter/>
            </a:ln>
          </p:spPr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E27AFF5D-18E4-4C92-EB1C-3BDAC513B8FB}"/>
                </a:ext>
              </a:extLst>
            </p:cNvPr>
            <p:cNvSpPr txBox="1"/>
            <p:nvPr/>
          </p:nvSpPr>
          <p:spPr>
            <a:xfrm>
              <a:off x="0" y="-47625"/>
              <a:ext cx="4816593" cy="27569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10"/>
                </a:lnSpc>
              </a:pPr>
              <a:endParaRPr/>
            </a:p>
          </p:txBody>
        </p:sp>
      </p:grpSp>
      <p:sp>
        <p:nvSpPr>
          <p:cNvPr id="8" name="TextBox 8">
            <a:extLst>
              <a:ext uri="{FF2B5EF4-FFF2-40B4-BE49-F238E27FC236}">
                <a16:creationId xmlns:a16="http://schemas.microsoft.com/office/drawing/2014/main" id="{CBA41435-5D0A-5BEF-38AD-62930BBD4063}"/>
              </a:ext>
            </a:extLst>
          </p:cNvPr>
          <p:cNvSpPr txBox="1"/>
          <p:nvPr/>
        </p:nvSpPr>
        <p:spPr>
          <a:xfrm>
            <a:off x="462369" y="550511"/>
            <a:ext cx="17656121" cy="15260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893"/>
              </a:lnSpc>
            </a:pPr>
            <a:r>
              <a:rPr lang="ro-RO" sz="8495">
                <a:solidFill>
                  <a:srgbClr val="01070A"/>
                </a:solidFill>
                <a:latin typeface="Carelia"/>
                <a:ea typeface="Carelia"/>
                <a:cs typeface="Carelia"/>
                <a:sym typeface="Carelia"/>
              </a:rPr>
              <a:t>Inhibiția</a:t>
            </a:r>
            <a:endParaRPr lang="en-US" sz="8495">
              <a:solidFill>
                <a:srgbClr val="01070A"/>
              </a:solidFill>
              <a:latin typeface="Carelia"/>
              <a:ea typeface="Carelia"/>
              <a:cs typeface="Carelia"/>
              <a:sym typeface="Carelia"/>
            </a:endParaRPr>
          </a:p>
        </p:txBody>
      </p:sp>
      <p:pic>
        <p:nvPicPr>
          <p:cNvPr id="6" name="Picture 9">
            <a:extLst>
              <a:ext uri="{FF2B5EF4-FFF2-40B4-BE49-F238E27FC236}">
                <a16:creationId xmlns:a16="http://schemas.microsoft.com/office/drawing/2014/main" id="{30551E7C-55B6-A9D4-914C-6A4DFDF99D5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9800" y="2598506"/>
            <a:ext cx="6261315" cy="6261315"/>
          </a:xfrm>
          <a:prstGeom prst="rect">
            <a:avLst/>
          </a:prstGeom>
        </p:spPr>
      </p:pic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8C28C384-F5D3-6F47-A86B-93F5AF8010F2}"/>
              </a:ext>
            </a:extLst>
          </p:cNvPr>
          <p:cNvSpPr txBox="1">
            <a:spLocks/>
          </p:cNvSpPr>
          <p:nvPr/>
        </p:nvSpPr>
        <p:spPr>
          <a:xfrm>
            <a:off x="10571555" y="3924300"/>
            <a:ext cx="6497245" cy="4114800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itchFamily="34" charset="0"/>
              <a:buNone/>
            </a:pPr>
            <a:r>
              <a:rPr lang="ro-RO" sz="4400" b="1" err="1"/>
              <a:t>Day-Night</a:t>
            </a:r>
            <a:r>
              <a:rPr lang="ro-RO" sz="4400" b="1"/>
              <a:t> </a:t>
            </a:r>
            <a:r>
              <a:rPr lang="ro-RO" sz="4400" b="1" err="1"/>
              <a:t>Stroop</a:t>
            </a:r>
            <a:r>
              <a:rPr lang="ro-RO" sz="4400" b="1"/>
              <a:t> (3+ ani)</a:t>
            </a:r>
          </a:p>
          <a:p>
            <a:pPr marL="0" indent="0" algn="ctr">
              <a:buFont typeface="Arial" pitchFamily="34" charset="0"/>
              <a:buNone/>
            </a:pPr>
            <a:endParaRPr lang="ro-RO" sz="4400" b="1"/>
          </a:p>
          <a:p>
            <a:pPr marL="0" indent="0" algn="ctr">
              <a:buFont typeface="Arial" pitchFamily="34" charset="0"/>
              <a:buNone/>
            </a:pPr>
            <a:r>
              <a:rPr lang="ro-RO" sz="4400"/>
              <a:t>3-4 ani – o proporție mare eșuează</a:t>
            </a:r>
          </a:p>
          <a:p>
            <a:pPr marL="0" indent="0" algn="ctr">
              <a:buFont typeface="Arial" pitchFamily="34" charset="0"/>
              <a:buNone/>
            </a:pPr>
            <a:r>
              <a:rPr lang="ro-RO" sz="4400"/>
              <a:t>5-6 ani - succes</a:t>
            </a:r>
          </a:p>
        </p:txBody>
      </p:sp>
    </p:spTree>
    <p:extLst>
      <p:ext uri="{BB962C8B-B14F-4D97-AF65-F5344CB8AC3E}">
        <p14:creationId xmlns:p14="http://schemas.microsoft.com/office/powerpoint/2010/main" val="306637813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4678B2-F42F-164A-0CDB-03A742818C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87C83445-9C42-FD68-1D5D-4366B16BC1F7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5555" b="-5555"/>
            </a:stretch>
          </a:blipFill>
        </p:spPr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BA721622-BF6C-5C27-E162-CCCC6FD305E0}"/>
              </a:ext>
            </a:extLst>
          </p:cNvPr>
          <p:cNvGrpSpPr/>
          <p:nvPr/>
        </p:nvGrpSpPr>
        <p:grpSpPr>
          <a:xfrm>
            <a:off x="169511" y="190500"/>
            <a:ext cx="17948980" cy="9829800"/>
            <a:chOff x="0" y="0"/>
            <a:chExt cx="4816593" cy="2709333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51F62104-1789-D5CC-8886-62C0A7BFFBD6}"/>
                </a:ext>
              </a:extLst>
            </p:cNvPr>
            <p:cNvSpPr/>
            <p:nvPr/>
          </p:nvSpPr>
          <p:spPr>
            <a:xfrm>
              <a:off x="0" y="0"/>
              <a:ext cx="4816592" cy="2709333"/>
            </a:xfrm>
            <a:custGeom>
              <a:avLst/>
              <a:gdLst/>
              <a:ahLst/>
              <a:cxnLst/>
              <a:rect l="l" t="t" r="r" b="b"/>
              <a:pathLst>
                <a:path w="4816592" h="2709333">
                  <a:moveTo>
                    <a:pt x="0" y="0"/>
                  </a:moveTo>
                  <a:lnTo>
                    <a:pt x="4816592" y="0"/>
                  </a:lnTo>
                  <a:lnTo>
                    <a:pt x="4816592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657225" cap="sq">
              <a:solidFill>
                <a:srgbClr val="1E3F48"/>
              </a:solidFill>
              <a:prstDash val="solid"/>
              <a:miter/>
            </a:ln>
          </p:spPr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0D19DABC-728B-91EF-D910-DABE5C689D06}"/>
                </a:ext>
              </a:extLst>
            </p:cNvPr>
            <p:cNvSpPr txBox="1"/>
            <p:nvPr/>
          </p:nvSpPr>
          <p:spPr>
            <a:xfrm>
              <a:off x="0" y="-47625"/>
              <a:ext cx="4816593" cy="27569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10"/>
                </a:lnSpc>
              </a:pPr>
              <a:endParaRPr/>
            </a:p>
          </p:txBody>
        </p:sp>
      </p:grpSp>
      <p:sp>
        <p:nvSpPr>
          <p:cNvPr id="8" name="TextBox 8">
            <a:extLst>
              <a:ext uri="{FF2B5EF4-FFF2-40B4-BE49-F238E27FC236}">
                <a16:creationId xmlns:a16="http://schemas.microsoft.com/office/drawing/2014/main" id="{D1B56458-B6EC-8073-3192-C70AF1174B32}"/>
              </a:ext>
            </a:extLst>
          </p:cNvPr>
          <p:cNvSpPr txBox="1"/>
          <p:nvPr/>
        </p:nvSpPr>
        <p:spPr>
          <a:xfrm>
            <a:off x="462369" y="550511"/>
            <a:ext cx="17656121" cy="15260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893"/>
              </a:lnSpc>
            </a:pPr>
            <a:r>
              <a:rPr lang="ro-RO" sz="8800" b="1">
                <a:latin typeface="Carelia" panose="020B0604020202020204" charset="0"/>
              </a:rPr>
              <a:t>Memoria de lucru</a:t>
            </a:r>
            <a:endParaRPr lang="en-US" sz="8495" b="1">
              <a:solidFill>
                <a:srgbClr val="01070A"/>
              </a:solidFill>
              <a:latin typeface="Carelia" panose="020B0604020202020204" charset="0"/>
              <a:ea typeface="Carelia"/>
              <a:cs typeface="Carelia"/>
              <a:sym typeface="Carelia"/>
            </a:endParaRPr>
          </a:p>
        </p:txBody>
      </p:sp>
      <p:pic>
        <p:nvPicPr>
          <p:cNvPr id="6" name="Picture 6" descr="A close-up of a graph&#10;&#10;Description automatically generated">
            <a:extLst>
              <a:ext uri="{FF2B5EF4-FFF2-40B4-BE49-F238E27FC236}">
                <a16:creationId xmlns:a16="http://schemas.microsoft.com/office/drawing/2014/main" id="{5138A901-2398-6585-EB43-996D33A9576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5400" y="2112290"/>
            <a:ext cx="9102123" cy="682659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D7B0444-2849-4685-2CD4-578D71772C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811000" y="2231968"/>
            <a:ext cx="3829941" cy="3110794"/>
          </a:xfrm>
          <a:prstGeom prst="rect">
            <a:avLst/>
          </a:prstGeom>
          <a:noFill/>
        </p:spPr>
      </p:pic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32BFD702-3FA3-0279-E746-C472B3F28922}"/>
              </a:ext>
            </a:extLst>
          </p:cNvPr>
          <p:cNvSpPr txBox="1">
            <a:spLocks/>
          </p:cNvSpPr>
          <p:nvPr/>
        </p:nvSpPr>
        <p:spPr>
          <a:xfrm>
            <a:off x="11594277" y="6294180"/>
            <a:ext cx="4263385" cy="2303925"/>
          </a:xfrm>
          <a:prstGeom prst="rect">
            <a:avLst/>
          </a:prstGeom>
        </p:spPr>
        <p:txBody>
          <a:bodyPr>
            <a:normAutofit fontScale="77500" lnSpcReduction="2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ts val="0"/>
              </a:spcBef>
              <a:buFont typeface="Arial" pitchFamily="34" charset="0"/>
              <a:buNone/>
            </a:pPr>
            <a:r>
              <a:rPr lang="ro-RO" b="1"/>
              <a:t>Self-</a:t>
            </a:r>
            <a:r>
              <a:rPr lang="ro-RO" b="1" err="1"/>
              <a:t>ordered</a:t>
            </a:r>
            <a:r>
              <a:rPr lang="ro-RO" b="1"/>
              <a:t> </a:t>
            </a:r>
            <a:r>
              <a:rPr lang="ro-RO" b="1" err="1"/>
              <a:t>pointing</a:t>
            </a:r>
            <a:r>
              <a:rPr lang="ro-RO" b="1"/>
              <a:t> task </a:t>
            </a:r>
          </a:p>
          <a:p>
            <a:pPr marL="0" indent="0" algn="ctr">
              <a:spcBef>
                <a:spcPts val="0"/>
              </a:spcBef>
              <a:buFont typeface="Arial" pitchFamily="34" charset="0"/>
              <a:buNone/>
            </a:pPr>
            <a:r>
              <a:rPr lang="ro-RO" b="1"/>
              <a:t>(arătare auto-ordonată)</a:t>
            </a:r>
            <a:endParaRPr lang="ro-RO" sz="1600" b="1"/>
          </a:p>
          <a:p>
            <a:pPr marL="0" indent="0" algn="ctr">
              <a:spcBef>
                <a:spcPts val="0"/>
              </a:spcBef>
              <a:buFont typeface="Arial" pitchFamily="34" charset="0"/>
              <a:buNone/>
            </a:pPr>
            <a:r>
              <a:rPr lang="ro-RO" sz="2800" b="1"/>
              <a:t> </a:t>
            </a:r>
            <a:r>
              <a:rPr lang="ro-RO" sz="2300"/>
              <a:t>(</a:t>
            </a:r>
            <a:r>
              <a:rPr lang="ro-RO" sz="2300" err="1"/>
              <a:t>Diamond</a:t>
            </a:r>
            <a:r>
              <a:rPr lang="ro-RO" sz="2300"/>
              <a:t> et al., 2004)</a:t>
            </a:r>
          </a:p>
          <a:p>
            <a:pPr marL="0" indent="0" algn="ctr">
              <a:lnSpc>
                <a:spcPct val="120000"/>
              </a:lnSpc>
              <a:buFont typeface="Arial" pitchFamily="34" charset="0"/>
              <a:buNone/>
            </a:pPr>
            <a:r>
              <a:rPr lang="ro-RO"/>
              <a:t>Performanța se îmbunătățește până la 11 ani.</a:t>
            </a:r>
          </a:p>
        </p:txBody>
      </p:sp>
    </p:spTree>
    <p:extLst>
      <p:ext uri="{BB962C8B-B14F-4D97-AF65-F5344CB8AC3E}">
        <p14:creationId xmlns:p14="http://schemas.microsoft.com/office/powerpoint/2010/main" val="239135784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0EE6F6-DB95-C9B2-8DFF-78096049F8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EB700BBD-F672-F8E8-2B6A-1467F487447C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5555" b="-5555"/>
            </a:stretch>
          </a:blipFill>
        </p:spPr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FBCF910C-CB0A-06A3-E930-1D3427D6C388}"/>
              </a:ext>
            </a:extLst>
          </p:cNvPr>
          <p:cNvGrpSpPr/>
          <p:nvPr/>
        </p:nvGrpSpPr>
        <p:grpSpPr>
          <a:xfrm>
            <a:off x="169511" y="307316"/>
            <a:ext cx="17833684" cy="9672368"/>
            <a:chOff x="0" y="0"/>
            <a:chExt cx="4816593" cy="2709333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7A3F95A0-CE26-61B6-BF0C-5B49D8614331}"/>
                </a:ext>
              </a:extLst>
            </p:cNvPr>
            <p:cNvSpPr/>
            <p:nvPr/>
          </p:nvSpPr>
          <p:spPr>
            <a:xfrm>
              <a:off x="0" y="0"/>
              <a:ext cx="4816592" cy="2709333"/>
            </a:xfrm>
            <a:custGeom>
              <a:avLst/>
              <a:gdLst/>
              <a:ahLst/>
              <a:cxnLst/>
              <a:rect l="l" t="t" r="r" b="b"/>
              <a:pathLst>
                <a:path w="4816592" h="2709333">
                  <a:moveTo>
                    <a:pt x="0" y="0"/>
                  </a:moveTo>
                  <a:lnTo>
                    <a:pt x="4816592" y="0"/>
                  </a:lnTo>
                  <a:lnTo>
                    <a:pt x="4816592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657225" cap="sq">
              <a:solidFill>
                <a:srgbClr val="1E3F48"/>
              </a:solidFill>
              <a:prstDash val="solid"/>
              <a:miter/>
            </a:ln>
          </p:spPr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59E7CB8E-EC4C-1FA0-072D-CB2851824C20}"/>
                </a:ext>
              </a:extLst>
            </p:cNvPr>
            <p:cNvSpPr txBox="1"/>
            <p:nvPr/>
          </p:nvSpPr>
          <p:spPr>
            <a:xfrm>
              <a:off x="0" y="-47625"/>
              <a:ext cx="4816593" cy="27569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10"/>
                </a:lnSpc>
              </a:pPr>
              <a:endParaRPr/>
            </a:p>
          </p:txBody>
        </p:sp>
      </p:grpSp>
      <p:sp>
        <p:nvSpPr>
          <p:cNvPr id="8" name="TextBox 8">
            <a:extLst>
              <a:ext uri="{FF2B5EF4-FFF2-40B4-BE49-F238E27FC236}">
                <a16:creationId xmlns:a16="http://schemas.microsoft.com/office/drawing/2014/main" id="{BD949366-38D2-FC83-A6A1-C75904D3F2EB}"/>
              </a:ext>
            </a:extLst>
          </p:cNvPr>
          <p:cNvSpPr txBox="1"/>
          <p:nvPr/>
        </p:nvSpPr>
        <p:spPr>
          <a:xfrm>
            <a:off x="462369" y="550511"/>
            <a:ext cx="17656121" cy="15260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893"/>
              </a:lnSpc>
            </a:pPr>
            <a:r>
              <a:rPr lang="ro-RO" sz="8800" b="1">
                <a:latin typeface="Carelia" panose="020B0604020202020204" charset="0"/>
              </a:rPr>
              <a:t>Comutarea </a:t>
            </a:r>
            <a:r>
              <a:rPr lang="ro-RO" sz="8800" b="1" err="1">
                <a:latin typeface="Carelia" panose="020B0604020202020204" charset="0"/>
              </a:rPr>
              <a:t>Atențională</a:t>
            </a:r>
            <a:endParaRPr lang="en-US" sz="8495" b="1">
              <a:solidFill>
                <a:srgbClr val="01070A"/>
              </a:solidFill>
              <a:latin typeface="Carelia" panose="020B0604020202020204" charset="0"/>
              <a:ea typeface="Carelia"/>
              <a:cs typeface="Carelia"/>
              <a:sym typeface="Carelia"/>
            </a:endParaRPr>
          </a:p>
        </p:txBody>
      </p:sp>
      <p:pic>
        <p:nvPicPr>
          <p:cNvPr id="10" name="Picture 1">
            <a:extLst>
              <a:ext uri="{FF2B5EF4-FFF2-40B4-BE49-F238E27FC236}">
                <a16:creationId xmlns:a16="http://schemas.microsoft.com/office/drawing/2014/main" id="{5E6D2B08-9A92-80BC-ED2E-31F2C4590A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06000" y="2712806"/>
            <a:ext cx="6522834" cy="5275600"/>
          </a:xfrm>
          <a:prstGeom prst="rect">
            <a:avLst/>
          </a:prstGeom>
        </p:spPr>
      </p:pic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31260531-A1DD-9D2E-3D6B-F900FC3E1338}"/>
              </a:ext>
            </a:extLst>
          </p:cNvPr>
          <p:cNvSpPr txBox="1">
            <a:spLocks/>
          </p:cNvSpPr>
          <p:nvPr/>
        </p:nvSpPr>
        <p:spPr>
          <a:xfrm>
            <a:off x="1447800" y="3750406"/>
            <a:ext cx="6186407" cy="3200400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itchFamily="34" charset="0"/>
              <a:buNone/>
            </a:pPr>
            <a:r>
              <a:rPr lang="ro-RO" sz="5400" b="1"/>
              <a:t>Dimensional </a:t>
            </a:r>
            <a:r>
              <a:rPr lang="ro-RO" sz="5400" b="1" err="1"/>
              <a:t>Change</a:t>
            </a:r>
            <a:r>
              <a:rPr lang="ro-RO" sz="5400" b="1"/>
              <a:t> Card </a:t>
            </a:r>
            <a:r>
              <a:rPr lang="ro-RO" sz="5400" b="1" err="1"/>
              <a:t>Sorting</a:t>
            </a:r>
            <a:r>
              <a:rPr lang="ro-RO" sz="5400" b="1"/>
              <a:t> Task</a:t>
            </a:r>
          </a:p>
          <a:p>
            <a:pPr marL="0" indent="0" algn="ctr">
              <a:buFont typeface="Arial" pitchFamily="34" charset="0"/>
              <a:buNone/>
            </a:pPr>
            <a:r>
              <a:rPr lang="ro-RO" sz="4000"/>
              <a:t>3 ani – perseverare</a:t>
            </a:r>
          </a:p>
          <a:p>
            <a:pPr marL="0" indent="0" algn="ctr">
              <a:buFont typeface="Arial" pitchFamily="34" charset="0"/>
              <a:buNone/>
            </a:pPr>
            <a:r>
              <a:rPr lang="ro-RO" sz="4000"/>
              <a:t>4-5 ani reușesc</a:t>
            </a:r>
          </a:p>
        </p:txBody>
      </p:sp>
    </p:spTree>
    <p:extLst>
      <p:ext uri="{BB962C8B-B14F-4D97-AF65-F5344CB8AC3E}">
        <p14:creationId xmlns:p14="http://schemas.microsoft.com/office/powerpoint/2010/main" val="29360684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904CC3ACF4D0747AA1FE12D19DCF021" ma:contentTypeVersion="3" ma:contentTypeDescription="Create a new document." ma:contentTypeScope="" ma:versionID="37c534766e0945d81383089c26a8d6cf">
  <xsd:schema xmlns:xsd="http://www.w3.org/2001/XMLSchema" xmlns:xs="http://www.w3.org/2001/XMLSchema" xmlns:p="http://schemas.microsoft.com/office/2006/metadata/properties" xmlns:ns2="fa0e77c9-1a0d-4ee8-b1f5-4ac48c790630" targetNamespace="http://schemas.microsoft.com/office/2006/metadata/properties" ma:root="true" ma:fieldsID="86664ca69a0e95804161efb34fc7a474" ns2:_="">
    <xsd:import namespace="fa0e77c9-1a0d-4ee8-b1f5-4ac48c79063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a0e77c9-1a0d-4ee8-b1f5-4ac48c79063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7D9760B4-7FE0-43AB-B885-2BA9F6A91F0A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B6855C4C-44B4-4AF6-978D-1BC8987783E6}"/>
</file>

<file path=customXml/itemProps3.xml><?xml version="1.0" encoding="utf-8"?>
<ds:datastoreItem xmlns:ds="http://schemas.openxmlformats.org/officeDocument/2006/customXml" ds:itemID="{F032F082-8C5D-4A7F-8C3B-78D8D4FD0265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Custom</PresentationFormat>
  <Slides>14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5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Prezentare seminar 7</dc:title>
  <dc:creator>Mihai</dc:creator>
  <cp:revision>2</cp:revision>
  <dcterms:created xsi:type="dcterms:W3CDTF">2006-08-16T00:00:00Z</dcterms:created>
  <dcterms:modified xsi:type="dcterms:W3CDTF">2026-01-29T23:46:18Z</dcterms:modified>
  <dc:identifier>DAGUZRwYPxk</dc:identifie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0x0101008904CC3ACF4D0747AA1FE12D19DCF021</vt:lpwstr>
  </property>
</Properties>
</file>