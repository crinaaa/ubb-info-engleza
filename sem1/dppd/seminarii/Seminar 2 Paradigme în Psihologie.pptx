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8288000" cy="10287000"/>
  <p:notesSz cx="6858000" cy="9144000"/>
  <p:embeddedFontLst>
    <p:embeddedFont>
      <p:font typeface="Carelia" panose="020B0604020202020204" charset="0"/>
      <p:regular r:id="rId13"/>
    </p:embeddedFont>
    <p:embeddedFont>
      <p:font typeface="Dosis" pitchFamily="2" charset="0"/>
      <p:regular r:id="rId14"/>
      <p:bold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221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font" Target="fonts/font3.fntdata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US COTOROBAI" userId="S::marius.cotorobai@stud.ubbcluj.ro::b5f2f589-6c9e-489c-9fa8-958eb61f7ccd" providerId="AD" clId="Web-{A7003E25-185A-233C-AAFE-DA238950F180}"/>
    <pc:docChg chg="modSld">
      <pc:chgData name="MARIUS COTOROBAI" userId="S::marius.cotorobai@stud.ubbcluj.ro::b5f2f589-6c9e-489c-9fa8-958eb61f7ccd" providerId="AD" clId="Web-{A7003E25-185A-233C-AAFE-DA238950F180}" dt="2026-01-21T11:25:03.701" v="1" actId="1076"/>
      <pc:docMkLst>
        <pc:docMk/>
      </pc:docMkLst>
      <pc:sldChg chg="modSp">
        <pc:chgData name="MARIUS COTOROBAI" userId="S::marius.cotorobai@stud.ubbcluj.ro::b5f2f589-6c9e-489c-9fa8-958eb61f7ccd" providerId="AD" clId="Web-{A7003E25-185A-233C-AAFE-DA238950F180}" dt="2026-01-21T11:25:03.701" v="1" actId="1076"/>
        <pc:sldMkLst>
          <pc:docMk/>
          <pc:sldMk cId="0" sldId="258"/>
        </pc:sldMkLst>
        <pc:grpChg chg="mod">
          <ac:chgData name="MARIUS COTOROBAI" userId="S::marius.cotorobai@stud.ubbcluj.ro::b5f2f589-6c9e-489c-9fa8-958eb61f7ccd" providerId="AD" clId="Web-{A7003E25-185A-233C-AAFE-DA238950F180}" dt="2026-01-21T11:25:03.701" v="1" actId="1076"/>
          <ac:grpSpMkLst>
            <pc:docMk/>
            <pc:sldMk cId="0" sldId="258"/>
            <ac:grpSpMk id="3" creationId="{00000000-0000-0000-0000-000000000000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663033" y="6195861"/>
            <a:ext cx="6914093" cy="5028432"/>
          </a:xfrm>
          <a:custGeom>
            <a:avLst/>
            <a:gdLst/>
            <a:ahLst/>
            <a:cxnLst/>
            <a:rect l="l" t="t" r="r" b="b"/>
            <a:pathLst>
              <a:path w="6914093" h="5028432">
                <a:moveTo>
                  <a:pt x="0" y="0"/>
                </a:moveTo>
                <a:lnTo>
                  <a:pt x="6914093" y="0"/>
                </a:lnTo>
                <a:lnTo>
                  <a:pt x="6914093" y="5028431"/>
                </a:lnTo>
                <a:lnTo>
                  <a:pt x="0" y="50284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661979" y="4153649"/>
            <a:ext cx="11835175" cy="1979702"/>
          </a:xfrm>
          <a:custGeom>
            <a:avLst/>
            <a:gdLst/>
            <a:ahLst/>
            <a:cxnLst/>
            <a:rect l="l" t="t" r="r" b="b"/>
            <a:pathLst>
              <a:path w="11835175" h="1979702">
                <a:moveTo>
                  <a:pt x="0" y="0"/>
                </a:moveTo>
                <a:lnTo>
                  <a:pt x="11835175" y="0"/>
                </a:lnTo>
                <a:lnTo>
                  <a:pt x="11835175" y="1979702"/>
                </a:lnTo>
                <a:lnTo>
                  <a:pt x="0" y="19797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191843" y="3341211"/>
            <a:ext cx="12212547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Seminar Psihologia Educației</a:t>
            </a:r>
          </a:p>
        </p:txBody>
      </p:sp>
      <p:sp>
        <p:nvSpPr>
          <p:cNvPr id="6" name="Freeform 6"/>
          <p:cNvSpPr/>
          <p:nvPr/>
        </p:nvSpPr>
        <p:spPr>
          <a:xfrm>
            <a:off x="12456379" y="5404911"/>
            <a:ext cx="8246933" cy="6247677"/>
          </a:xfrm>
          <a:custGeom>
            <a:avLst/>
            <a:gdLst/>
            <a:ahLst/>
            <a:cxnLst/>
            <a:rect l="l" t="t" r="r" b="b"/>
            <a:pathLst>
              <a:path w="8246933" h="6247677">
                <a:moveTo>
                  <a:pt x="0" y="0"/>
                </a:moveTo>
                <a:lnTo>
                  <a:pt x="8246933" y="0"/>
                </a:lnTo>
                <a:lnTo>
                  <a:pt x="8246933" y="6247677"/>
                </a:lnTo>
                <a:lnTo>
                  <a:pt x="0" y="624767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308980" y="-1652824"/>
            <a:ext cx="8905028" cy="5575060"/>
          </a:xfrm>
          <a:custGeom>
            <a:avLst/>
            <a:gdLst/>
            <a:ahLst/>
            <a:cxnLst/>
            <a:rect l="l" t="t" r="r" b="b"/>
            <a:pathLst>
              <a:path w="8905028" h="5575060">
                <a:moveTo>
                  <a:pt x="0" y="0"/>
                </a:moveTo>
                <a:lnTo>
                  <a:pt x="8905029" y="0"/>
                </a:lnTo>
                <a:lnTo>
                  <a:pt x="8905029" y="5575060"/>
                </a:lnTo>
                <a:lnTo>
                  <a:pt x="0" y="557506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3495846">
            <a:off x="-3929800" y="-2685694"/>
            <a:ext cx="5243739" cy="7338566"/>
          </a:xfrm>
          <a:custGeom>
            <a:avLst/>
            <a:gdLst/>
            <a:ahLst/>
            <a:cxnLst/>
            <a:rect l="l" t="t" r="r" b="b"/>
            <a:pathLst>
              <a:path w="5243739" h="7338566">
                <a:moveTo>
                  <a:pt x="0" y="0"/>
                </a:moveTo>
                <a:lnTo>
                  <a:pt x="5243739" y="0"/>
                </a:lnTo>
                <a:lnTo>
                  <a:pt x="5243739" y="7338565"/>
                </a:lnTo>
                <a:lnTo>
                  <a:pt x="0" y="733856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5523248" y="8452549"/>
            <a:ext cx="6639489" cy="1261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2"/>
              </a:lnSpc>
            </a:pPr>
            <a:r>
              <a:rPr lang="en-US" sz="3594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Drd. Miheș Mihai</a:t>
            </a:r>
          </a:p>
          <a:p>
            <a:pPr algn="ctr">
              <a:lnSpc>
                <a:spcPts val="5032"/>
              </a:lnSpc>
            </a:pPr>
            <a:r>
              <a:rPr lang="en-US" sz="3594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mihaimihes@psychology.ro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965872" y="4635848"/>
            <a:ext cx="10850017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Paradigme din Psihologie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333357" y="1295830"/>
            <a:ext cx="15300654" cy="8991170"/>
            <a:chOff x="0" y="0"/>
            <a:chExt cx="4029802" cy="236804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029802" cy="2368045"/>
            </a:xfrm>
            <a:custGeom>
              <a:avLst/>
              <a:gdLst/>
              <a:ahLst/>
              <a:cxnLst/>
              <a:rect l="l" t="t" r="r" b="b"/>
              <a:pathLst>
                <a:path w="4029802" h="2368045">
                  <a:moveTo>
                    <a:pt x="0" y="0"/>
                  </a:moveTo>
                  <a:lnTo>
                    <a:pt x="4029802" y="0"/>
                  </a:lnTo>
                  <a:lnTo>
                    <a:pt x="4029802" y="2368045"/>
                  </a:lnTo>
                  <a:lnTo>
                    <a:pt x="0" y="2368045"/>
                  </a:lnTo>
                  <a:close/>
                </a:path>
              </a:pathLst>
            </a:custGeom>
            <a:solidFill>
              <a:srgbClr val="000000">
                <a:alpha val="31765"/>
              </a:srgbClr>
            </a:solidFill>
            <a:ln w="38100" cap="sq">
              <a:solidFill>
                <a:srgbClr val="000000">
                  <a:alpha val="31765"/>
                </a:srgbClr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029802" cy="24156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825720" y="1078239"/>
            <a:ext cx="15433580" cy="9087440"/>
            <a:chOff x="0" y="0"/>
            <a:chExt cx="4064811" cy="2393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064811" cy="2393400"/>
            </a:xfrm>
            <a:custGeom>
              <a:avLst/>
              <a:gdLst/>
              <a:ahLst/>
              <a:cxnLst/>
              <a:rect l="l" t="t" r="r" b="b"/>
              <a:pathLst>
                <a:path w="4064811" h="2393400">
                  <a:moveTo>
                    <a:pt x="5518" y="0"/>
                  </a:moveTo>
                  <a:lnTo>
                    <a:pt x="4059293" y="0"/>
                  </a:lnTo>
                  <a:cubicBezTo>
                    <a:pt x="4060757" y="0"/>
                    <a:pt x="4062160" y="581"/>
                    <a:pt x="4063195" y="1616"/>
                  </a:cubicBezTo>
                  <a:cubicBezTo>
                    <a:pt x="4064230" y="2651"/>
                    <a:pt x="4064811" y="4054"/>
                    <a:pt x="4064811" y="5518"/>
                  </a:cubicBezTo>
                  <a:lnTo>
                    <a:pt x="4064811" y="2387882"/>
                  </a:lnTo>
                  <a:cubicBezTo>
                    <a:pt x="4064811" y="2389345"/>
                    <a:pt x="4064230" y="2390749"/>
                    <a:pt x="4063195" y="2391784"/>
                  </a:cubicBezTo>
                  <a:cubicBezTo>
                    <a:pt x="4062160" y="2392818"/>
                    <a:pt x="4060757" y="2393400"/>
                    <a:pt x="4059293" y="2393400"/>
                  </a:cubicBezTo>
                  <a:lnTo>
                    <a:pt x="5518" y="2393400"/>
                  </a:lnTo>
                  <a:cubicBezTo>
                    <a:pt x="4054" y="2393400"/>
                    <a:pt x="2651" y="2392818"/>
                    <a:pt x="1616" y="2391784"/>
                  </a:cubicBezTo>
                  <a:cubicBezTo>
                    <a:pt x="581" y="2390749"/>
                    <a:pt x="0" y="2389345"/>
                    <a:pt x="0" y="2387882"/>
                  </a:cubicBezTo>
                  <a:lnTo>
                    <a:pt x="0" y="5518"/>
                  </a:lnTo>
                  <a:cubicBezTo>
                    <a:pt x="0" y="4054"/>
                    <a:pt x="581" y="2651"/>
                    <a:pt x="1616" y="1616"/>
                  </a:cubicBezTo>
                  <a:cubicBezTo>
                    <a:pt x="2651" y="581"/>
                    <a:pt x="4054" y="0"/>
                    <a:pt x="551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4064811" cy="244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6974403" y="822411"/>
            <a:ext cx="3667332" cy="946839"/>
          </a:xfrm>
          <a:custGeom>
            <a:avLst/>
            <a:gdLst/>
            <a:ahLst/>
            <a:cxnLst/>
            <a:rect l="l" t="t" r="r" b="b"/>
            <a:pathLst>
              <a:path w="3667332" h="946839">
                <a:moveTo>
                  <a:pt x="0" y="0"/>
                </a:moveTo>
                <a:lnTo>
                  <a:pt x="3667332" y="0"/>
                </a:lnTo>
                <a:lnTo>
                  <a:pt x="3667332" y="946839"/>
                </a:lnTo>
                <a:lnTo>
                  <a:pt x="0" y="9468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6332393" y="-123825"/>
            <a:ext cx="5623213" cy="10863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865"/>
              </a:lnSpc>
              <a:spcBef>
                <a:spcPct val="0"/>
              </a:spcBef>
            </a:pPr>
            <a:r>
              <a:rPr lang="en-US" sz="6332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Paradigme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563258" y="2204379"/>
            <a:ext cx="13284432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Ce </a:t>
            </a:r>
            <a:r>
              <a:rPr lang="en-US" sz="3999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este</a:t>
            </a:r>
            <a:r>
              <a:rPr lang="en-US" sz="3999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o </a:t>
            </a:r>
            <a:r>
              <a:rPr lang="en-US" sz="3999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paradigmă</a:t>
            </a:r>
            <a:r>
              <a:rPr lang="en-US" sz="3999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?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563258" y="5427004"/>
            <a:ext cx="13284432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Care sunt paradigmele din psihologie?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501784" y="3804579"/>
            <a:ext cx="13284432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Ce </a:t>
            </a:r>
            <a:r>
              <a:rPr lang="en-US" sz="3999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personalități</a:t>
            </a:r>
            <a:r>
              <a:rPr lang="en-US" sz="3999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999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cunoașteți</a:t>
            </a:r>
            <a:r>
              <a:rPr lang="en-US" sz="3999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din </a:t>
            </a:r>
            <a:r>
              <a:rPr lang="en-US" sz="3999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Psihologie</a:t>
            </a:r>
            <a:r>
              <a:rPr lang="en-US" sz="3999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?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563258" y="7044992"/>
            <a:ext cx="13284432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Care este paradigma actuală?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556384" y="-626785"/>
            <a:ext cx="12340996" cy="12247451"/>
            <a:chOff x="0" y="0"/>
            <a:chExt cx="3250304" cy="322566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250304" cy="3225666"/>
            </a:xfrm>
            <a:custGeom>
              <a:avLst/>
              <a:gdLst/>
              <a:ahLst/>
              <a:cxnLst/>
              <a:rect l="l" t="t" r="r" b="b"/>
              <a:pathLst>
                <a:path w="3250304" h="3225666">
                  <a:moveTo>
                    <a:pt x="0" y="0"/>
                  </a:moveTo>
                  <a:lnTo>
                    <a:pt x="3250304" y="0"/>
                  </a:lnTo>
                  <a:lnTo>
                    <a:pt x="3250304" y="3225666"/>
                  </a:lnTo>
                  <a:lnTo>
                    <a:pt x="0" y="322566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250304" cy="32732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flipH="1">
            <a:off x="14634168" y="7532431"/>
            <a:ext cx="5565196" cy="4047415"/>
          </a:xfrm>
          <a:custGeom>
            <a:avLst/>
            <a:gdLst/>
            <a:ahLst/>
            <a:cxnLst/>
            <a:rect l="l" t="t" r="r" b="b"/>
            <a:pathLst>
              <a:path w="5565196" h="4047415">
                <a:moveTo>
                  <a:pt x="5565195" y="0"/>
                </a:moveTo>
                <a:lnTo>
                  <a:pt x="0" y="0"/>
                </a:lnTo>
                <a:lnTo>
                  <a:pt x="0" y="4047415"/>
                </a:lnTo>
                <a:lnTo>
                  <a:pt x="5565195" y="4047415"/>
                </a:lnTo>
                <a:lnTo>
                  <a:pt x="556519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804885" y="188801"/>
            <a:ext cx="11843995" cy="1193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764"/>
              </a:lnSpc>
              <a:spcBef>
                <a:spcPct val="0"/>
              </a:spcBef>
            </a:pPr>
            <a:r>
              <a:rPr lang="en-US" sz="6974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Paradigma Psihanalitică</a:t>
            </a:r>
          </a:p>
        </p:txBody>
      </p:sp>
      <p:sp>
        <p:nvSpPr>
          <p:cNvPr id="8" name="Freeform 8"/>
          <p:cNvSpPr/>
          <p:nvPr/>
        </p:nvSpPr>
        <p:spPr>
          <a:xfrm flipH="1">
            <a:off x="-143781" y="7180716"/>
            <a:ext cx="3190321" cy="3316969"/>
          </a:xfrm>
          <a:custGeom>
            <a:avLst/>
            <a:gdLst/>
            <a:ahLst/>
            <a:cxnLst/>
            <a:rect l="l" t="t" r="r" b="b"/>
            <a:pathLst>
              <a:path w="3190321" h="3316969">
                <a:moveTo>
                  <a:pt x="3190320" y="0"/>
                </a:moveTo>
                <a:lnTo>
                  <a:pt x="0" y="0"/>
                </a:lnTo>
                <a:lnTo>
                  <a:pt x="0" y="3316968"/>
                </a:lnTo>
                <a:lnTo>
                  <a:pt x="3190320" y="3316968"/>
                </a:lnTo>
                <a:lnTo>
                  <a:pt x="319032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479710" y="1915995"/>
            <a:ext cx="11154457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Psihanaliză lui Sigmund Freud: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566771" y="6862506"/>
            <a:ext cx="11154457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Ce părăre aveți legată de această paradigmă?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566771" y="7938970"/>
            <a:ext cx="11154457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Credeți că este de ajuns?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479710" y="2919295"/>
            <a:ext cx="11154457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Ce este personalitatea unei persoane?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479710" y="4052356"/>
            <a:ext cx="11154457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Ce presupune procesul terapeutic?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479710" y="5189006"/>
            <a:ext cx="11154457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Ce teste utilizăm?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556384" y="-667606"/>
            <a:ext cx="12340996" cy="12247451"/>
            <a:chOff x="0" y="0"/>
            <a:chExt cx="3250304" cy="322566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250304" cy="3225666"/>
            </a:xfrm>
            <a:custGeom>
              <a:avLst/>
              <a:gdLst/>
              <a:ahLst/>
              <a:cxnLst/>
              <a:rect l="l" t="t" r="r" b="b"/>
              <a:pathLst>
                <a:path w="3250304" h="3225666">
                  <a:moveTo>
                    <a:pt x="0" y="0"/>
                  </a:moveTo>
                  <a:lnTo>
                    <a:pt x="3250304" y="0"/>
                  </a:lnTo>
                  <a:lnTo>
                    <a:pt x="3250304" y="3225666"/>
                  </a:lnTo>
                  <a:lnTo>
                    <a:pt x="0" y="322566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250304" cy="32732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flipH="1">
            <a:off x="14634168" y="7532431"/>
            <a:ext cx="5565196" cy="4047415"/>
          </a:xfrm>
          <a:custGeom>
            <a:avLst/>
            <a:gdLst/>
            <a:ahLst/>
            <a:cxnLst/>
            <a:rect l="l" t="t" r="r" b="b"/>
            <a:pathLst>
              <a:path w="5565196" h="4047415">
                <a:moveTo>
                  <a:pt x="5565195" y="0"/>
                </a:moveTo>
                <a:lnTo>
                  <a:pt x="0" y="0"/>
                </a:lnTo>
                <a:lnTo>
                  <a:pt x="0" y="4047415"/>
                </a:lnTo>
                <a:lnTo>
                  <a:pt x="5565195" y="4047415"/>
                </a:lnTo>
                <a:lnTo>
                  <a:pt x="556519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804885" y="188801"/>
            <a:ext cx="11843995" cy="1193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764"/>
              </a:lnSpc>
              <a:spcBef>
                <a:spcPct val="0"/>
              </a:spcBef>
            </a:pPr>
            <a:r>
              <a:rPr lang="en-US" sz="6974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Paradigma Behavioristă</a:t>
            </a:r>
          </a:p>
        </p:txBody>
      </p:sp>
      <p:sp>
        <p:nvSpPr>
          <p:cNvPr id="8" name="Freeform 8"/>
          <p:cNvSpPr/>
          <p:nvPr/>
        </p:nvSpPr>
        <p:spPr>
          <a:xfrm flipH="1">
            <a:off x="-143781" y="7180716"/>
            <a:ext cx="3190321" cy="3316969"/>
          </a:xfrm>
          <a:custGeom>
            <a:avLst/>
            <a:gdLst/>
            <a:ahLst/>
            <a:cxnLst/>
            <a:rect l="l" t="t" r="r" b="b"/>
            <a:pathLst>
              <a:path w="3190321" h="3316969">
                <a:moveTo>
                  <a:pt x="3190320" y="0"/>
                </a:moveTo>
                <a:lnTo>
                  <a:pt x="0" y="0"/>
                </a:lnTo>
                <a:lnTo>
                  <a:pt x="0" y="3316968"/>
                </a:lnTo>
                <a:lnTo>
                  <a:pt x="3190320" y="3316968"/>
                </a:lnTo>
                <a:lnTo>
                  <a:pt x="319032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479710" y="3247669"/>
            <a:ext cx="11154457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Behvaiorsimul lui Skinner și Watson: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566771" y="6862506"/>
            <a:ext cx="11154457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Ce părăre aveți legată de această paradigmă?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566771" y="7938970"/>
            <a:ext cx="11154457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Credeți că este de ajuns?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479710" y="4515337"/>
            <a:ext cx="11154457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Ce este personalitatea unei persoane?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479710" y="5594837"/>
            <a:ext cx="11154457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Ce presupune procesul terapeutic?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479710" y="2168169"/>
            <a:ext cx="11154457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Paradigmele sunt asemănătoare curentelor în arte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556384" y="-667606"/>
            <a:ext cx="12340996" cy="12247451"/>
            <a:chOff x="0" y="0"/>
            <a:chExt cx="3250304" cy="322566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250304" cy="3225666"/>
            </a:xfrm>
            <a:custGeom>
              <a:avLst/>
              <a:gdLst/>
              <a:ahLst/>
              <a:cxnLst/>
              <a:rect l="l" t="t" r="r" b="b"/>
              <a:pathLst>
                <a:path w="3250304" h="3225666">
                  <a:moveTo>
                    <a:pt x="0" y="0"/>
                  </a:moveTo>
                  <a:lnTo>
                    <a:pt x="3250304" y="0"/>
                  </a:lnTo>
                  <a:lnTo>
                    <a:pt x="3250304" y="3225666"/>
                  </a:lnTo>
                  <a:lnTo>
                    <a:pt x="0" y="322566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250304" cy="32732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flipH="1">
            <a:off x="14634168" y="7532431"/>
            <a:ext cx="5565196" cy="4047415"/>
          </a:xfrm>
          <a:custGeom>
            <a:avLst/>
            <a:gdLst/>
            <a:ahLst/>
            <a:cxnLst/>
            <a:rect l="l" t="t" r="r" b="b"/>
            <a:pathLst>
              <a:path w="5565196" h="4047415">
                <a:moveTo>
                  <a:pt x="5565195" y="0"/>
                </a:moveTo>
                <a:lnTo>
                  <a:pt x="0" y="0"/>
                </a:lnTo>
                <a:lnTo>
                  <a:pt x="0" y="4047415"/>
                </a:lnTo>
                <a:lnTo>
                  <a:pt x="5565195" y="4047415"/>
                </a:lnTo>
                <a:lnTo>
                  <a:pt x="556519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804885" y="188801"/>
            <a:ext cx="11843995" cy="1193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764"/>
              </a:lnSpc>
              <a:spcBef>
                <a:spcPct val="0"/>
              </a:spcBef>
            </a:pPr>
            <a:r>
              <a:rPr lang="en-US" sz="6974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Paradigma Umanistă</a:t>
            </a:r>
          </a:p>
        </p:txBody>
      </p:sp>
      <p:sp>
        <p:nvSpPr>
          <p:cNvPr id="8" name="Freeform 8"/>
          <p:cNvSpPr/>
          <p:nvPr/>
        </p:nvSpPr>
        <p:spPr>
          <a:xfrm flipH="1">
            <a:off x="-143781" y="7180716"/>
            <a:ext cx="3190321" cy="3316969"/>
          </a:xfrm>
          <a:custGeom>
            <a:avLst/>
            <a:gdLst/>
            <a:ahLst/>
            <a:cxnLst/>
            <a:rect l="l" t="t" r="r" b="b"/>
            <a:pathLst>
              <a:path w="3190321" h="3316969">
                <a:moveTo>
                  <a:pt x="3190320" y="0"/>
                </a:moveTo>
                <a:lnTo>
                  <a:pt x="0" y="0"/>
                </a:lnTo>
                <a:lnTo>
                  <a:pt x="0" y="3316968"/>
                </a:lnTo>
                <a:lnTo>
                  <a:pt x="3190320" y="3316968"/>
                </a:lnTo>
                <a:lnTo>
                  <a:pt x="319032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479710" y="3247669"/>
            <a:ext cx="11154457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Umanismul lui Rogers: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494423" y="7780791"/>
            <a:ext cx="11154457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Ce părăre aveți legată de această paradigmă?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566771" y="8890000"/>
            <a:ext cx="11154457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Credeți că este de ajuns?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479710" y="4515337"/>
            <a:ext cx="11154457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Ce este personalitatea unei persoane?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479710" y="5594837"/>
            <a:ext cx="11154457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Ce presupune procesul terapeutic?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479710" y="2168169"/>
            <a:ext cx="11154457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Paradigmele sunt asemănătoare curentelor în arte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479710" y="6510791"/>
            <a:ext cx="11154457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Ce teste utilizăm?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556384" y="-667606"/>
            <a:ext cx="12340996" cy="12247451"/>
            <a:chOff x="0" y="0"/>
            <a:chExt cx="3250304" cy="322566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250304" cy="3225666"/>
            </a:xfrm>
            <a:custGeom>
              <a:avLst/>
              <a:gdLst/>
              <a:ahLst/>
              <a:cxnLst/>
              <a:rect l="l" t="t" r="r" b="b"/>
              <a:pathLst>
                <a:path w="3250304" h="3225666">
                  <a:moveTo>
                    <a:pt x="0" y="0"/>
                  </a:moveTo>
                  <a:lnTo>
                    <a:pt x="3250304" y="0"/>
                  </a:lnTo>
                  <a:lnTo>
                    <a:pt x="3250304" y="3225666"/>
                  </a:lnTo>
                  <a:lnTo>
                    <a:pt x="0" y="322566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250304" cy="32732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flipH="1">
            <a:off x="14634168" y="7532431"/>
            <a:ext cx="5565196" cy="4047415"/>
          </a:xfrm>
          <a:custGeom>
            <a:avLst/>
            <a:gdLst/>
            <a:ahLst/>
            <a:cxnLst/>
            <a:rect l="l" t="t" r="r" b="b"/>
            <a:pathLst>
              <a:path w="5565196" h="4047415">
                <a:moveTo>
                  <a:pt x="5565195" y="0"/>
                </a:moveTo>
                <a:lnTo>
                  <a:pt x="0" y="0"/>
                </a:lnTo>
                <a:lnTo>
                  <a:pt x="0" y="4047415"/>
                </a:lnTo>
                <a:lnTo>
                  <a:pt x="5565195" y="4047415"/>
                </a:lnTo>
                <a:lnTo>
                  <a:pt x="556519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804885" y="188801"/>
            <a:ext cx="11843995" cy="2430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764"/>
              </a:lnSpc>
              <a:spcBef>
                <a:spcPct val="0"/>
              </a:spcBef>
            </a:pPr>
            <a:r>
              <a:rPr lang="en-US" sz="6974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Paradigma Social-Cognitivistă</a:t>
            </a:r>
          </a:p>
        </p:txBody>
      </p:sp>
      <p:sp>
        <p:nvSpPr>
          <p:cNvPr id="8" name="Freeform 8"/>
          <p:cNvSpPr/>
          <p:nvPr/>
        </p:nvSpPr>
        <p:spPr>
          <a:xfrm flipH="1">
            <a:off x="-143781" y="7180716"/>
            <a:ext cx="3190321" cy="3316969"/>
          </a:xfrm>
          <a:custGeom>
            <a:avLst/>
            <a:gdLst/>
            <a:ahLst/>
            <a:cxnLst/>
            <a:rect l="l" t="t" r="r" b="b"/>
            <a:pathLst>
              <a:path w="3190321" h="3316969">
                <a:moveTo>
                  <a:pt x="3190320" y="0"/>
                </a:moveTo>
                <a:lnTo>
                  <a:pt x="0" y="0"/>
                </a:lnTo>
                <a:lnTo>
                  <a:pt x="0" y="3316968"/>
                </a:lnTo>
                <a:lnTo>
                  <a:pt x="3190320" y="3316968"/>
                </a:lnTo>
                <a:lnTo>
                  <a:pt x="319032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479710" y="3247669"/>
            <a:ext cx="11154457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Social-Cognitismul lui Bandura și Mischel: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494423" y="7780791"/>
            <a:ext cx="11154457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Ce părăre aveți legată de această paradigmă?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566771" y="8890000"/>
            <a:ext cx="11154457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Credeți că este de ajuns?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479710" y="4515337"/>
            <a:ext cx="11154457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Ce este personalitatea unei persoane?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566771" y="5785337"/>
            <a:ext cx="11154457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Ce teste utilizăm?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57225" cap="sq">
              <a:solidFill>
                <a:srgbClr val="1E3F48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81659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3322778" y="1952727"/>
            <a:ext cx="11643159" cy="6810683"/>
          </a:xfrm>
          <a:custGeom>
            <a:avLst/>
            <a:gdLst/>
            <a:ahLst/>
            <a:cxnLst/>
            <a:rect l="l" t="t" r="r" b="b"/>
            <a:pathLst>
              <a:path w="11643159" h="6810683">
                <a:moveTo>
                  <a:pt x="0" y="0"/>
                </a:moveTo>
                <a:lnTo>
                  <a:pt x="11643159" y="0"/>
                </a:lnTo>
                <a:lnTo>
                  <a:pt x="11643159" y="6810683"/>
                </a:lnTo>
                <a:lnTo>
                  <a:pt x="0" y="68106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322778" y="723204"/>
            <a:ext cx="11642444" cy="1086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865"/>
              </a:lnSpc>
              <a:spcBef>
                <a:spcPct val="0"/>
              </a:spcBef>
            </a:pPr>
            <a:r>
              <a:rPr lang="en-US" sz="6332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Bandura - Păpușa Bobo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037625" y="1469321"/>
            <a:ext cx="14540553" cy="8411271"/>
            <a:chOff x="0" y="0"/>
            <a:chExt cx="3829611" cy="221531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829611" cy="2215314"/>
            </a:xfrm>
            <a:custGeom>
              <a:avLst/>
              <a:gdLst/>
              <a:ahLst/>
              <a:cxnLst/>
              <a:rect l="l" t="t" r="r" b="b"/>
              <a:pathLst>
                <a:path w="3829611" h="2215314">
                  <a:moveTo>
                    <a:pt x="5857" y="0"/>
                  </a:moveTo>
                  <a:lnTo>
                    <a:pt x="3823754" y="0"/>
                  </a:lnTo>
                  <a:cubicBezTo>
                    <a:pt x="3825307" y="0"/>
                    <a:pt x="3826797" y="617"/>
                    <a:pt x="3827895" y="1715"/>
                  </a:cubicBezTo>
                  <a:cubicBezTo>
                    <a:pt x="3828994" y="2814"/>
                    <a:pt x="3829611" y="4303"/>
                    <a:pt x="3829611" y="5857"/>
                  </a:cubicBezTo>
                  <a:lnTo>
                    <a:pt x="3829611" y="2209457"/>
                  </a:lnTo>
                  <a:cubicBezTo>
                    <a:pt x="3829611" y="2212692"/>
                    <a:pt x="3826988" y="2215314"/>
                    <a:pt x="3823754" y="2215314"/>
                  </a:cubicBezTo>
                  <a:lnTo>
                    <a:pt x="5857" y="2215314"/>
                  </a:lnTo>
                  <a:cubicBezTo>
                    <a:pt x="2622" y="2215314"/>
                    <a:pt x="0" y="2212692"/>
                    <a:pt x="0" y="2209457"/>
                  </a:cubicBezTo>
                  <a:lnTo>
                    <a:pt x="0" y="5857"/>
                  </a:lnTo>
                  <a:cubicBezTo>
                    <a:pt x="0" y="2622"/>
                    <a:pt x="2622" y="0"/>
                    <a:pt x="5857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829611" cy="22629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389721" y="7402642"/>
            <a:ext cx="1855658" cy="1855658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3746354" y="7773815"/>
            <a:ext cx="1142391" cy="1113312"/>
          </a:xfrm>
          <a:custGeom>
            <a:avLst/>
            <a:gdLst/>
            <a:ahLst/>
            <a:cxnLst/>
            <a:rect l="l" t="t" r="r" b="b"/>
            <a:pathLst>
              <a:path w="1142391" h="1113312">
                <a:moveTo>
                  <a:pt x="0" y="0"/>
                </a:moveTo>
                <a:lnTo>
                  <a:pt x="1142392" y="0"/>
                </a:lnTo>
                <a:lnTo>
                  <a:pt x="1142392" y="1113312"/>
                </a:lnTo>
                <a:lnTo>
                  <a:pt x="0" y="11133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6575510" y="7402642"/>
            <a:ext cx="1855658" cy="1855658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61506" y="7402642"/>
            <a:ext cx="1855658" cy="1855658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750638" y="7402642"/>
            <a:ext cx="1855658" cy="1855658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6978404" y="7701379"/>
            <a:ext cx="1177785" cy="1346740"/>
          </a:xfrm>
          <a:custGeom>
            <a:avLst/>
            <a:gdLst/>
            <a:ahLst/>
            <a:cxnLst/>
            <a:rect l="l" t="t" r="r" b="b"/>
            <a:pathLst>
              <a:path w="1177785" h="1346740">
                <a:moveTo>
                  <a:pt x="0" y="0"/>
                </a:moveTo>
                <a:lnTo>
                  <a:pt x="1177786" y="0"/>
                </a:lnTo>
                <a:lnTo>
                  <a:pt x="1177786" y="1346740"/>
                </a:lnTo>
                <a:lnTo>
                  <a:pt x="0" y="13467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0253399" y="7758824"/>
            <a:ext cx="871871" cy="1128304"/>
          </a:xfrm>
          <a:custGeom>
            <a:avLst/>
            <a:gdLst/>
            <a:ahLst/>
            <a:cxnLst/>
            <a:rect l="l" t="t" r="r" b="b"/>
            <a:pathLst>
              <a:path w="871871" h="1128304">
                <a:moveTo>
                  <a:pt x="0" y="0"/>
                </a:moveTo>
                <a:lnTo>
                  <a:pt x="871871" y="0"/>
                </a:lnTo>
                <a:lnTo>
                  <a:pt x="871871" y="1128303"/>
                </a:lnTo>
                <a:lnTo>
                  <a:pt x="0" y="112830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3188788" y="7657101"/>
            <a:ext cx="996588" cy="1346740"/>
          </a:xfrm>
          <a:custGeom>
            <a:avLst/>
            <a:gdLst/>
            <a:ahLst/>
            <a:cxnLst/>
            <a:rect l="l" t="t" r="r" b="b"/>
            <a:pathLst>
              <a:path w="996588" h="1346740">
                <a:moveTo>
                  <a:pt x="0" y="0"/>
                </a:moveTo>
                <a:lnTo>
                  <a:pt x="996588" y="0"/>
                </a:lnTo>
                <a:lnTo>
                  <a:pt x="996588" y="1346740"/>
                </a:lnTo>
                <a:lnTo>
                  <a:pt x="0" y="134674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4762897" y="1527166"/>
            <a:ext cx="8762207" cy="1086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865"/>
              </a:lnSpc>
              <a:spcBef>
                <a:spcPct val="0"/>
              </a:spcBef>
            </a:pPr>
            <a:r>
              <a:rPr lang="en-US" sz="6332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Activitate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790040" y="2565080"/>
            <a:ext cx="13035722" cy="4787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92"/>
              </a:lnSpc>
            </a:pPr>
            <a:r>
              <a:rPr lang="en-US" sz="5423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În</a:t>
            </a:r>
            <a:r>
              <a:rPr lang="en-US" sz="5423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5423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grupe</a:t>
            </a:r>
            <a:r>
              <a:rPr lang="en-US" sz="5423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de </a:t>
            </a:r>
            <a:r>
              <a:rPr lang="en-US" sz="5423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câte</a:t>
            </a:r>
            <a:r>
              <a:rPr lang="en-US" sz="5423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4 </a:t>
            </a:r>
            <a:r>
              <a:rPr lang="en-US" sz="5423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persoane</a:t>
            </a:r>
            <a:r>
              <a:rPr lang="en-US" sz="5423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5423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răspundeți</a:t>
            </a:r>
            <a:r>
              <a:rPr lang="en-US" sz="5423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la </a:t>
            </a:r>
            <a:r>
              <a:rPr lang="en-US" sz="5423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următoarele</a:t>
            </a:r>
            <a:r>
              <a:rPr lang="en-US" sz="5423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5423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întrebări</a:t>
            </a:r>
            <a:r>
              <a:rPr lang="en-US" sz="5423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:</a:t>
            </a:r>
          </a:p>
          <a:p>
            <a:pPr algn="ctr">
              <a:lnSpc>
                <a:spcPts val="7592"/>
              </a:lnSpc>
            </a:pPr>
            <a:r>
              <a:rPr lang="en-US" sz="5423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Ce </a:t>
            </a:r>
            <a:r>
              <a:rPr lang="en-US" sz="5423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părăre</a:t>
            </a:r>
            <a:r>
              <a:rPr lang="en-US" sz="5423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5423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aveți</a:t>
            </a:r>
            <a:r>
              <a:rPr lang="en-US" sz="5423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5423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legată</a:t>
            </a:r>
            <a:r>
              <a:rPr lang="en-US" sz="5423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de </a:t>
            </a:r>
            <a:r>
              <a:rPr lang="en-US" sz="5423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această</a:t>
            </a:r>
            <a:r>
              <a:rPr lang="en-US" sz="5423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5423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paradigmă</a:t>
            </a:r>
            <a:r>
              <a:rPr lang="en-US" sz="5423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?</a:t>
            </a:r>
            <a:endParaRPr lang="ro-RO" sz="5423" dirty="0">
              <a:solidFill>
                <a:srgbClr val="01070A"/>
              </a:solidFill>
              <a:latin typeface="Dosis"/>
              <a:ea typeface="Dosis"/>
              <a:cs typeface="Dosis"/>
              <a:sym typeface="Dosis"/>
            </a:endParaRPr>
          </a:p>
          <a:p>
            <a:pPr algn="ctr">
              <a:lnSpc>
                <a:spcPts val="7592"/>
              </a:lnSpc>
            </a:pPr>
            <a:r>
              <a:rPr lang="ro-RO" sz="5423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În ce domenii/situații ar fi utilă?</a:t>
            </a:r>
            <a:r>
              <a:rPr lang="en-US" sz="5423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</a:p>
          <a:p>
            <a:pPr algn="ctr">
              <a:lnSpc>
                <a:spcPts val="7592"/>
              </a:lnSpc>
            </a:pPr>
            <a:r>
              <a:rPr lang="en-US" sz="5423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Ce </a:t>
            </a:r>
            <a:r>
              <a:rPr lang="en-US" sz="5423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ați</a:t>
            </a:r>
            <a:r>
              <a:rPr lang="en-US" sz="5423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5423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modifica</a:t>
            </a:r>
            <a:r>
              <a:rPr lang="en-US" sz="5423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904CC3ACF4D0747AA1FE12D19DCF021" ma:contentTypeVersion="3" ma:contentTypeDescription="Create a new document." ma:contentTypeScope="" ma:versionID="37c534766e0945d81383089c26a8d6cf">
  <xsd:schema xmlns:xsd="http://www.w3.org/2001/XMLSchema" xmlns:xs="http://www.w3.org/2001/XMLSchema" xmlns:p="http://schemas.microsoft.com/office/2006/metadata/properties" xmlns:ns2="fa0e77c9-1a0d-4ee8-b1f5-4ac48c790630" targetNamespace="http://schemas.microsoft.com/office/2006/metadata/properties" ma:root="true" ma:fieldsID="86664ca69a0e95804161efb34fc7a474" ns2:_="">
    <xsd:import namespace="fa0e77c9-1a0d-4ee8-b1f5-4ac48c79063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0e77c9-1a0d-4ee8-b1f5-4ac48c7906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9BA129F-5A9E-4577-992F-292D21AD75F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805ECE1-04FD-4BD0-A8F7-C6F9588C3B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0e77c9-1a0d-4ee8-b1f5-4ac48c79063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E2CB0D4-917B-4E5A-80EC-4366AFD31475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223</Words>
  <Application>Microsoft Office PowerPoint</Application>
  <PresentationFormat>Custom</PresentationFormat>
  <Paragraphs>43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Seminar 2 Paradigme în Psihologie</dc:title>
  <cp:lastModifiedBy>Mihai Mihes</cp:lastModifiedBy>
  <cp:revision>6</cp:revision>
  <dcterms:created xsi:type="dcterms:W3CDTF">2006-08-16T00:00:00Z</dcterms:created>
  <dcterms:modified xsi:type="dcterms:W3CDTF">2026-01-30T00:04:32Z</dcterms:modified>
  <dc:identifier>DAG12HMPL28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0x0101008904CC3ACF4D0747AA1FE12D19DCF021</vt:lpwstr>
  </property>
</Properties>
</file>