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5" r:id="rId9"/>
    <p:sldId id="264" r:id="rId10"/>
  </p:sldIdLst>
  <p:sldSz cx="18288000" cy="10287000"/>
  <p:notesSz cx="6858000" cy="9144000"/>
  <p:embeddedFontLst>
    <p:embeddedFont>
      <p:font typeface="Carelia" panose="020B0604020202020204" charset="0"/>
      <p:regular r:id="rId12"/>
    </p:embeddedFont>
    <p:embeddedFont>
      <p:font typeface="Dosis" pitchFamily="2" charset="0"/>
      <p:regular r:id="rId13"/>
      <p:bold r:id="rId14"/>
    </p:embeddedFont>
    <p:embeddedFont>
      <p:font typeface="Dosis Bold" charset="0"/>
      <p:regular r:id="rId15"/>
    </p:embeddedFont>
    <p:embeddedFont>
      <p:font typeface="Open Sans" panose="020B0606030504020204" pitchFamily="34" charset="0"/>
      <p:regular r:id="rId16"/>
      <p:bold r:id="rId17"/>
      <p:italic r:id="rId18"/>
      <p:boldItalic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Stil mediu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754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customXml" Target="../customXml/item3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customXml" Target="../customXml/item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AAA7B6-C137-4DEF-A04A-BD948EAB909E}" type="datetimeFigureOut">
              <a:rPr lang="en-GB" smtClean="0"/>
              <a:t>21/11/2025</a:t>
            </a:fld>
            <a:endParaRPr lang="en-GB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o-RO"/>
              <a:t>Faceţi clic pentru a edita Master stiluri text</a:t>
            </a:r>
          </a:p>
          <a:p>
            <a:pPr lvl="1"/>
            <a:r>
              <a:rPr lang="ro-RO"/>
              <a:t>al doilea nivel</a:t>
            </a:r>
          </a:p>
          <a:p>
            <a:pPr lvl="2"/>
            <a:r>
              <a:rPr lang="ro-RO"/>
              <a:t>al treilea nivel</a:t>
            </a:r>
          </a:p>
          <a:p>
            <a:pPr lvl="3"/>
            <a:r>
              <a:rPr lang="ro-RO"/>
              <a:t>al patrulea nivel</a:t>
            </a:r>
          </a:p>
          <a:p>
            <a:pPr lvl="4"/>
            <a:r>
              <a:rPr lang="ro-RO"/>
              <a:t>al cincilea nivel</a:t>
            </a:r>
            <a:endParaRPr lang="en-GB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86155-F8BA-46AB-B51F-6AC899D49AF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9650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ts val="7000"/>
              </a:lnSpc>
            </a:pP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Joc de rol</a:t>
            </a:r>
            <a:b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La ședința cu părinții după un test greu</a:t>
            </a:r>
            <a:b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-profesor (Asertiv) </a:t>
            </a:r>
            <a:b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-părinte (Agresiv)</a:t>
            </a:r>
          </a:p>
          <a:p>
            <a:pPr algn="ctr">
              <a:lnSpc>
                <a:spcPts val="7000"/>
              </a:lnSpc>
            </a:pP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-copil (Pasiv-Agresiv) (către părinte)</a:t>
            </a:r>
            <a:endParaRPr lang="en-US" sz="12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endParaRPr lang="en-GB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86155-F8BA-46AB-B51F-6AC899D49AFF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561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lnSpc>
                <a:spcPts val="7000"/>
              </a:lnSpc>
            </a:pP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Joc de rol</a:t>
            </a:r>
            <a:b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după un test greu când primesc rezultatele</a:t>
            </a:r>
          </a:p>
          <a:p>
            <a:pPr algn="ctr">
              <a:lnSpc>
                <a:spcPts val="7000"/>
              </a:lnSpc>
            </a:pP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Elevul a luat 7 dar merita 9</a:t>
            </a:r>
            <a:b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-profesor (Agresiv)</a:t>
            </a:r>
            <a:b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</a:b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profesorul nu cedează nici cum </a:t>
            </a:r>
          </a:p>
          <a:p>
            <a:pPr algn="ctr">
              <a:lnSpc>
                <a:spcPts val="7000"/>
              </a:lnSpc>
            </a:pPr>
            <a:r>
              <a:rPr lang="ro-RO" sz="12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-copil (Asertiv)</a:t>
            </a:r>
            <a:endParaRPr lang="en-US" sz="12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endParaRPr lang="en-GB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486155-F8BA-46AB-B51F-6AC899D49AFF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699960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svg"/><Relationship Id="rId4" Type="http://schemas.openxmlformats.org/officeDocument/2006/relationships/image" Target="../media/image3.sv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png"/><Relationship Id="rId4" Type="http://schemas.openxmlformats.org/officeDocument/2006/relationships/image" Target="../media/image1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svg"/><Relationship Id="rId5" Type="http://schemas.openxmlformats.org/officeDocument/2006/relationships/image" Target="../media/image17.png"/><Relationship Id="rId4" Type="http://schemas.openxmlformats.org/officeDocument/2006/relationships/image" Target="../media/image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3" Type="http://schemas.openxmlformats.org/officeDocument/2006/relationships/image" Target="../media/image23.jpeg"/><Relationship Id="rId7" Type="http://schemas.openxmlformats.org/officeDocument/2006/relationships/image" Target="../media/image27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5" Type="http://schemas.openxmlformats.org/officeDocument/2006/relationships/image" Target="../media/image25.jpeg"/><Relationship Id="rId4" Type="http://schemas.openxmlformats.org/officeDocument/2006/relationships/image" Target="../media/image24.jpeg"/><Relationship Id="rId9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31.sv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6.png"/><Relationship Id="rId11" Type="http://schemas.openxmlformats.org/officeDocument/2006/relationships/image" Target="../media/image41.svg"/><Relationship Id="rId5" Type="http://schemas.openxmlformats.org/officeDocument/2006/relationships/image" Target="../media/image35.sv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663033" y="6195861"/>
            <a:ext cx="6914093" cy="5028432"/>
          </a:xfrm>
          <a:custGeom>
            <a:avLst/>
            <a:gdLst/>
            <a:ahLst/>
            <a:cxnLst/>
            <a:rect l="l" t="t" r="r" b="b"/>
            <a:pathLst>
              <a:path w="6914093" h="5028432">
                <a:moveTo>
                  <a:pt x="0" y="0"/>
                </a:moveTo>
                <a:lnTo>
                  <a:pt x="6914093" y="0"/>
                </a:lnTo>
                <a:lnTo>
                  <a:pt x="6914093" y="5028431"/>
                </a:lnTo>
                <a:lnTo>
                  <a:pt x="0" y="50284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3661979" y="4153649"/>
            <a:ext cx="11835175" cy="1979702"/>
          </a:xfrm>
          <a:custGeom>
            <a:avLst/>
            <a:gdLst/>
            <a:ahLst/>
            <a:cxnLst/>
            <a:rect l="l" t="t" r="r" b="b"/>
            <a:pathLst>
              <a:path w="11835175" h="1979702">
                <a:moveTo>
                  <a:pt x="0" y="0"/>
                </a:moveTo>
                <a:lnTo>
                  <a:pt x="11835175" y="0"/>
                </a:lnTo>
                <a:lnTo>
                  <a:pt x="11835175" y="1979702"/>
                </a:lnTo>
                <a:lnTo>
                  <a:pt x="0" y="197970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3269859" y="4010058"/>
            <a:ext cx="12212547" cy="1038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Seminar </a:t>
            </a: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Psihologia</a:t>
            </a:r>
            <a:r>
              <a:rPr lang="en-US" sz="6000" dirty="0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 </a:t>
            </a: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Educației</a:t>
            </a:r>
            <a:endParaRPr lang="en-US" sz="6000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2456379" y="5404911"/>
            <a:ext cx="8246933" cy="6247677"/>
          </a:xfrm>
          <a:custGeom>
            <a:avLst/>
            <a:gdLst/>
            <a:ahLst/>
            <a:cxnLst/>
            <a:rect l="l" t="t" r="r" b="b"/>
            <a:pathLst>
              <a:path w="8246933" h="6247677">
                <a:moveTo>
                  <a:pt x="0" y="0"/>
                </a:moveTo>
                <a:lnTo>
                  <a:pt x="8246933" y="0"/>
                </a:lnTo>
                <a:lnTo>
                  <a:pt x="8246933" y="6247677"/>
                </a:lnTo>
                <a:lnTo>
                  <a:pt x="0" y="624767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308980" y="-1652824"/>
            <a:ext cx="8905028" cy="5575060"/>
          </a:xfrm>
          <a:custGeom>
            <a:avLst/>
            <a:gdLst/>
            <a:ahLst/>
            <a:cxnLst/>
            <a:rect l="l" t="t" r="r" b="b"/>
            <a:pathLst>
              <a:path w="8905028" h="5575060">
                <a:moveTo>
                  <a:pt x="0" y="0"/>
                </a:moveTo>
                <a:lnTo>
                  <a:pt x="8905029" y="0"/>
                </a:lnTo>
                <a:lnTo>
                  <a:pt x="8905029" y="5575060"/>
                </a:lnTo>
                <a:lnTo>
                  <a:pt x="0" y="557506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 rot="-3495846">
            <a:off x="-3929800" y="-2685694"/>
            <a:ext cx="5243739" cy="7338566"/>
          </a:xfrm>
          <a:custGeom>
            <a:avLst/>
            <a:gdLst/>
            <a:ahLst/>
            <a:cxnLst/>
            <a:rect l="l" t="t" r="r" b="b"/>
            <a:pathLst>
              <a:path w="5243739" h="7338566">
                <a:moveTo>
                  <a:pt x="0" y="0"/>
                </a:moveTo>
                <a:lnTo>
                  <a:pt x="5243739" y="0"/>
                </a:lnTo>
                <a:lnTo>
                  <a:pt x="5243739" y="7338565"/>
                </a:lnTo>
                <a:lnTo>
                  <a:pt x="0" y="7338565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5523248" y="8452549"/>
            <a:ext cx="6639489" cy="1261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32"/>
              </a:lnSpc>
            </a:pPr>
            <a:r>
              <a:rPr lang="en-US" sz="3594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Drd</a:t>
            </a: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. </a:t>
            </a:r>
            <a:r>
              <a:rPr lang="en-US" sz="3594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Miheș</a:t>
            </a: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Mihai</a:t>
            </a:r>
          </a:p>
          <a:p>
            <a:pPr algn="ctr">
              <a:lnSpc>
                <a:spcPts val="5032"/>
              </a:lnSpc>
            </a:pPr>
            <a:r>
              <a:rPr lang="en-US" sz="3594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mihaimihes@psychology.ro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51124" y="5213860"/>
            <a:ext cx="10850017" cy="10772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400"/>
              </a:lnSpc>
            </a:pPr>
            <a:r>
              <a:rPr lang="en-US" sz="6000" dirty="0" err="1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Comunicarea</a:t>
            </a:r>
            <a:endParaRPr lang="en-US" sz="6000" dirty="0">
              <a:solidFill>
                <a:srgbClr val="01070A"/>
              </a:solidFill>
              <a:latin typeface="Carelia"/>
              <a:ea typeface="Carelia"/>
              <a:cs typeface="Carelia"/>
              <a:sym typeface="Carel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 rot="93123">
            <a:off x="2334082" y="1502643"/>
            <a:ext cx="13282536" cy="8200329"/>
            <a:chOff x="0" y="0"/>
            <a:chExt cx="4072257" cy="251411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072257" cy="2514117"/>
            </a:xfrm>
            <a:custGeom>
              <a:avLst/>
              <a:gdLst/>
              <a:ahLst/>
              <a:cxnLst/>
              <a:rect l="l" t="t" r="r" b="b"/>
              <a:pathLst>
                <a:path w="4072257" h="2514117">
                  <a:moveTo>
                    <a:pt x="15154" y="0"/>
                  </a:moveTo>
                  <a:lnTo>
                    <a:pt x="4057102" y="0"/>
                  </a:lnTo>
                  <a:cubicBezTo>
                    <a:pt x="4065472" y="0"/>
                    <a:pt x="4072257" y="6785"/>
                    <a:pt x="4072257" y="15154"/>
                  </a:cubicBezTo>
                  <a:lnTo>
                    <a:pt x="4072257" y="2498962"/>
                  </a:lnTo>
                  <a:cubicBezTo>
                    <a:pt x="4072257" y="2507332"/>
                    <a:pt x="4065472" y="2514117"/>
                    <a:pt x="4057102" y="2514117"/>
                  </a:cubicBezTo>
                  <a:lnTo>
                    <a:pt x="15154" y="2514117"/>
                  </a:lnTo>
                  <a:cubicBezTo>
                    <a:pt x="6785" y="2514117"/>
                    <a:pt x="0" y="2507332"/>
                    <a:pt x="0" y="2498962"/>
                  </a:cubicBezTo>
                  <a:lnTo>
                    <a:pt x="0" y="15154"/>
                  </a:lnTo>
                  <a:cubicBezTo>
                    <a:pt x="0" y="6785"/>
                    <a:pt x="6785" y="0"/>
                    <a:pt x="15154" y="0"/>
                  </a:cubicBezTo>
                  <a:close/>
                </a:path>
              </a:pathLst>
            </a:custGeom>
            <a:solidFill>
              <a:srgbClr val="000000">
                <a:alpha val="31765"/>
              </a:srgbClr>
            </a:solidFill>
            <a:ln cap="rnd">
              <a:noFill/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072257" cy="256174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3210"/>
                </a:lnSpc>
                <a:spcBef>
                  <a:spcPct val="0"/>
                </a:spcBef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453363" y="834362"/>
            <a:ext cx="13704909" cy="8697591"/>
            <a:chOff x="0" y="0"/>
            <a:chExt cx="4201751" cy="2666571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201751" cy="2666571"/>
            </a:xfrm>
            <a:custGeom>
              <a:avLst/>
              <a:gdLst/>
              <a:ahLst/>
              <a:cxnLst/>
              <a:rect l="l" t="t" r="r" b="b"/>
              <a:pathLst>
                <a:path w="4201751" h="2666571">
                  <a:moveTo>
                    <a:pt x="6214" y="0"/>
                  </a:moveTo>
                  <a:lnTo>
                    <a:pt x="4195537" y="0"/>
                  </a:lnTo>
                  <a:cubicBezTo>
                    <a:pt x="4198969" y="0"/>
                    <a:pt x="4201751" y="2782"/>
                    <a:pt x="4201751" y="6214"/>
                  </a:cubicBezTo>
                  <a:lnTo>
                    <a:pt x="4201751" y="2660357"/>
                  </a:lnTo>
                  <a:cubicBezTo>
                    <a:pt x="4201751" y="2663789"/>
                    <a:pt x="4198969" y="2666571"/>
                    <a:pt x="4195537" y="2666571"/>
                  </a:cubicBezTo>
                  <a:lnTo>
                    <a:pt x="6214" y="2666571"/>
                  </a:lnTo>
                  <a:cubicBezTo>
                    <a:pt x="2782" y="2666571"/>
                    <a:pt x="0" y="2663789"/>
                    <a:pt x="0" y="2660357"/>
                  </a:cubicBezTo>
                  <a:lnTo>
                    <a:pt x="0" y="6214"/>
                  </a:lnTo>
                  <a:cubicBezTo>
                    <a:pt x="0" y="2782"/>
                    <a:pt x="2782" y="0"/>
                    <a:pt x="6214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201751" cy="271419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1453363" y="239562"/>
            <a:ext cx="1239167" cy="1189600"/>
          </a:xfrm>
          <a:custGeom>
            <a:avLst/>
            <a:gdLst/>
            <a:ahLst/>
            <a:cxnLst/>
            <a:rect l="l" t="t" r="r" b="b"/>
            <a:pathLst>
              <a:path w="1239167" h="1189600">
                <a:moveTo>
                  <a:pt x="0" y="0"/>
                </a:moveTo>
                <a:lnTo>
                  <a:pt x="1239167" y="0"/>
                </a:lnTo>
                <a:lnTo>
                  <a:pt x="1239167" y="1189600"/>
                </a:lnTo>
                <a:lnTo>
                  <a:pt x="0" y="118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 rot="-117286">
            <a:off x="13354872" y="898349"/>
            <a:ext cx="3828638" cy="4509103"/>
          </a:xfrm>
          <a:custGeom>
            <a:avLst/>
            <a:gdLst/>
            <a:ahLst/>
            <a:cxnLst/>
            <a:rect l="l" t="t" r="r" b="b"/>
            <a:pathLst>
              <a:path w="3828638" h="4509103">
                <a:moveTo>
                  <a:pt x="0" y="0"/>
                </a:moveTo>
                <a:lnTo>
                  <a:pt x="3828638" y="0"/>
                </a:lnTo>
                <a:lnTo>
                  <a:pt x="3828638" y="4509103"/>
                </a:lnTo>
                <a:lnTo>
                  <a:pt x="0" y="45091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87609" y="3979798"/>
            <a:ext cx="9836417" cy="3246018"/>
          </a:xfrm>
          <a:custGeom>
            <a:avLst/>
            <a:gdLst/>
            <a:ahLst/>
            <a:cxnLst/>
            <a:rect l="l" t="t" r="r" b="b"/>
            <a:pathLst>
              <a:path w="9836417" h="3246018">
                <a:moveTo>
                  <a:pt x="0" y="0"/>
                </a:moveTo>
                <a:lnTo>
                  <a:pt x="9836417" y="0"/>
                </a:lnTo>
                <a:lnTo>
                  <a:pt x="9836417" y="3246018"/>
                </a:lnTo>
                <a:lnTo>
                  <a:pt x="0" y="3246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3464631" y="1200442"/>
            <a:ext cx="8894674" cy="2210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Comunicarea și procesul comunicării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3758817" y="7410099"/>
            <a:ext cx="5989198" cy="1374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Emiterea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mesajului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863599" lvl="1" indent="-431800" algn="l">
              <a:lnSpc>
                <a:spcPts val="5599"/>
              </a:lnSpc>
              <a:buFont typeface="Arial"/>
              <a:buChar char="•"/>
            </a:pP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Receptarea</a:t>
            </a:r>
            <a:r>
              <a:rPr lang="en-US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99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mesajului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8AD263-51F0-0E79-7ADA-B5DC87F7ABD6}"/>
              </a:ext>
            </a:extLst>
          </p:cNvPr>
          <p:cNvSpPr txBox="1"/>
          <p:nvPr/>
        </p:nvSpPr>
        <p:spPr>
          <a:xfrm>
            <a:off x="10861826" y="7770473"/>
            <a:ext cx="2362200" cy="654025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65100" prst="coolSlant"/>
          </a:sp3d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31799" lvl="1">
              <a:lnSpc>
                <a:spcPts val="5599"/>
              </a:lnSpc>
            </a:pPr>
            <a:r>
              <a:rPr lang="ro-RO" sz="399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Mediul!!!</a:t>
            </a:r>
            <a:endParaRPr lang="en-US" sz="399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4052" y="143384"/>
            <a:ext cx="9822908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Emiterea mesajului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4160041" y="1693745"/>
            <a:ext cx="9967919" cy="669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Ce factori pot influența emiterea mesajului?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939041" y="2971800"/>
            <a:ext cx="9967919" cy="4321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Abilitățile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comunicare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Dispoziția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celui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care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emite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mesajul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Dispoziția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celui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care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primește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mesajul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Experiențele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anterioare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Comportamentul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non-verbal</a:t>
            </a: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Mediul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/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contextul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Flexibilitate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emiterea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mesajului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804885" y="-667606"/>
            <a:ext cx="12340996" cy="12247451"/>
            <a:chOff x="0" y="0"/>
            <a:chExt cx="3250304" cy="32256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250304" cy="3225666"/>
            </a:xfrm>
            <a:custGeom>
              <a:avLst/>
              <a:gdLst/>
              <a:ahLst/>
              <a:cxnLst/>
              <a:rect l="l" t="t" r="r" b="b"/>
              <a:pathLst>
                <a:path w="3250304" h="3225666">
                  <a:moveTo>
                    <a:pt x="0" y="0"/>
                  </a:moveTo>
                  <a:lnTo>
                    <a:pt x="3250304" y="0"/>
                  </a:lnTo>
                  <a:lnTo>
                    <a:pt x="3250304" y="3225666"/>
                  </a:lnTo>
                  <a:lnTo>
                    <a:pt x="0" y="3225666"/>
                  </a:ln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250304" cy="32732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 flipH="1">
            <a:off x="14634168" y="7532431"/>
            <a:ext cx="5565196" cy="4047415"/>
          </a:xfrm>
          <a:custGeom>
            <a:avLst/>
            <a:gdLst/>
            <a:ahLst/>
            <a:cxnLst/>
            <a:rect l="l" t="t" r="r" b="b"/>
            <a:pathLst>
              <a:path w="5565196" h="4047415">
                <a:moveTo>
                  <a:pt x="5565195" y="0"/>
                </a:moveTo>
                <a:lnTo>
                  <a:pt x="0" y="0"/>
                </a:lnTo>
                <a:lnTo>
                  <a:pt x="0" y="4047415"/>
                </a:lnTo>
                <a:lnTo>
                  <a:pt x="5565195" y="4047415"/>
                </a:lnTo>
                <a:lnTo>
                  <a:pt x="556519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84052" y="143384"/>
            <a:ext cx="9822908" cy="11934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764"/>
              </a:lnSpc>
              <a:spcBef>
                <a:spcPct val="0"/>
              </a:spcBef>
            </a:pPr>
            <a:r>
              <a:rPr lang="en-US" sz="6974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Receptarea mesajului</a:t>
            </a:r>
          </a:p>
        </p:txBody>
      </p:sp>
      <p:sp>
        <p:nvSpPr>
          <p:cNvPr id="8" name="Freeform 8"/>
          <p:cNvSpPr/>
          <p:nvPr/>
        </p:nvSpPr>
        <p:spPr>
          <a:xfrm flipH="1">
            <a:off x="-143781" y="7180716"/>
            <a:ext cx="3190321" cy="3316969"/>
          </a:xfrm>
          <a:custGeom>
            <a:avLst/>
            <a:gdLst/>
            <a:ahLst/>
            <a:cxnLst/>
            <a:rect l="l" t="t" r="r" b="b"/>
            <a:pathLst>
              <a:path w="3190321" h="3316969">
                <a:moveTo>
                  <a:pt x="3190320" y="0"/>
                </a:moveTo>
                <a:lnTo>
                  <a:pt x="0" y="0"/>
                </a:lnTo>
                <a:lnTo>
                  <a:pt x="0" y="3316968"/>
                </a:lnTo>
                <a:lnTo>
                  <a:pt x="3190320" y="3316968"/>
                </a:lnTo>
                <a:lnTo>
                  <a:pt x="319032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945835" y="1466656"/>
            <a:ext cx="12099342" cy="2079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b="1">
                <a:solidFill>
                  <a:srgbClr val="01070A"/>
                </a:solidFill>
                <a:latin typeface="Dosis Bold"/>
                <a:ea typeface="Dosis Bold"/>
                <a:cs typeface="Dosis Bold"/>
                <a:sym typeface="Dosis Bold"/>
              </a:rPr>
              <a:t>Ce elemente fac ca mesajul să fie receptat într-un mod optim? </a:t>
            </a:r>
          </a:p>
          <a:p>
            <a:pPr algn="l">
              <a:lnSpc>
                <a:spcPts val="5599"/>
              </a:lnSpc>
            </a:pPr>
            <a:endParaRPr lang="en-US" sz="3999" b="1">
              <a:solidFill>
                <a:srgbClr val="01070A"/>
              </a:solidFill>
              <a:latin typeface="Dosis Bold"/>
              <a:ea typeface="Dosis Bold"/>
              <a:cs typeface="Dosis Bold"/>
              <a:sym typeface="Dosis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3739041" y="3470082"/>
            <a:ext cx="10512931" cy="61785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Stabilirea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unui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contact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vizual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corespunzător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cu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interlocutorul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Folosirea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unui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răspuns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minimal care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încurajează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comunicarea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Concentrarea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atenției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pe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spune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emițătorul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Evitarea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interpretării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mesajului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judecării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conținutului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sau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însuși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emițătorului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Adresarea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întrebărilor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marL="755651" lvl="1" indent="-377825" algn="l">
              <a:lnSpc>
                <a:spcPts val="4900"/>
              </a:lnSpc>
              <a:buFont typeface="Arial"/>
              <a:buChar char="•"/>
            </a:pP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Evitarea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sfaturilor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necerute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întreruperii</a:t>
            </a:r>
            <a:r>
              <a:rPr lang="en-US" sz="35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35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interlocutorului</a:t>
            </a:r>
            <a:endParaRPr lang="en-US" sz="35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0" y="0"/>
            <a:ext cx="18288000" cy="10287000"/>
            <a:chOff x="0" y="0"/>
            <a:chExt cx="4816593" cy="270933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816592" cy="2709333"/>
            </a:xfrm>
            <a:custGeom>
              <a:avLst/>
              <a:gdLst/>
              <a:ahLst/>
              <a:cxnLst/>
              <a:rect l="l" t="t" r="r" b="b"/>
              <a:pathLst>
                <a:path w="4816592" h="2709333">
                  <a:moveTo>
                    <a:pt x="0" y="0"/>
                  </a:moveTo>
                  <a:lnTo>
                    <a:pt x="4816592" y="0"/>
                  </a:lnTo>
                  <a:lnTo>
                    <a:pt x="4816592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657225" cap="sq">
              <a:solidFill>
                <a:srgbClr val="1E3F48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816593" cy="2756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760171" y="7124700"/>
            <a:ext cx="9448343" cy="5616757"/>
          </a:xfrm>
          <a:custGeom>
            <a:avLst/>
            <a:gdLst/>
            <a:ahLst/>
            <a:cxnLst/>
            <a:rect l="l" t="t" r="r" b="b"/>
            <a:pathLst>
              <a:path w="9448343" h="5616757">
                <a:moveTo>
                  <a:pt x="0" y="0"/>
                </a:moveTo>
                <a:lnTo>
                  <a:pt x="9448343" y="0"/>
                </a:lnTo>
                <a:lnTo>
                  <a:pt x="9448343" y="5616756"/>
                </a:lnTo>
                <a:lnTo>
                  <a:pt x="0" y="561675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-3189478" y="7364602"/>
            <a:ext cx="8436357" cy="5844796"/>
          </a:xfrm>
          <a:custGeom>
            <a:avLst/>
            <a:gdLst/>
            <a:ahLst/>
            <a:cxnLst/>
            <a:rect l="l" t="t" r="r" b="b"/>
            <a:pathLst>
              <a:path w="8436357" h="5844796">
                <a:moveTo>
                  <a:pt x="0" y="0"/>
                </a:moveTo>
                <a:lnTo>
                  <a:pt x="8436356" y="0"/>
                </a:lnTo>
                <a:lnTo>
                  <a:pt x="8436356" y="5844796"/>
                </a:lnTo>
                <a:lnTo>
                  <a:pt x="0" y="584479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803658" y="777151"/>
            <a:ext cx="16680685" cy="318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TRANSMITE-I UNEI PERSOANE DRAGI CĂ TREBUIE SĂ TE MUȚI TIMP DE UN AN ÎNTR-O ȚARĂ ÎNDEPĂRTATĂ.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PERSOANA DRAGĂ ARE: 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A.5 ANI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B.13 ANI</a:t>
            </a:r>
          </a:p>
          <a:p>
            <a:pPr algn="l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C.30 DE ANI</a:t>
            </a:r>
          </a:p>
        </p:txBody>
      </p:sp>
      <p:graphicFrame>
        <p:nvGraphicFramePr>
          <p:cNvPr id="10" name="Tabel 9">
            <a:extLst>
              <a:ext uri="{FF2B5EF4-FFF2-40B4-BE49-F238E27FC236}">
                <a16:creationId xmlns:a16="http://schemas.microsoft.com/office/drawing/2014/main" id="{533D04D9-CAA7-F59E-8247-783AE40A61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285968"/>
              </p:ext>
            </p:extLst>
          </p:nvPr>
        </p:nvGraphicFramePr>
        <p:xfrm>
          <a:off x="2819400" y="4257288"/>
          <a:ext cx="11811000" cy="4142424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6091239">
                  <a:extLst>
                    <a:ext uri="{9D8B030D-6E8A-4147-A177-3AD203B41FA5}">
                      <a16:colId xmlns:a16="http://schemas.microsoft.com/office/drawing/2014/main" val="2407673238"/>
                    </a:ext>
                  </a:extLst>
                </a:gridCol>
                <a:gridCol w="5719761">
                  <a:extLst>
                    <a:ext uri="{9D8B030D-6E8A-4147-A177-3AD203B41FA5}">
                      <a16:colId xmlns:a16="http://schemas.microsoft.com/office/drawing/2014/main" val="3475464195"/>
                    </a:ext>
                  </a:extLst>
                </a:gridCol>
              </a:tblGrid>
              <a:tr h="1024929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Mesaje ambigue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Mesaje clare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9910500"/>
                  </a:ext>
                </a:extLst>
              </a:tr>
              <a:tr h="1039165">
                <a:tc>
                  <a:txBody>
                    <a:bodyPr/>
                    <a:lstStyle/>
                    <a:p>
                      <a:pPr algn="just"/>
                      <a:r>
                        <a:rPr lang="ro-RO" sz="3000" dirty="0"/>
                        <a:t>Niciodată</a:t>
                      </a:r>
                      <a:r>
                        <a:rPr lang="ro-RO" sz="3000" baseline="0" dirty="0"/>
                        <a:t> nu mă înțelegi! </a:t>
                      </a:r>
                      <a:endParaRPr lang="en-US" sz="3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?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81648575"/>
                  </a:ext>
                </a:extLst>
              </a:tr>
              <a:tr h="1039165">
                <a:tc>
                  <a:txBody>
                    <a:bodyPr/>
                    <a:lstStyle/>
                    <a:p>
                      <a:pPr algn="just"/>
                      <a:r>
                        <a:rPr lang="ro-RO" sz="3000" dirty="0"/>
                        <a:t>Mereu e</a:t>
                      </a:r>
                      <a:r>
                        <a:rPr lang="en-US" sz="3000" dirty="0" err="1"/>
                        <a:t>ști</a:t>
                      </a:r>
                      <a:r>
                        <a:rPr lang="en-US" sz="3000" dirty="0"/>
                        <a:t> </a:t>
                      </a:r>
                      <a:r>
                        <a:rPr lang="ro-RO" sz="3000" dirty="0"/>
                        <a:t>neatent atunci când</a:t>
                      </a:r>
                      <a:r>
                        <a:rPr lang="ro-RO" sz="3000" baseline="0" dirty="0"/>
                        <a:t> îți vorbesc!</a:t>
                      </a:r>
                      <a:r>
                        <a:rPr lang="en-US" sz="300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?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7737722"/>
                  </a:ext>
                </a:extLst>
              </a:tr>
              <a:tr h="1039165">
                <a:tc>
                  <a:txBody>
                    <a:bodyPr/>
                    <a:lstStyle/>
                    <a:p>
                      <a:pPr algn="just"/>
                      <a:r>
                        <a:rPr lang="en-US" sz="3000" dirty="0" err="1"/>
                        <a:t>Cât</a:t>
                      </a:r>
                      <a:r>
                        <a:rPr lang="en-US" sz="3000" dirty="0"/>
                        <a:t> de </a:t>
                      </a:r>
                      <a:r>
                        <a:rPr lang="en-US" sz="3000" dirty="0" err="1"/>
                        <a:t>împrăștiat</a:t>
                      </a:r>
                      <a:r>
                        <a:rPr lang="en-US" sz="3000" dirty="0"/>
                        <a:t> </a:t>
                      </a:r>
                      <a:r>
                        <a:rPr lang="en-US" sz="3000" dirty="0" err="1"/>
                        <a:t>poți</a:t>
                      </a:r>
                      <a:r>
                        <a:rPr lang="en-US" sz="3000" dirty="0"/>
                        <a:t> fi!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/>
                        <a:t>?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827784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278042" y="2725793"/>
            <a:ext cx="3320006" cy="5572849"/>
            <a:chOff x="0" y="0"/>
            <a:chExt cx="1415529" cy="237606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2486100" y="2902296"/>
            <a:ext cx="2903889" cy="2903889"/>
            <a:chOff x="0" y="0"/>
            <a:chExt cx="6350000" cy="63500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3"/>
              <a:stretch>
                <a:fillRect l="-25015" r="-25015"/>
              </a:stretch>
            </a:blipFill>
          </p:spPr>
        </p:sp>
      </p:grpSp>
      <p:grpSp>
        <p:nvGrpSpPr>
          <p:cNvPr id="8" name="Group 8"/>
          <p:cNvGrpSpPr/>
          <p:nvPr/>
        </p:nvGrpSpPr>
        <p:grpSpPr>
          <a:xfrm>
            <a:off x="7483997" y="2725793"/>
            <a:ext cx="3320006" cy="5572849"/>
            <a:chOff x="0" y="0"/>
            <a:chExt cx="1415529" cy="23760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692056" y="2902296"/>
            <a:ext cx="2903889" cy="2903889"/>
            <a:chOff x="0" y="0"/>
            <a:chExt cx="6350000" cy="6350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4"/>
              <a:stretch>
                <a:fillRect l="-25061" r="-25061"/>
              </a:stretch>
            </a:blipFill>
          </p:spPr>
        </p:sp>
      </p:grpSp>
      <p:grpSp>
        <p:nvGrpSpPr>
          <p:cNvPr id="13" name="Group 13"/>
          <p:cNvGrpSpPr/>
          <p:nvPr/>
        </p:nvGrpSpPr>
        <p:grpSpPr>
          <a:xfrm>
            <a:off x="12477856" y="2725793"/>
            <a:ext cx="3320006" cy="5572849"/>
            <a:chOff x="0" y="0"/>
            <a:chExt cx="1415529" cy="237606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415529" cy="2376060"/>
            </a:xfrm>
            <a:custGeom>
              <a:avLst/>
              <a:gdLst/>
              <a:ahLst/>
              <a:cxnLst/>
              <a:rect l="l" t="t" r="r" b="b"/>
              <a:pathLst>
                <a:path w="1415529" h="2376060">
                  <a:moveTo>
                    <a:pt x="72289" y="0"/>
                  </a:moveTo>
                  <a:lnTo>
                    <a:pt x="1343240" y="0"/>
                  </a:lnTo>
                  <a:cubicBezTo>
                    <a:pt x="1383165" y="0"/>
                    <a:pt x="1415529" y="32365"/>
                    <a:pt x="1415529" y="72289"/>
                  </a:cubicBezTo>
                  <a:lnTo>
                    <a:pt x="1415529" y="2303771"/>
                  </a:lnTo>
                  <a:cubicBezTo>
                    <a:pt x="1415529" y="2343695"/>
                    <a:pt x="1383165" y="2376060"/>
                    <a:pt x="1343240" y="2376060"/>
                  </a:cubicBezTo>
                  <a:lnTo>
                    <a:pt x="72289" y="2376060"/>
                  </a:lnTo>
                  <a:cubicBezTo>
                    <a:pt x="53117" y="2376060"/>
                    <a:pt x="34730" y="2368443"/>
                    <a:pt x="21173" y="2354887"/>
                  </a:cubicBezTo>
                  <a:cubicBezTo>
                    <a:pt x="7616" y="2341330"/>
                    <a:pt x="0" y="2322943"/>
                    <a:pt x="0" y="2303771"/>
                  </a:cubicBezTo>
                  <a:lnTo>
                    <a:pt x="0" y="72289"/>
                  </a:lnTo>
                  <a:cubicBezTo>
                    <a:pt x="0" y="53117"/>
                    <a:pt x="7616" y="34730"/>
                    <a:pt x="21173" y="21173"/>
                  </a:cubicBezTo>
                  <a:cubicBezTo>
                    <a:pt x="34730" y="7616"/>
                    <a:pt x="53117" y="0"/>
                    <a:pt x="72289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0" y="-47625"/>
              <a:ext cx="1415529" cy="242368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685915" y="2902296"/>
            <a:ext cx="2903889" cy="2903889"/>
            <a:chOff x="0" y="0"/>
            <a:chExt cx="6350000" cy="6350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50000" cy="6351270"/>
            </a:xfrm>
            <a:custGeom>
              <a:avLst/>
              <a:gdLst/>
              <a:ahLst/>
              <a:cxnLst/>
              <a:rect l="l" t="t" r="r" b="b"/>
              <a:pathLst>
                <a:path w="6350000" h="6351270">
                  <a:moveTo>
                    <a:pt x="0" y="5955030"/>
                  </a:moveTo>
                  <a:lnTo>
                    <a:pt x="0" y="394970"/>
                  </a:lnTo>
                  <a:cubicBezTo>
                    <a:pt x="0" y="176530"/>
                    <a:pt x="176530" y="0"/>
                    <a:pt x="394970" y="0"/>
                  </a:cubicBezTo>
                  <a:lnTo>
                    <a:pt x="5956300" y="0"/>
                  </a:lnTo>
                  <a:cubicBezTo>
                    <a:pt x="6173470" y="0"/>
                    <a:pt x="6350000" y="176530"/>
                    <a:pt x="6350000" y="394970"/>
                  </a:cubicBezTo>
                  <a:lnTo>
                    <a:pt x="6350000" y="5956300"/>
                  </a:lnTo>
                  <a:cubicBezTo>
                    <a:pt x="6350000" y="6174740"/>
                    <a:pt x="6173470" y="6351270"/>
                    <a:pt x="5955030" y="6351270"/>
                  </a:cubicBezTo>
                  <a:lnTo>
                    <a:pt x="394970" y="6351270"/>
                  </a:lnTo>
                  <a:cubicBezTo>
                    <a:pt x="176530" y="6350000"/>
                    <a:pt x="0" y="6173470"/>
                    <a:pt x="0" y="5955030"/>
                  </a:cubicBezTo>
                  <a:close/>
                </a:path>
              </a:pathLst>
            </a:custGeom>
            <a:blipFill>
              <a:blip r:embed="rId5"/>
              <a:stretch>
                <a:fillRect l="-25015" r="-25015"/>
              </a:stretch>
            </a:blipFill>
          </p:spPr>
        </p:sp>
      </p:grpSp>
      <p:sp>
        <p:nvSpPr>
          <p:cNvPr id="18" name="Freeform 18"/>
          <p:cNvSpPr/>
          <p:nvPr/>
        </p:nvSpPr>
        <p:spPr>
          <a:xfrm>
            <a:off x="14957345" y="6744287"/>
            <a:ext cx="6266893" cy="4307065"/>
          </a:xfrm>
          <a:custGeom>
            <a:avLst/>
            <a:gdLst/>
            <a:ahLst/>
            <a:cxnLst/>
            <a:rect l="l" t="t" r="r" b="b"/>
            <a:pathLst>
              <a:path w="6266893" h="4307065">
                <a:moveTo>
                  <a:pt x="0" y="0"/>
                </a:moveTo>
                <a:lnTo>
                  <a:pt x="6266894" y="0"/>
                </a:lnTo>
                <a:lnTo>
                  <a:pt x="6266894" y="4307064"/>
                </a:lnTo>
                <a:lnTo>
                  <a:pt x="0" y="430706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-2023959" y="6897975"/>
            <a:ext cx="4793068" cy="3485868"/>
          </a:xfrm>
          <a:custGeom>
            <a:avLst/>
            <a:gdLst/>
            <a:ahLst/>
            <a:cxnLst/>
            <a:rect l="l" t="t" r="r" b="b"/>
            <a:pathLst>
              <a:path w="4793068" h="3485868">
                <a:moveTo>
                  <a:pt x="0" y="0"/>
                </a:moveTo>
                <a:lnTo>
                  <a:pt x="4793068" y="0"/>
                </a:lnTo>
                <a:lnTo>
                  <a:pt x="4793068" y="3485868"/>
                </a:lnTo>
                <a:lnTo>
                  <a:pt x="0" y="34858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2954546" y="1247013"/>
            <a:ext cx="12378908" cy="885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349"/>
              </a:lnSpc>
            </a:pPr>
            <a:r>
              <a:rPr lang="en-US" sz="5249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Tipuri de comunicare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2486100" y="6612225"/>
            <a:ext cx="282293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Asertivă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7692056" y="6612225"/>
            <a:ext cx="282293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Pasivă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3" name="TextBox 23"/>
          <p:cNvSpPr txBox="1"/>
          <p:nvPr/>
        </p:nvSpPr>
        <p:spPr>
          <a:xfrm>
            <a:off x="12726393" y="6556469"/>
            <a:ext cx="282293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Agresivă</a:t>
            </a:r>
            <a:endParaRPr lang="en-US" sz="3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1818968" y="1878811"/>
            <a:ext cx="14650064" cy="7379489"/>
            <a:chOff x="0" y="0"/>
            <a:chExt cx="4491524" cy="22624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91524" cy="2262458"/>
            </a:xfrm>
            <a:custGeom>
              <a:avLst/>
              <a:gdLst/>
              <a:ahLst/>
              <a:cxnLst/>
              <a:rect l="l" t="t" r="r" b="b"/>
              <a:pathLst>
                <a:path w="4491524" h="2262458">
                  <a:moveTo>
                    <a:pt x="5813" y="0"/>
                  </a:moveTo>
                  <a:lnTo>
                    <a:pt x="4485710" y="0"/>
                  </a:lnTo>
                  <a:cubicBezTo>
                    <a:pt x="4487252" y="0"/>
                    <a:pt x="4488731" y="612"/>
                    <a:pt x="4489821" y="1703"/>
                  </a:cubicBezTo>
                  <a:cubicBezTo>
                    <a:pt x="4490911" y="2793"/>
                    <a:pt x="4491524" y="4271"/>
                    <a:pt x="4491524" y="5813"/>
                  </a:cubicBezTo>
                  <a:lnTo>
                    <a:pt x="4491524" y="2256645"/>
                  </a:lnTo>
                  <a:cubicBezTo>
                    <a:pt x="4491524" y="2258187"/>
                    <a:pt x="4490911" y="2259665"/>
                    <a:pt x="4489821" y="2260755"/>
                  </a:cubicBezTo>
                  <a:cubicBezTo>
                    <a:pt x="4488731" y="2261845"/>
                    <a:pt x="4487252" y="2262458"/>
                    <a:pt x="4485710" y="2262458"/>
                  </a:cubicBezTo>
                  <a:lnTo>
                    <a:pt x="5813" y="2262458"/>
                  </a:lnTo>
                  <a:cubicBezTo>
                    <a:pt x="4271" y="2262458"/>
                    <a:pt x="2793" y="2261845"/>
                    <a:pt x="1703" y="2260755"/>
                  </a:cubicBezTo>
                  <a:cubicBezTo>
                    <a:pt x="612" y="2259665"/>
                    <a:pt x="0" y="2258187"/>
                    <a:pt x="0" y="2256645"/>
                  </a:cubicBezTo>
                  <a:lnTo>
                    <a:pt x="0" y="5813"/>
                  </a:lnTo>
                  <a:cubicBezTo>
                    <a:pt x="0" y="4271"/>
                    <a:pt x="612" y="2793"/>
                    <a:pt x="1703" y="1703"/>
                  </a:cubicBezTo>
                  <a:cubicBezTo>
                    <a:pt x="2793" y="612"/>
                    <a:pt x="4271" y="0"/>
                    <a:pt x="5813" y="0"/>
                  </a:cubicBezTo>
                  <a:close/>
                </a:path>
              </a:pathLst>
            </a:custGeom>
            <a:solidFill>
              <a:srgbClr val="FFFFFF"/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491524" cy="23100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-1176646" y="7912068"/>
            <a:ext cx="3584090" cy="3192451"/>
          </a:xfrm>
          <a:custGeom>
            <a:avLst/>
            <a:gdLst/>
            <a:ahLst/>
            <a:cxnLst/>
            <a:rect l="l" t="t" r="r" b="b"/>
            <a:pathLst>
              <a:path w="3584090" h="3192451">
                <a:moveTo>
                  <a:pt x="0" y="0"/>
                </a:moveTo>
                <a:lnTo>
                  <a:pt x="3584090" y="0"/>
                </a:lnTo>
                <a:lnTo>
                  <a:pt x="3584090" y="3192450"/>
                </a:lnTo>
                <a:lnTo>
                  <a:pt x="0" y="319245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rot="1437982">
            <a:off x="14888817" y="187718"/>
            <a:ext cx="3160431" cy="3028267"/>
          </a:xfrm>
          <a:custGeom>
            <a:avLst/>
            <a:gdLst/>
            <a:ahLst/>
            <a:cxnLst/>
            <a:rect l="l" t="t" r="r" b="b"/>
            <a:pathLst>
              <a:path w="3160431" h="3028267">
                <a:moveTo>
                  <a:pt x="0" y="0"/>
                </a:moveTo>
                <a:lnTo>
                  <a:pt x="3160431" y="0"/>
                </a:lnTo>
                <a:lnTo>
                  <a:pt x="3160431" y="3028267"/>
                </a:lnTo>
                <a:lnTo>
                  <a:pt x="0" y="302826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069318" y="2211196"/>
            <a:ext cx="12443555" cy="920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531"/>
              </a:lnSpc>
              <a:spcBef>
                <a:spcPct val="0"/>
              </a:spcBef>
            </a:pPr>
            <a:r>
              <a:rPr lang="en-US" sz="5379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Tipuri de comunicare</a:t>
            </a:r>
          </a:p>
        </p:txBody>
      </p:sp>
      <p:sp>
        <p:nvSpPr>
          <p:cNvPr id="9" name="AutoShape 9"/>
          <p:cNvSpPr/>
          <p:nvPr/>
        </p:nvSpPr>
        <p:spPr>
          <a:xfrm>
            <a:off x="6839980" y="3727327"/>
            <a:ext cx="0" cy="52884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0" name="AutoShape 10"/>
          <p:cNvSpPr/>
          <p:nvPr/>
        </p:nvSpPr>
        <p:spPr>
          <a:xfrm>
            <a:off x="11742211" y="3727327"/>
            <a:ext cx="19050" cy="528843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TextBox 11"/>
          <p:cNvSpPr txBox="1"/>
          <p:nvPr/>
        </p:nvSpPr>
        <p:spPr>
          <a:xfrm>
            <a:off x="2165372" y="4362033"/>
            <a:ext cx="4455533" cy="4702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7"/>
              </a:lnSpc>
            </a:pP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exprimare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clară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directă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atât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verbal,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cât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non-verbal</a:t>
            </a:r>
          </a:p>
          <a:p>
            <a:pPr algn="ctr">
              <a:lnSpc>
                <a:spcPts val="3687"/>
              </a:lnSpc>
            </a:pP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exprimare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clară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directă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emoţiilor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sentimentelor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gândurilor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algn="ctr">
              <a:lnSpc>
                <a:spcPts val="3687"/>
              </a:lnSpc>
            </a:pP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 ton calm, respect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empatie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față</a:t>
            </a:r>
            <a:r>
              <a:rPr lang="en-US" sz="2633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de interlocutor,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luând</a:t>
            </a:r>
            <a:r>
              <a:rPr lang="en-US" sz="2633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2633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considerare</a:t>
            </a:r>
            <a:r>
              <a:rPr lang="en-US" sz="2633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2633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perspectiva</a:t>
            </a:r>
            <a:r>
              <a:rPr lang="en-US" sz="2633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33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acestuia</a:t>
            </a:r>
            <a:endParaRPr lang="en-US" sz="2633" b="1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3687"/>
              </a:lnSpc>
            </a:pPr>
            <a:endParaRPr lang="en-US" sz="2633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12" name="Group 12"/>
          <p:cNvGrpSpPr/>
          <p:nvPr/>
        </p:nvGrpSpPr>
        <p:grpSpPr>
          <a:xfrm>
            <a:off x="2270512" y="3615521"/>
            <a:ext cx="4167278" cy="596130"/>
            <a:chOff x="0" y="0"/>
            <a:chExt cx="1008606" cy="14428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08606" cy="144281"/>
            </a:xfrm>
            <a:custGeom>
              <a:avLst/>
              <a:gdLst/>
              <a:ahLst/>
              <a:cxnLst/>
              <a:rect l="l" t="t" r="r" b="b"/>
              <a:pathLst>
                <a:path w="1008606" h="144281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29419"/>
                  </a:lnTo>
                  <a:cubicBezTo>
                    <a:pt x="1008606" y="133361"/>
                    <a:pt x="1007040" y="137141"/>
                    <a:pt x="1004253" y="139928"/>
                  </a:cubicBezTo>
                  <a:cubicBezTo>
                    <a:pt x="1001466" y="142716"/>
                    <a:pt x="997686" y="144281"/>
                    <a:pt x="993744" y="144281"/>
                  </a:cubicBezTo>
                  <a:lnTo>
                    <a:pt x="14862" y="144281"/>
                  </a:lnTo>
                  <a:cubicBezTo>
                    <a:pt x="10921" y="144281"/>
                    <a:pt x="7140" y="142716"/>
                    <a:pt x="4353" y="139928"/>
                  </a:cubicBezTo>
                  <a:cubicBezTo>
                    <a:pt x="1566" y="137141"/>
                    <a:pt x="0" y="133361"/>
                    <a:pt x="0" y="129419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1008606" cy="1919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1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7059055" y="4375682"/>
            <a:ext cx="4532995" cy="422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minimalizarea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emoțiilor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sentimentelor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gândurilor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algn="ctr">
              <a:lnSpc>
                <a:spcPts val="3681"/>
              </a:lnSpc>
            </a:pP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implicare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redusă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comunicare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funcție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explicativă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redusă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ton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monoton</a:t>
            </a:r>
            <a:endParaRPr lang="en-US" sz="262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3681"/>
              </a:lnSpc>
            </a:pP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nu se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iau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considerare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scopurile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personale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dar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acceptă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îndeplinirea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scopurilor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celorlalți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algn="ctr">
              <a:lnSpc>
                <a:spcPts val="3681"/>
              </a:lnSpc>
            </a:pPr>
            <a:endParaRPr lang="en-US" sz="262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16" name="Group 16"/>
          <p:cNvGrpSpPr/>
          <p:nvPr/>
        </p:nvGrpSpPr>
        <p:grpSpPr>
          <a:xfrm>
            <a:off x="7207457" y="3615521"/>
            <a:ext cx="4167278" cy="647248"/>
            <a:chOff x="0" y="0"/>
            <a:chExt cx="1008606" cy="156653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1008606" cy="156653"/>
            </a:xfrm>
            <a:custGeom>
              <a:avLst/>
              <a:gdLst/>
              <a:ahLst/>
              <a:cxnLst/>
              <a:rect l="l" t="t" r="r" b="b"/>
              <a:pathLst>
                <a:path w="1008606" h="156653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1"/>
                </a:lnSpc>
              </a:pPr>
              <a:endParaRPr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11881925" y="4383343"/>
            <a:ext cx="4571518" cy="42276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1"/>
              </a:lnSpc>
            </a:pP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exprimare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nu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ia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în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considerare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dorinţele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scopurile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perspectiva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b="1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celuilalt</a:t>
            </a:r>
            <a:r>
              <a:rPr lang="en-US" sz="2629" b="1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</a:p>
          <a:p>
            <a:pPr algn="ctr">
              <a:lnSpc>
                <a:spcPts val="3681"/>
              </a:lnSpc>
            </a:pP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exprimarea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neadecvată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a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gândurilor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sentimentelor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dorinţelor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care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poate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duce la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conflicte</a:t>
            </a:r>
            <a:endParaRPr lang="en-US" sz="262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3681"/>
              </a:lnSpc>
            </a:pP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– ton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ridicat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,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sfidător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și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nu se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poate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ajunge</a:t>
            </a:r>
            <a:r>
              <a:rPr lang="en-US" sz="2629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 la </a:t>
            </a:r>
            <a:r>
              <a:rPr lang="en-US" sz="2629" dirty="0" err="1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compromis</a:t>
            </a:r>
            <a:endParaRPr lang="en-US" sz="262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  <a:p>
            <a:pPr algn="ctr">
              <a:lnSpc>
                <a:spcPts val="3681"/>
              </a:lnSpc>
            </a:pPr>
            <a:endParaRPr lang="en-US" sz="2629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20" name="Group 20"/>
          <p:cNvGrpSpPr/>
          <p:nvPr/>
        </p:nvGrpSpPr>
        <p:grpSpPr>
          <a:xfrm>
            <a:off x="11987408" y="3615521"/>
            <a:ext cx="4167278" cy="647248"/>
            <a:chOff x="0" y="0"/>
            <a:chExt cx="1008606" cy="156653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1008606" cy="156653"/>
            </a:xfrm>
            <a:custGeom>
              <a:avLst/>
              <a:gdLst/>
              <a:ahLst/>
              <a:cxnLst/>
              <a:rect l="l" t="t" r="r" b="b"/>
              <a:pathLst>
                <a:path w="1008606" h="156653">
                  <a:moveTo>
                    <a:pt x="14862" y="0"/>
                  </a:moveTo>
                  <a:lnTo>
                    <a:pt x="993744" y="0"/>
                  </a:lnTo>
                  <a:cubicBezTo>
                    <a:pt x="997686" y="0"/>
                    <a:pt x="1001466" y="1566"/>
                    <a:pt x="1004253" y="4353"/>
                  </a:cubicBezTo>
                  <a:cubicBezTo>
                    <a:pt x="1007040" y="7140"/>
                    <a:pt x="1008606" y="10921"/>
                    <a:pt x="1008606" y="14862"/>
                  </a:cubicBezTo>
                  <a:lnTo>
                    <a:pt x="1008606" y="141791"/>
                  </a:lnTo>
                  <a:cubicBezTo>
                    <a:pt x="1008606" y="145733"/>
                    <a:pt x="1007040" y="149513"/>
                    <a:pt x="1004253" y="152300"/>
                  </a:cubicBezTo>
                  <a:cubicBezTo>
                    <a:pt x="1001466" y="155088"/>
                    <a:pt x="997686" y="156653"/>
                    <a:pt x="993744" y="156653"/>
                  </a:cubicBezTo>
                  <a:lnTo>
                    <a:pt x="14862" y="156653"/>
                  </a:lnTo>
                  <a:cubicBezTo>
                    <a:pt x="10921" y="156653"/>
                    <a:pt x="7140" y="155088"/>
                    <a:pt x="4353" y="152300"/>
                  </a:cubicBezTo>
                  <a:cubicBezTo>
                    <a:pt x="1566" y="149513"/>
                    <a:pt x="0" y="145733"/>
                    <a:pt x="0" y="141791"/>
                  </a:cubicBezTo>
                  <a:lnTo>
                    <a:pt x="0" y="14862"/>
                  </a:lnTo>
                  <a:cubicBezTo>
                    <a:pt x="0" y="10921"/>
                    <a:pt x="1566" y="7140"/>
                    <a:pt x="4353" y="4353"/>
                  </a:cubicBezTo>
                  <a:cubicBezTo>
                    <a:pt x="7140" y="1566"/>
                    <a:pt x="10921" y="0"/>
                    <a:pt x="14862" y="0"/>
                  </a:cubicBezTo>
                  <a:close/>
                </a:path>
              </a:pathLst>
            </a:custGeom>
            <a:solidFill>
              <a:srgbClr val="01070A"/>
            </a:solidFill>
            <a:ln cap="sq">
              <a:noFill/>
              <a:prstDash val="solid"/>
              <a:miter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0" y="-47625"/>
              <a:ext cx="1008606" cy="2042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21"/>
                </a:lnSpc>
              </a:pPr>
              <a:endParaRPr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817761" y="3561320"/>
            <a:ext cx="296763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Asertivă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807276" y="3583319"/>
            <a:ext cx="296763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Pasivă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12587227" y="3561320"/>
            <a:ext cx="2967639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5599"/>
              </a:lnSpc>
              <a:spcBef>
                <a:spcPct val="0"/>
              </a:spcBef>
            </a:pPr>
            <a:r>
              <a:rPr lang="en-US" sz="3999">
                <a:solidFill>
                  <a:srgbClr val="FFFFFF"/>
                </a:solidFill>
                <a:latin typeface="Carelia"/>
                <a:ea typeface="Carelia"/>
                <a:cs typeface="Carelia"/>
                <a:sym typeface="Carelia"/>
              </a:rPr>
              <a:t>Agresivă</a:t>
            </a:r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5" grpId="0"/>
      <p:bldP spid="1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00E8C-2B1E-F8C5-8A94-DDEAB46E3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C63450-68EC-662B-6D62-F4709BC1945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55" b="-5555"/>
            </a:stretch>
          </a:blipFill>
        </p:spPr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BC0F3EDB-56B0-FF6C-C471-025984E1FBC4}"/>
              </a:ext>
            </a:extLst>
          </p:cNvPr>
          <p:cNvGrpSpPr/>
          <p:nvPr/>
        </p:nvGrpSpPr>
        <p:grpSpPr>
          <a:xfrm>
            <a:off x="2166245" y="1527166"/>
            <a:ext cx="14540553" cy="8411271"/>
            <a:chOff x="0" y="0"/>
            <a:chExt cx="3829611" cy="2215314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649FBC68-72A8-2D12-F19E-57DEAE21B7E5}"/>
                </a:ext>
              </a:extLst>
            </p:cNvPr>
            <p:cNvSpPr/>
            <p:nvPr/>
          </p:nvSpPr>
          <p:spPr>
            <a:xfrm>
              <a:off x="0" y="0"/>
              <a:ext cx="3829611" cy="2215314"/>
            </a:xfrm>
            <a:custGeom>
              <a:avLst/>
              <a:gdLst/>
              <a:ahLst/>
              <a:cxnLst/>
              <a:rect l="l" t="t" r="r" b="b"/>
              <a:pathLst>
                <a:path w="3829611" h="2215314">
                  <a:moveTo>
                    <a:pt x="5857" y="0"/>
                  </a:moveTo>
                  <a:lnTo>
                    <a:pt x="3823754" y="0"/>
                  </a:lnTo>
                  <a:cubicBezTo>
                    <a:pt x="3825307" y="0"/>
                    <a:pt x="3826797" y="617"/>
                    <a:pt x="3827895" y="1715"/>
                  </a:cubicBezTo>
                  <a:cubicBezTo>
                    <a:pt x="3828994" y="2814"/>
                    <a:pt x="3829611" y="4303"/>
                    <a:pt x="3829611" y="5857"/>
                  </a:cubicBezTo>
                  <a:lnTo>
                    <a:pt x="3829611" y="2209457"/>
                  </a:lnTo>
                  <a:cubicBezTo>
                    <a:pt x="3829611" y="2212692"/>
                    <a:pt x="3826988" y="2215314"/>
                    <a:pt x="3823754" y="2215314"/>
                  </a:cubicBezTo>
                  <a:lnTo>
                    <a:pt x="5857" y="2215314"/>
                  </a:lnTo>
                  <a:cubicBezTo>
                    <a:pt x="2622" y="2215314"/>
                    <a:pt x="0" y="2212692"/>
                    <a:pt x="0" y="2209457"/>
                  </a:cubicBezTo>
                  <a:lnTo>
                    <a:pt x="0" y="5857"/>
                  </a:lnTo>
                  <a:cubicBezTo>
                    <a:pt x="0" y="2622"/>
                    <a:pt x="2622" y="0"/>
                    <a:pt x="58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AB2E2060-3D02-18E9-72B9-EA12FCBAFCF2}"/>
                </a:ext>
              </a:extLst>
            </p:cNvPr>
            <p:cNvSpPr txBox="1"/>
            <p:nvPr/>
          </p:nvSpPr>
          <p:spPr>
            <a:xfrm>
              <a:off x="0" y="-47625"/>
              <a:ext cx="3829611" cy="226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>
            <a:extLst>
              <a:ext uri="{FF2B5EF4-FFF2-40B4-BE49-F238E27FC236}">
                <a16:creationId xmlns:a16="http://schemas.microsoft.com/office/drawing/2014/main" id="{022D81DA-6A01-915D-4BB8-7E9BF9086E8E}"/>
              </a:ext>
            </a:extLst>
          </p:cNvPr>
          <p:cNvGrpSpPr/>
          <p:nvPr/>
        </p:nvGrpSpPr>
        <p:grpSpPr>
          <a:xfrm>
            <a:off x="3389721" y="7402642"/>
            <a:ext cx="1855658" cy="1855658"/>
            <a:chOff x="0" y="0"/>
            <a:chExt cx="812800" cy="812800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EE2ED3D-C95C-CCFB-D44E-098FDD418DF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8FE97C46-99BF-62BB-9F42-3BDD987335C2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>
            <a:extLst>
              <a:ext uri="{FF2B5EF4-FFF2-40B4-BE49-F238E27FC236}">
                <a16:creationId xmlns:a16="http://schemas.microsoft.com/office/drawing/2014/main" id="{7F18D45D-119A-FAFA-7C45-C3FFAC2A5FF8}"/>
              </a:ext>
            </a:extLst>
          </p:cNvPr>
          <p:cNvSpPr/>
          <p:nvPr/>
        </p:nvSpPr>
        <p:spPr>
          <a:xfrm>
            <a:off x="3746354" y="7773815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2" y="0"/>
                </a:lnTo>
                <a:lnTo>
                  <a:pt x="1142392" y="1113312"/>
                </a:lnTo>
                <a:lnTo>
                  <a:pt x="0" y="11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456A039-6918-BA39-6293-A3D20FAB3D51}"/>
              </a:ext>
            </a:extLst>
          </p:cNvPr>
          <p:cNvGrpSpPr/>
          <p:nvPr/>
        </p:nvGrpSpPr>
        <p:grpSpPr>
          <a:xfrm>
            <a:off x="6575510" y="7402642"/>
            <a:ext cx="1855658" cy="1855658"/>
            <a:chOff x="0" y="0"/>
            <a:chExt cx="812800" cy="812800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341295F-F1A9-0B30-DCD9-75C9171B484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901F3A4B-B485-96DF-EC15-1735133B97B6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3" name="Group 13">
            <a:extLst>
              <a:ext uri="{FF2B5EF4-FFF2-40B4-BE49-F238E27FC236}">
                <a16:creationId xmlns:a16="http://schemas.microsoft.com/office/drawing/2014/main" id="{6575725E-D966-B82C-227D-F8CF8BC9CED2}"/>
              </a:ext>
            </a:extLst>
          </p:cNvPr>
          <p:cNvGrpSpPr/>
          <p:nvPr/>
        </p:nvGrpSpPr>
        <p:grpSpPr>
          <a:xfrm>
            <a:off x="9761506" y="7402642"/>
            <a:ext cx="1855658" cy="1855658"/>
            <a:chOff x="0" y="0"/>
            <a:chExt cx="812800" cy="812800"/>
          </a:xfrm>
        </p:grpSpPr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FA2B3F77-AE3E-878F-6E66-6AEA10ED5E74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8D7A137A-F6C5-2989-7AF2-13AA834310D1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>
            <a:extLst>
              <a:ext uri="{FF2B5EF4-FFF2-40B4-BE49-F238E27FC236}">
                <a16:creationId xmlns:a16="http://schemas.microsoft.com/office/drawing/2014/main" id="{5199976A-90E5-D13D-CAED-9C213E1C7651}"/>
              </a:ext>
            </a:extLst>
          </p:cNvPr>
          <p:cNvGrpSpPr/>
          <p:nvPr/>
        </p:nvGrpSpPr>
        <p:grpSpPr>
          <a:xfrm>
            <a:off x="12750638" y="7402642"/>
            <a:ext cx="1855658" cy="1855658"/>
            <a:chOff x="0" y="0"/>
            <a:chExt cx="812800" cy="812800"/>
          </a:xfrm>
        </p:grpSpPr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E21D0904-D947-B55A-3D01-591041EE6696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>
              <a:extLst>
                <a:ext uri="{FF2B5EF4-FFF2-40B4-BE49-F238E27FC236}">
                  <a16:creationId xmlns:a16="http://schemas.microsoft.com/office/drawing/2014/main" id="{A89B5F89-567F-EF57-A010-3032E4BB0728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9" name="Freeform 19">
            <a:extLst>
              <a:ext uri="{FF2B5EF4-FFF2-40B4-BE49-F238E27FC236}">
                <a16:creationId xmlns:a16="http://schemas.microsoft.com/office/drawing/2014/main" id="{072A4067-2A40-6545-2451-713F7BDA0780}"/>
              </a:ext>
            </a:extLst>
          </p:cNvPr>
          <p:cNvSpPr/>
          <p:nvPr/>
        </p:nvSpPr>
        <p:spPr>
          <a:xfrm>
            <a:off x="6978404" y="7701379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6" y="0"/>
                </a:lnTo>
                <a:lnTo>
                  <a:pt x="1177786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>
            <a:extLst>
              <a:ext uri="{FF2B5EF4-FFF2-40B4-BE49-F238E27FC236}">
                <a16:creationId xmlns:a16="http://schemas.microsoft.com/office/drawing/2014/main" id="{45BE2F7B-3EE7-422D-72CA-569B07BE9757}"/>
              </a:ext>
            </a:extLst>
          </p:cNvPr>
          <p:cNvSpPr/>
          <p:nvPr/>
        </p:nvSpPr>
        <p:spPr>
          <a:xfrm>
            <a:off x="10253399" y="7758824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>
            <a:extLst>
              <a:ext uri="{FF2B5EF4-FFF2-40B4-BE49-F238E27FC236}">
                <a16:creationId xmlns:a16="http://schemas.microsoft.com/office/drawing/2014/main" id="{F832364D-45BD-3542-D40D-77D1825CBA30}"/>
              </a:ext>
            </a:extLst>
          </p:cNvPr>
          <p:cNvSpPr/>
          <p:nvPr/>
        </p:nvSpPr>
        <p:spPr>
          <a:xfrm>
            <a:off x="13188788" y="765710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8" y="0"/>
                </a:lnTo>
                <a:lnTo>
                  <a:pt x="996588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>
            <a:extLst>
              <a:ext uri="{FF2B5EF4-FFF2-40B4-BE49-F238E27FC236}">
                <a16:creationId xmlns:a16="http://schemas.microsoft.com/office/drawing/2014/main" id="{9865A4D8-5530-D3A5-F392-BBBA7F39073A}"/>
              </a:ext>
            </a:extLst>
          </p:cNvPr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Activitate</a:t>
            </a:r>
          </a:p>
        </p:txBody>
      </p:sp>
      <p:sp>
        <p:nvSpPr>
          <p:cNvPr id="25" name="CasetăText 24">
            <a:extLst>
              <a:ext uri="{FF2B5EF4-FFF2-40B4-BE49-F238E27FC236}">
                <a16:creationId xmlns:a16="http://schemas.microsoft.com/office/drawing/2014/main" id="{0BDF539F-ED4E-4807-EFCC-887C7242832E}"/>
              </a:ext>
            </a:extLst>
          </p:cNvPr>
          <p:cNvSpPr txBox="1"/>
          <p:nvPr/>
        </p:nvSpPr>
        <p:spPr>
          <a:xfrm>
            <a:off x="4572000" y="4734734"/>
            <a:ext cx="914400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00"/>
              </a:lnSpc>
            </a:pPr>
            <a:r>
              <a:rPr lang="ro-RO" sz="6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Joc de rol</a:t>
            </a:r>
            <a:endParaRPr lang="en-US" sz="6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  <p:extLst>
      <p:ext uri="{BB962C8B-B14F-4D97-AF65-F5344CB8AC3E}">
        <p14:creationId xmlns:p14="http://schemas.microsoft.com/office/powerpoint/2010/main" val="1789639988"/>
      </p:ext>
    </p:extLst>
  </p:cSld>
  <p:clrMapOvr>
    <a:masterClrMapping/>
  </p:clrMapOvr>
  <p:transition spd="slow">
    <p:wheel spokes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55" b="-5555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2166245" y="1527166"/>
            <a:ext cx="14540553" cy="8411271"/>
            <a:chOff x="0" y="0"/>
            <a:chExt cx="3829611" cy="221531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829611" cy="2215314"/>
            </a:xfrm>
            <a:custGeom>
              <a:avLst/>
              <a:gdLst/>
              <a:ahLst/>
              <a:cxnLst/>
              <a:rect l="l" t="t" r="r" b="b"/>
              <a:pathLst>
                <a:path w="3829611" h="2215314">
                  <a:moveTo>
                    <a:pt x="5857" y="0"/>
                  </a:moveTo>
                  <a:lnTo>
                    <a:pt x="3823754" y="0"/>
                  </a:lnTo>
                  <a:cubicBezTo>
                    <a:pt x="3825307" y="0"/>
                    <a:pt x="3826797" y="617"/>
                    <a:pt x="3827895" y="1715"/>
                  </a:cubicBezTo>
                  <a:cubicBezTo>
                    <a:pt x="3828994" y="2814"/>
                    <a:pt x="3829611" y="4303"/>
                    <a:pt x="3829611" y="5857"/>
                  </a:cubicBezTo>
                  <a:lnTo>
                    <a:pt x="3829611" y="2209457"/>
                  </a:lnTo>
                  <a:cubicBezTo>
                    <a:pt x="3829611" y="2212692"/>
                    <a:pt x="3826988" y="2215314"/>
                    <a:pt x="3823754" y="2215314"/>
                  </a:cubicBezTo>
                  <a:lnTo>
                    <a:pt x="5857" y="2215314"/>
                  </a:lnTo>
                  <a:cubicBezTo>
                    <a:pt x="2622" y="2215314"/>
                    <a:pt x="0" y="2212692"/>
                    <a:pt x="0" y="2209457"/>
                  </a:cubicBezTo>
                  <a:lnTo>
                    <a:pt x="0" y="5857"/>
                  </a:lnTo>
                  <a:cubicBezTo>
                    <a:pt x="0" y="2622"/>
                    <a:pt x="2622" y="0"/>
                    <a:pt x="5857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829611" cy="22629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3389721" y="7402642"/>
            <a:ext cx="1855658" cy="1855658"/>
            <a:chOff x="0" y="0"/>
            <a:chExt cx="812800" cy="8128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3746354" y="7773815"/>
            <a:ext cx="1142391" cy="1113312"/>
          </a:xfrm>
          <a:custGeom>
            <a:avLst/>
            <a:gdLst/>
            <a:ahLst/>
            <a:cxnLst/>
            <a:rect l="l" t="t" r="r" b="b"/>
            <a:pathLst>
              <a:path w="1142391" h="1113312">
                <a:moveTo>
                  <a:pt x="0" y="0"/>
                </a:moveTo>
                <a:lnTo>
                  <a:pt x="1142392" y="0"/>
                </a:lnTo>
                <a:lnTo>
                  <a:pt x="1142392" y="1113312"/>
                </a:lnTo>
                <a:lnTo>
                  <a:pt x="0" y="111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575510" y="7402642"/>
            <a:ext cx="1855658" cy="1855658"/>
            <a:chOff x="0" y="0"/>
            <a:chExt cx="812800" cy="8128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9761506" y="7402642"/>
            <a:ext cx="1855658" cy="1855658"/>
            <a:chOff x="0" y="0"/>
            <a:chExt cx="812800" cy="8128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750638" y="7402642"/>
            <a:ext cx="1855658" cy="1855658"/>
            <a:chOff x="0" y="0"/>
            <a:chExt cx="812800" cy="8128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10"/>
                </a:lnSpc>
              </a:pPr>
              <a:endParaRPr/>
            </a:p>
          </p:txBody>
        </p:sp>
      </p:grpSp>
      <p:sp>
        <p:nvSpPr>
          <p:cNvPr id="19" name="Freeform 19"/>
          <p:cNvSpPr/>
          <p:nvPr/>
        </p:nvSpPr>
        <p:spPr>
          <a:xfrm>
            <a:off x="6978404" y="7701379"/>
            <a:ext cx="1177785" cy="1346740"/>
          </a:xfrm>
          <a:custGeom>
            <a:avLst/>
            <a:gdLst/>
            <a:ahLst/>
            <a:cxnLst/>
            <a:rect l="l" t="t" r="r" b="b"/>
            <a:pathLst>
              <a:path w="1177785" h="1346740">
                <a:moveTo>
                  <a:pt x="0" y="0"/>
                </a:moveTo>
                <a:lnTo>
                  <a:pt x="1177786" y="0"/>
                </a:lnTo>
                <a:lnTo>
                  <a:pt x="1177786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20"/>
          <p:cNvSpPr/>
          <p:nvPr/>
        </p:nvSpPr>
        <p:spPr>
          <a:xfrm>
            <a:off x="10253399" y="7758824"/>
            <a:ext cx="871871" cy="1128304"/>
          </a:xfrm>
          <a:custGeom>
            <a:avLst/>
            <a:gdLst/>
            <a:ahLst/>
            <a:cxnLst/>
            <a:rect l="l" t="t" r="r" b="b"/>
            <a:pathLst>
              <a:path w="871871" h="1128304">
                <a:moveTo>
                  <a:pt x="0" y="0"/>
                </a:moveTo>
                <a:lnTo>
                  <a:pt x="871871" y="0"/>
                </a:lnTo>
                <a:lnTo>
                  <a:pt x="871871" y="1128303"/>
                </a:lnTo>
                <a:lnTo>
                  <a:pt x="0" y="112830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21" name="Freeform 21"/>
          <p:cNvSpPr/>
          <p:nvPr/>
        </p:nvSpPr>
        <p:spPr>
          <a:xfrm>
            <a:off x="13188788" y="7657101"/>
            <a:ext cx="996588" cy="1346740"/>
          </a:xfrm>
          <a:custGeom>
            <a:avLst/>
            <a:gdLst/>
            <a:ahLst/>
            <a:cxnLst/>
            <a:rect l="l" t="t" r="r" b="b"/>
            <a:pathLst>
              <a:path w="996588" h="1346740">
                <a:moveTo>
                  <a:pt x="0" y="0"/>
                </a:moveTo>
                <a:lnTo>
                  <a:pt x="996588" y="0"/>
                </a:lnTo>
                <a:lnTo>
                  <a:pt x="996588" y="1346740"/>
                </a:lnTo>
                <a:lnTo>
                  <a:pt x="0" y="1346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2" name="TextBox 22"/>
          <p:cNvSpPr txBox="1"/>
          <p:nvPr/>
        </p:nvSpPr>
        <p:spPr>
          <a:xfrm>
            <a:off x="4762897" y="1527166"/>
            <a:ext cx="8762207" cy="10869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865"/>
              </a:lnSpc>
              <a:spcBef>
                <a:spcPct val="0"/>
              </a:spcBef>
            </a:pPr>
            <a:r>
              <a:rPr lang="en-US" sz="6332">
                <a:solidFill>
                  <a:srgbClr val="01070A"/>
                </a:solidFill>
                <a:latin typeface="Carelia"/>
                <a:ea typeface="Carelia"/>
                <a:cs typeface="Carelia"/>
                <a:sym typeface="Carelia"/>
              </a:rPr>
              <a:t>Activitate</a:t>
            </a:r>
          </a:p>
        </p:txBody>
      </p:sp>
      <p:sp>
        <p:nvSpPr>
          <p:cNvPr id="24" name="CasetăText 23">
            <a:extLst>
              <a:ext uri="{FF2B5EF4-FFF2-40B4-BE49-F238E27FC236}">
                <a16:creationId xmlns:a16="http://schemas.microsoft.com/office/drawing/2014/main" id="{49BAB44D-3816-A000-78A7-CD42FEBD9C13}"/>
              </a:ext>
            </a:extLst>
          </p:cNvPr>
          <p:cNvSpPr txBox="1"/>
          <p:nvPr/>
        </p:nvSpPr>
        <p:spPr>
          <a:xfrm>
            <a:off x="4572000" y="4734734"/>
            <a:ext cx="9144000" cy="9900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7000"/>
              </a:lnSpc>
            </a:pPr>
            <a:r>
              <a:rPr lang="ro-RO" sz="6000" dirty="0">
                <a:solidFill>
                  <a:srgbClr val="01070A"/>
                </a:solidFill>
                <a:latin typeface="Dosis"/>
                <a:ea typeface="Dosis"/>
                <a:cs typeface="Dosis"/>
                <a:sym typeface="Dosis"/>
              </a:rPr>
              <a:t>Joc de rol</a:t>
            </a:r>
            <a:endParaRPr lang="en-US" sz="6000" dirty="0">
              <a:solidFill>
                <a:srgbClr val="01070A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p:transition spd="slow">
    <p:wheel spokes="1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ă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904CC3ACF4D0747AA1FE12D19DCF021" ma:contentTypeVersion="3" ma:contentTypeDescription="Creați un document nou." ma:contentTypeScope="" ma:versionID="26f0d7450ee2774564769c92eab60be1">
  <xsd:schema xmlns:xsd="http://www.w3.org/2001/XMLSchema" xmlns:xs="http://www.w3.org/2001/XMLSchema" xmlns:p="http://schemas.microsoft.com/office/2006/metadata/properties" xmlns:ns2="fa0e77c9-1a0d-4ee8-b1f5-4ac48c790630" targetNamespace="http://schemas.microsoft.com/office/2006/metadata/properties" ma:root="true" ma:fieldsID="a28a438a0ac43d9956140613b5a3b8e9" ns2:_="">
    <xsd:import namespace="fa0e77c9-1a0d-4ee8-b1f5-4ac48c79063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a0e77c9-1a0d-4ee8-b1f5-4ac48c7906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0FCD01D-C5FF-4F8C-991C-75D540929A98}"/>
</file>

<file path=customXml/itemProps2.xml><?xml version="1.0" encoding="utf-8"?>
<ds:datastoreItem xmlns:ds="http://schemas.openxmlformats.org/officeDocument/2006/customXml" ds:itemID="{410EC6D8-1953-46C9-86D9-644A7A104B80}"/>
</file>

<file path=customXml/itemProps3.xml><?xml version="1.0" encoding="utf-8"?>
<ds:datastoreItem xmlns:ds="http://schemas.openxmlformats.org/officeDocument/2006/customXml" ds:itemID="{149F32A0-4187-4093-AEA2-47FDF77A24C6}"/>
</file>

<file path=docProps/app.xml><?xml version="1.0" encoding="utf-8"?>
<Properties xmlns="http://schemas.openxmlformats.org/officeDocument/2006/extended-properties" xmlns:vt="http://schemas.openxmlformats.org/officeDocument/2006/docPropsVTypes">
  <TotalTime>97</TotalTime>
  <Words>371</Words>
  <Application>Microsoft Office PowerPoint</Application>
  <PresentationFormat>Particularizare</PresentationFormat>
  <Paragraphs>66</Paragraphs>
  <Slides>9</Slides>
  <Notes>2</Notes>
  <HiddenSlides>0</HiddenSlides>
  <MMClips>0</MMClips>
  <ScaleCrop>false</ScaleCrop>
  <HeadingPairs>
    <vt:vector size="6" baseType="variant">
      <vt:variant>
        <vt:lpstr>Fonturi utilizate</vt:lpstr>
      </vt:variant>
      <vt:variant>
        <vt:i4>6</vt:i4>
      </vt:variant>
      <vt:variant>
        <vt:lpstr>Temă</vt:lpstr>
      </vt:variant>
      <vt:variant>
        <vt:i4>1</vt:i4>
      </vt:variant>
      <vt:variant>
        <vt:lpstr>Titluri diapozitive</vt:lpstr>
      </vt:variant>
      <vt:variant>
        <vt:i4>9</vt:i4>
      </vt:variant>
    </vt:vector>
  </HeadingPairs>
  <TitlesOfParts>
    <vt:vector size="16" baseType="lpstr">
      <vt:lpstr>Dosis Bold</vt:lpstr>
      <vt:lpstr>Open Sans</vt:lpstr>
      <vt:lpstr>Arial</vt:lpstr>
      <vt:lpstr>Calibri</vt:lpstr>
      <vt:lpstr>Dosis</vt:lpstr>
      <vt:lpstr>Carelia</vt:lpstr>
      <vt:lpstr>Office Theme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  <vt:lpstr>Prezentare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Copie a Prezentare seminar 2.pptx</dc:title>
  <dc:creator>Mihai</dc:creator>
  <cp:lastModifiedBy>Mihai Mihes</cp:lastModifiedBy>
  <cp:revision>15</cp:revision>
  <dcterms:created xsi:type="dcterms:W3CDTF">2006-08-16T00:00:00Z</dcterms:created>
  <dcterms:modified xsi:type="dcterms:W3CDTF">2025-11-21T12:23:24Z</dcterms:modified>
  <dc:identifier>DAGTpNtcbXk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0x0101008904CC3ACF4D0747AA1FE12D19DCF021</vt:lpwstr>
  </property>
</Properties>
</file>